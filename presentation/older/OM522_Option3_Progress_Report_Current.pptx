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2ca1a98-3d7c-3cf2-5f88-7270034b0492}">
          <p14:sldIdLst>
            <p14:sldId id="256"/>
            <p14:sldId id="257"/>
          </p14:sldIdLst>
        </p14:section>
        <p14:section name="Problem" id="{a8b34280-4380-f753-1a9d-32b71ccaff25}">
          <p14:sldIdLst>
            <p14:sldId id="258"/>
            <p14:sldId id="259"/>
          </p14:sldIdLst>
        </p14:section>
        <p14:section name="Solution" id="{d64b00f0-4964-72a7-88f6-4a9f53aece12}">
          <p14:sldIdLst>
            <p14:sldId id="260"/>
            <p14:sldId id="261"/>
            <p14:sldId id="262"/>
            <p14:sldId id="263"/>
          </p14:sldIdLst>
        </p14:section>
        <p14:section name="Justification" id="{652275f8-d9a6-b358-c2fb-69a504689c79}">
          <p14:sldIdLst>
            <p14:sldId id="264"/>
            <p14:sldId id="265"/>
            <p14:sldId id="266"/>
            <p14:sldId id="267"/>
          </p14:sldIdLst>
        </p14:section>
        <p14:section name="Options for management" id="{fee038d7-8b32-93ea-fd16-0d236a08c32d}">
          <p14:sldIdLst>
            <p14:sldId id="268"/>
            <p14:sldId id="269"/>
            <p14:sldId id="270"/>
          </p14:sldIdLst>
        </p14:section>
        <p14:section name="Recommendation" id="{84b5ed1c-3063-0d34-8862-335f9d1d2600}">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C"/>
                </a:solidFill>
                <a:latin typeface="+mn-lt"/>
              </a:defRPr>
            </a:pPr>
            <a:r>
              <a:rPr sz="1400" b="0" i="0" u="none" strike="noStrike">
                <a:solidFill>
                  <a:srgbClr val="16212C"/>
                </a:solidFill>
                <a:latin typeface="+mn-lt"/>
              </a:rPr>
              <a:t>Total travel time (minutes), both plans checker-verified</a:t>
            </a:r>
          </a:p>
        </c:rich>
      </c:tx>
      <c:layout/>
      <c:overlay val="0"/>
    </c:title>
    <c:autoTitleDeleted val="0"/>
    <c:plotArea>
      <c:layout/>
      <c:barChart>
        <c:barDir val="col"/>
        <c:grouping val="clustered"/>
        <c:varyColors val="0"/>
        <c:ser>
          <c:idx val="0"/>
          <c:order val="0"/>
          <c:tx>
            <c:strRef>
              <c:f>Sheet1!$B$1</c:f>
              <c:strCache>
                <c:ptCount val="1"/>
                <c:pt idx="0">
                  <c:v>Today's rule</c:v>
                </c:pt>
              </c:strCache>
            </c:strRef>
          </c:tx>
          <c:spPr>
            <a:solidFill>
              <a:srgbClr val="EB6834"/>
            </a:solidFill>
            <a:effectLst/>
          </c:spPr>
          <c:invertIfNegative val="0"/>
          <c:dLbls>
            <c:numFmt formatCode="#,##0" sourceLinked="0"/>
            <c:txPr>
              <a:bodyPr/>
              <a:lstStyle/>
              <a:p>
                <a:pPr>
                  <a:defRPr b="0" i="0" strike="noStrike" sz="1100" u="none">
                    <a:solidFill>
                      <a:srgbClr val="3C4A59"/>
                    </a:solidFill>
                    <a:latin typeface="+mn-lt"/>
                  </a:defRPr>
                </a:pPr>
              </a:p>
            </c:txPr>
            <c:showLegendKey val="0"/>
            <c:showVal val="1"/>
            <c:showCatName val="0"/>
            <c:showSerName val="0"/>
            <c:showPercent val="0"/>
            <c:showBubbleSize val="0"/>
            <c:showLeaderLines val="0"/>
          </c:dLbls>
          <c:cat>
            <c:multiLvlStrRef>
              <c:f>Sheet1!$A$2:$A$5</c:f>
              <c:multiLvlStrCache>
                <c:ptCount val="4"/>
                <c:lvl>
                  <c:pt idx="0">
                    <c:v>hand (6)</c:v>
                  </c:pt>
                  <c:pt idx="1">
                    <c:v>small (15)</c:v>
                  </c:pt>
                  <c:pt idx="2">
                    <c:v>medium (45)</c:v>
                  </c:pt>
                  <c:pt idx="3">
                    <c:v>large (120)</c:v>
                  </c:pt>
                </c:lvl>
              </c:multiLvlStrCache>
            </c:multiLvlStrRef>
          </c:cat>
          <c:val>
            <c:numRef>
              <c:f>Sheet1!$B$2:$B$5</c:f>
              <c:numCache>
                <c:formatCode>General</c:formatCode>
                <c:ptCount val="4"/>
                <c:pt idx="0">
                  <c:v>352.4</c:v>
                </c:pt>
                <c:pt idx="1">
                  <c:v>620.6</c:v>
                </c:pt>
                <c:pt idx="2">
                  <c:v>1683.4</c:v>
                </c:pt>
                <c:pt idx="3">
                  <c:v>3523.2</c:v>
                </c:pt>
              </c:numCache>
            </c:numRef>
          </c:val>
        </c:ser>
        <c:ser>
          <c:idx val="1"/>
          <c:order val="1"/>
          <c:tx>
            <c:strRef>
              <c:f>Sheet1!$C$1</c:f>
              <c:strCache>
                <c:ptCount val="1"/>
                <c:pt idx="0">
                  <c:v>Our method (LNS)</c:v>
                </c:pt>
              </c:strCache>
            </c:strRef>
          </c:tx>
          <c:spPr>
            <a:solidFill>
              <a:srgbClr val="2A78D6"/>
            </a:solidFill>
            <a:effectLst/>
          </c:spPr>
          <c:invertIfNegative val="0"/>
          <c:dLbls>
            <c:numFmt formatCode="#,##0" sourceLinked="0"/>
            <c:txPr>
              <a:bodyPr/>
              <a:lstStyle/>
              <a:p>
                <a:pPr>
                  <a:defRPr b="0" i="0" strike="noStrike" sz="1100" u="none">
                    <a:solidFill>
                      <a:srgbClr val="3C4A59"/>
                    </a:solidFill>
                    <a:latin typeface="+mn-lt"/>
                  </a:defRPr>
                </a:pPr>
              </a:p>
            </c:txPr>
            <c:showLegendKey val="0"/>
            <c:showVal val="1"/>
            <c:showCatName val="0"/>
            <c:showSerName val="0"/>
            <c:showPercent val="0"/>
            <c:showBubbleSize val="0"/>
            <c:showLeaderLines val="0"/>
          </c:dLbls>
          <c:cat>
            <c:multiLvlStrRef>
              <c:f>Sheet1!$A$2:$A$5</c:f>
              <c:multiLvlStrCache>
                <c:ptCount val="4"/>
                <c:lvl>
                  <c:pt idx="0">
                    <c:v>hand (6)</c:v>
                  </c:pt>
                  <c:pt idx="1">
                    <c:v>small (15)</c:v>
                  </c:pt>
                  <c:pt idx="2">
                    <c:v>medium (45)</c:v>
                  </c:pt>
                  <c:pt idx="3">
                    <c:v>large (120)</c:v>
                  </c:pt>
                </c:lvl>
              </c:multiLvlStrCache>
            </c:multiLvlStrRef>
          </c:cat>
          <c:val>
            <c:numRef>
              <c:f>Sheet1!$C$2:$C$5</c:f>
              <c:numCache>
                <c:formatCode>General</c:formatCode>
                <c:ptCount val="4"/>
                <c:pt idx="0">
                  <c:v>329.7</c:v>
                </c:pt>
                <c:pt idx="1">
                  <c:v>459.1</c:v>
                </c:pt>
                <c:pt idx="2">
                  <c:v>1040.7</c:v>
                </c:pt>
                <c:pt idx="3">
                  <c:v>2135.6</c:v>
                </c:pt>
              </c:numCache>
            </c:numRef>
          </c:val>
        </c:ser>
        <c:dLbls>
          <c:numFmt formatCode="#,##0" sourceLinked="0"/>
          <c:txPr>
            <a:bodyPr/>
            <a:lstStyle/>
            <a:p>
              <a:pPr>
                <a:defRPr b="0" i="0" strike="noStrike" sz="1100" u="none">
                  <a:solidFill>
                    <a:srgbClr val="3C4A5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C4A5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3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C4A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C4A5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progress report on our Option 3 tool, which plans daily delivery routes. The map shows the plan our method produces for the 45-customer development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headline numbers, then status. Everything the guide requires for the tool itself is built and verified. What remains is team work: the README paragraph in our own words, the final video, and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brief's constraints and measures. Windows are the hard part: about 90 minutes wide on a 600-minute day, so most rearrangements break some customer's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is implemented exactly as the brief states, with ties broken by customer id. Its test is reproducing the worked example. The map shows why it loses: long spokes to leftover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researched method, from Ropke and Pisinger. Construction, then local search, then repeated ruin and recreate with simulated-annealing acceptance. Fixed seed and iteration count, as the guide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O(1) feasibility test. Cached departure and latest-start times let us test a proposed insertion in constant time instead of replaying the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acceptance step. A full feasibility check runs before simulated annealing ever sees the plan, so the search can only ever keep feasible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45 customers and fleet. The rule's map is full of long spokes. Our plan forms compact regional loops. Crossings that remain are forced by time windows; we tested every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instances, both measures, and runtime, as the guide asks. The saving grows with size and the runtime stays far below the 10-minute limit. We avoid universal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checker is our main protection against agent-written code that claims results it didn't achieve. The Gurobi model is a labeled benchmark we formulated ourselves, never a graded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section 4.3 of the guide step by step. The 60-customer case stands in for the held-out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guide's stress test. Same 30 scenarios for both plans, saved before either runs. LNS wins on mean and P90 travel. But it still has a violation on 10 of 30 days, which motivates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'what else should success mean?'. Blue measures are the graded ones; green are what an operations manager also cares about. A cushion plan is told every window closes N minutes early, so each stop keeps N minutes of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table. The 20-minute cushion costs 20 planned minutes and no extra truck, and cuts late events from 20 to 4. Fewest miles is cheapest only if late deliveries cost little. Spare capacity buys room for add-on orders at the price of extra trucks.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boss decides what a late delivery really costs; the page does the arithmetic. The costs shown are example figures for discussion, not company data. The link is private until we share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guide asks for the method, its benefit, the tradeoff, and one condition that would change the recommendation. The cushion is an operating choice for the same method, not a third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left. Most of it is team work the guide reserves for us: our own words in the README and the video walk-throughs.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035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3931920"/>
            <a:ext cx="585216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73952"/>
            <a:ext cx="7315200" cy="274320"/>
          </a:xfrm>
          <a:prstGeom prst="rect">
            <a:avLst/>
          </a:prstGeom>
          <a:noFill/>
          <a:ln/>
        </p:spPr>
        <p:txBody>
          <a:bodyPr wrap="square" rtlCol="0" anchor="ctr"/>
          <a:lstStyle/>
          <a:p>
            <a:pPr indent="0" marL="0">
              <a:buNone/>
            </a:pPr>
            <a:r>
              <a:rPr lang="en-US" sz="1000" dirty="0">
                <a:solidFill>
                  <a:schemeClr val="tx2"/>
                </a:solidFill>
              </a:rPr>
              <a:t>OM 522 · Option 3 · Progress report</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3.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claude.ai/artifact/WwSHUXtQ75XBFf533LEhbQ" TargetMode="External"/><Relationship Id="rId1"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03504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Planning Delivery Routes</a:t>
            </a:r>
            <a:endParaRPr lang="en-US" sz="4400" dirty="0"/>
          </a:p>
        </p:txBody>
      </p:sp>
      <p:sp>
        <p:nvSpPr>
          <p:cNvPr id="3" name="Text 0"/>
          <p:cNvSpPr/>
          <p:nvPr>
            <p:ph idx="101" type="body" hasCustomPrompt="1"/>
          </p:nvPr>
        </p:nvSpPr>
        <p:spPr>
          <a:xfrm>
            <a:off x="548640" y="3931920"/>
            <a:ext cx="5852160" cy="1280160"/>
          </a:xfrm>
          <a:prstGeom prst="rect">
            <a:avLst/>
          </a:prstGeom>
          <a:noFill/>
          <a:ln/>
        </p:spPr>
        <p:txBody>
          <a:bodyPr wrap="square" lIns="0" tIns="0" rIns="0" bIns="0" rtlCol="0" anchor="t"/>
          <a:lstStyle/>
          <a:p>
            <a:pPr indent="0" marL="0">
              <a:buNone/>
            </a:pPr>
            <a:r>
              <a:rPr lang="en-US" sz="1800" dirty="0">
                <a:solidFill>
                  <a:schemeClr val="bg2"/>
                </a:solidFill>
              </a:rPr>
              <a:t>Progress report on our decision tool</a:t>
            </a:r>
            <a:endParaRPr lang="en-US" sz="1800" dirty="0"/>
          </a:p>
          <a:p>
            <a:pPr indent="0" marL="0">
              <a:buNone/>
            </a:pPr>
            <a:r>
              <a:rPr lang="en-US" sz="1400" dirty="0">
                <a:solidFill>
                  <a:schemeClr val="bg2"/>
                </a:solidFill>
              </a:rPr>
              <a:t>OM 522 Team Project · Option 3: vehicle routing with time windows</a:t>
            </a:r>
            <a:endParaRPr lang="en-US" sz="1800" dirty="0"/>
          </a:p>
          <a:p>
            <a:pPr indent="0" marL="0">
              <a:buNone/>
            </a:pPr>
            <a:r>
              <a:rPr lang="en-US" sz="1400" dirty="0">
                <a:solidFill>
                  <a:schemeClr val="bg2"/>
                </a:solidFill>
              </a:rPr>
              <a:t>October 26, 2026</a:t>
            </a:r>
            <a:endParaRPr lang="en-US" sz="1800" dirty="0"/>
          </a:p>
        </p:txBody>
      </p:sp>
      <p:sp>
        <p:nvSpPr>
          <p:cNvPr id="4" name="map frame"/>
          <p:cNvSpPr/>
          <p:nvPr/>
        </p:nvSpPr>
        <p:spPr>
          <a:xfrm>
            <a:off x="7086600" y="685800"/>
            <a:ext cx="4572000" cy="5468112"/>
          </a:xfrm>
          <a:prstGeom prst="roundRect">
            <a:avLst>
              <a:gd name="adj" fmla="val 2000"/>
            </a:avLst>
          </a:prstGeom>
          <a:solidFill>
            <a:schemeClr val="bg1"/>
          </a:solidFill>
          <a:ln w="12700">
            <a:solidFill>
              <a:schemeClr val="bg1"/>
            </a:solidFill>
            <a:prstDash val="solid"/>
          </a:ln>
        </p:spPr>
      </p:sp>
      <p:pic>
        <p:nvPicPr>
          <p:cNvPr id="5" name="LNS route map" descr="Route map of the 8-truck LNS plan on development_medium">    </p:cNvPr>
          <p:cNvPicPr>
            <a:picLocks noChangeAspect="1"/>
          </p:cNvPicPr>
          <p:nvPr/>
        </p:nvPicPr>
        <p:blipFill>
          <a:blip r:embed="rId1"/>
          <a:stretch>
            <a:fillRect/>
          </a:stretch>
        </p:blipFill>
        <p:spPr>
          <a:xfrm>
            <a:off x="7223760" y="822960"/>
            <a:ext cx="4297680" cy="4297680"/>
          </a:xfrm>
          <a:prstGeom prst="rect">
            <a:avLst/>
          </a:prstGeom>
        </p:spPr>
      </p:pic>
      <p:sp>
        <p:nvSpPr>
          <p:cNvPr id="6" name="Text 3"/>
          <p:cNvSpPr txBox="1"/>
          <p:nvPr/>
        </p:nvSpPr>
        <p:spPr>
          <a:xfrm>
            <a:off x="7269480" y="5257800"/>
            <a:ext cx="4206240" cy="731520"/>
          </a:xfrm>
          <a:prstGeom prst="rect">
            <a:avLst/>
          </a:prstGeom>
          <a:noFill/>
          <a:ln/>
        </p:spPr>
        <p:txBody>
          <a:bodyPr wrap="square" lIns="0" tIns="0" rIns="0" bIns="0" rtlCol="0" anchor="t"/>
          <a:lstStyle/>
          <a:p>
            <a:pPr algn="ctr" indent="0" marL="0">
              <a:buNone/>
            </a:pPr>
            <a:r>
              <a:rPr lang="en-US" sz="1300" dirty="0">
                <a:solidFill>
                  <a:schemeClr val="tx2"/>
                </a:solidFill>
              </a:rPr>
              <a:t>Our plan for 45 customers: 8 trucks, 1,040.7 travel minutes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Where the project stands</a:t>
            </a:r>
            <a:endParaRPr lang="en-US" sz="3200" dirty="0"/>
          </a:p>
        </p:txBody>
      </p:sp>
      <p:sp>
        <p:nvSpPr>
          <p:cNvPr id="3" name="stat card 1"/>
          <p:cNvSpPr/>
          <p:nvPr/>
        </p:nvSpPr>
        <p:spPr>
          <a:xfrm>
            <a:off x="548640" y="1325880"/>
            <a:ext cx="5120640"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822960" y="1508760"/>
            <a:ext cx="2103120" cy="10058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−38%</a:t>
            </a:r>
            <a:endParaRPr lang="en-US" sz="4400" dirty="0"/>
          </a:p>
        </p:txBody>
      </p:sp>
      <p:sp>
        <p:nvSpPr>
          <p:cNvPr id="5" name="Text 3"/>
          <p:cNvSpPr txBox="1"/>
          <p:nvPr/>
        </p:nvSpPr>
        <p:spPr>
          <a:xfrm>
            <a:off x="2971800" y="1508760"/>
            <a:ext cx="2514600" cy="1005840"/>
          </a:xfrm>
          <a:prstGeom prst="rect">
            <a:avLst/>
          </a:prstGeom>
          <a:noFill/>
          <a:ln/>
        </p:spPr>
        <p:txBody>
          <a:bodyPr wrap="square" lIns="0" tIns="0" rIns="0" bIns="0" rtlCol="0" anchor="ctr"/>
          <a:lstStyle/>
          <a:p>
            <a:pPr indent="0" marL="0">
              <a:buNone/>
            </a:pPr>
            <a:r>
              <a:rPr lang="en-US" sz="1400" dirty="0">
                <a:solidFill>
                  <a:schemeClr val="tx1"/>
                </a:solidFill>
              </a:rPr>
              <a:t>travel time vs. today's rule on 45 customers (1,683 → 1,041 min)</a:t>
            </a:r>
            <a:endParaRPr lang="en-US" sz="1400" dirty="0"/>
          </a:p>
        </p:txBody>
      </p:sp>
      <p:sp>
        <p:nvSpPr>
          <p:cNvPr id="6" name="stat card 2"/>
          <p:cNvSpPr/>
          <p:nvPr/>
        </p:nvSpPr>
        <p:spPr>
          <a:xfrm>
            <a:off x="548640" y="2926080"/>
            <a:ext cx="5120640" cy="1371600"/>
          </a:xfrm>
          <a:prstGeom prst="roundRect">
            <a:avLst>
              <a:gd name="adj" fmla="val 5333"/>
            </a:avLst>
          </a:prstGeom>
          <a:solidFill>
            <a:schemeClr val="bg2"/>
          </a:solidFill>
          <a:ln w="12700">
            <a:solidFill>
              <a:schemeClr val="bg2"/>
            </a:solidFill>
            <a:prstDash val="solid"/>
          </a:ln>
        </p:spPr>
      </p:sp>
      <p:sp>
        <p:nvSpPr>
          <p:cNvPr id="7" name="Text 5"/>
          <p:cNvSpPr txBox="1"/>
          <p:nvPr/>
        </p:nvSpPr>
        <p:spPr>
          <a:xfrm>
            <a:off x="822960" y="3108960"/>
            <a:ext cx="2103120" cy="10058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8 vs 11</a:t>
            </a:r>
            <a:endParaRPr lang="en-US" sz="4400" dirty="0"/>
          </a:p>
        </p:txBody>
      </p:sp>
      <p:sp>
        <p:nvSpPr>
          <p:cNvPr id="8" name="Text 6"/>
          <p:cNvSpPr txBox="1"/>
          <p:nvPr/>
        </p:nvSpPr>
        <p:spPr>
          <a:xfrm>
            <a:off x="2971800" y="3108960"/>
            <a:ext cx="2514600" cy="1005840"/>
          </a:xfrm>
          <a:prstGeom prst="rect">
            <a:avLst/>
          </a:prstGeom>
          <a:noFill/>
          <a:ln/>
        </p:spPr>
        <p:txBody>
          <a:bodyPr wrap="square" lIns="0" tIns="0" rIns="0" bIns="0" rtlCol="0" anchor="ctr"/>
          <a:lstStyle/>
          <a:p>
            <a:pPr indent="0" marL="0">
              <a:buNone/>
            </a:pPr>
            <a:r>
              <a:rPr lang="en-US" sz="1400" dirty="0">
                <a:solidFill>
                  <a:schemeClr val="tx1"/>
                </a:solidFill>
              </a:rPr>
              <a:t>trucks used; 8 is the fewest the demand allows (422 units, 60 per truck)</a:t>
            </a:r>
            <a:endParaRPr lang="en-US" sz="1400" dirty="0"/>
          </a:p>
        </p:txBody>
      </p:sp>
      <p:sp>
        <p:nvSpPr>
          <p:cNvPr id="9" name="stat card 3"/>
          <p:cNvSpPr/>
          <p:nvPr/>
        </p:nvSpPr>
        <p:spPr>
          <a:xfrm>
            <a:off x="548640" y="4526280"/>
            <a:ext cx="5120640"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822960" y="4709160"/>
            <a:ext cx="2103120" cy="10058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a:t>
            </a:r>
            <a:endParaRPr lang="en-US" sz="4400" dirty="0"/>
          </a:p>
        </p:txBody>
      </p:sp>
      <p:sp>
        <p:nvSpPr>
          <p:cNvPr id="11" name="Text 9"/>
          <p:cNvSpPr txBox="1"/>
          <p:nvPr/>
        </p:nvSpPr>
        <p:spPr>
          <a:xfrm>
            <a:off x="2971800" y="4709160"/>
            <a:ext cx="2514600" cy="1005840"/>
          </a:xfrm>
          <a:prstGeom prst="rect">
            <a:avLst/>
          </a:prstGeom>
          <a:noFill/>
          <a:ln/>
        </p:spPr>
        <p:txBody>
          <a:bodyPr wrap="square" lIns="0" tIns="0" rIns="0" bIns="0" rtlCol="0" anchor="ctr"/>
          <a:lstStyle/>
          <a:p>
            <a:pPr indent="0" marL="0">
              <a:buNone/>
            </a:pPr>
            <a:r>
              <a:rPr lang="en-US" sz="1400" dirty="0">
                <a:solidFill>
                  <a:schemeClr val="tx1"/>
                </a:solidFill>
              </a:rPr>
              <a:t>gap to optimal: an exact Gurobi model proves the 45-customer plan optimal</a:t>
            </a:r>
            <a:endParaRPr lang="en-US" sz="1400" dirty="0"/>
          </a:p>
        </p:txBody>
      </p:sp>
      <p:sp>
        <p:nvSpPr>
          <p:cNvPr id="12" name="Text 10"/>
          <p:cNvSpPr txBox="1"/>
          <p:nvPr/>
        </p:nvSpPr>
        <p:spPr>
          <a:xfrm>
            <a:off x="6217920" y="1325880"/>
            <a:ext cx="539496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Done</a:t>
            </a:r>
            <a:endParaRPr lang="en-US" sz="2000" dirty="0"/>
          </a:p>
        </p:txBody>
      </p:sp>
      <p:pic>
        <p:nvPicPr>
          <p:cNvPr id="13" name="done icon 1" descr="done">    </p:cNvPr>
          <p:cNvPicPr>
            <a:picLocks noChangeAspect="1"/>
          </p:cNvPicPr>
          <p:nvPr/>
        </p:nvPicPr>
        <p:blipFill>
          <a:blip r:embed="rId1"/>
          <a:stretch>
            <a:fillRect/>
          </a:stretch>
        </p:blipFill>
        <p:spPr>
          <a:xfrm>
            <a:off x="6217920" y="1883664"/>
            <a:ext cx="201168" cy="201168"/>
          </a:xfrm>
          <a:prstGeom prst="rect">
            <a:avLst/>
          </a:prstGeom>
        </p:spPr>
      </p:pic>
      <p:sp>
        <p:nvSpPr>
          <p:cNvPr id="14" name="Text 11"/>
          <p:cNvSpPr txBox="1"/>
          <p:nvPr/>
        </p:nvSpPr>
        <p:spPr>
          <a:xfrm>
            <a:off x="6565392" y="1828800"/>
            <a:ext cx="5074920" cy="411480"/>
          </a:xfrm>
          <a:prstGeom prst="rect">
            <a:avLst/>
          </a:prstGeom>
          <a:noFill/>
          <a:ln/>
        </p:spPr>
        <p:txBody>
          <a:bodyPr wrap="square" lIns="0" tIns="0" rIns="0" bIns="0" rtlCol="0" anchor="t"/>
          <a:lstStyle/>
          <a:p>
            <a:pPr indent="0" marL="0">
              <a:buNone/>
            </a:pPr>
            <a:r>
              <a:rPr lang="en-US" sz="1400" dirty="0">
                <a:solidFill>
                  <a:schemeClr val="tx1"/>
                </a:solidFill>
              </a:rPr>
              <a:t>Rule to beat reproduces the worked example exactly (352.417 min)</a:t>
            </a:r>
            <a:endParaRPr lang="en-US" sz="1400" dirty="0"/>
          </a:p>
        </p:txBody>
      </p:sp>
      <p:pic>
        <p:nvPicPr>
          <p:cNvPr id="15" name="done icon 2" descr="done">    </p:cNvPr>
          <p:cNvPicPr>
            <a:picLocks noChangeAspect="1"/>
          </p:cNvPicPr>
          <p:nvPr/>
        </p:nvPicPr>
        <p:blipFill>
          <a:blip r:embed="rId2"/>
          <a:stretch>
            <a:fillRect/>
          </a:stretch>
        </p:blipFill>
        <p:spPr>
          <a:xfrm>
            <a:off x="6217920" y="2386584"/>
            <a:ext cx="201168" cy="201168"/>
          </a:xfrm>
          <a:prstGeom prst="rect">
            <a:avLst/>
          </a:prstGeom>
        </p:spPr>
      </p:pic>
      <p:sp>
        <p:nvSpPr>
          <p:cNvPr id="16" name="Text 12"/>
          <p:cNvSpPr txBox="1"/>
          <p:nvPr/>
        </p:nvSpPr>
        <p:spPr>
          <a:xfrm>
            <a:off x="6565392" y="2331720"/>
            <a:ext cx="5074920" cy="411480"/>
          </a:xfrm>
          <a:prstGeom prst="rect">
            <a:avLst/>
          </a:prstGeom>
          <a:noFill/>
          <a:ln/>
        </p:spPr>
        <p:txBody>
          <a:bodyPr wrap="square" lIns="0" tIns="0" rIns="0" bIns="0" rtlCol="0" anchor="t"/>
          <a:lstStyle/>
          <a:p>
            <a:pPr indent="0" marL="0">
              <a:buNone/>
            </a:pPr>
            <a:r>
              <a:rPr lang="en-US" sz="1400" dirty="0">
                <a:solidFill>
                  <a:schemeClr val="tx1"/>
                </a:solidFill>
              </a:rPr>
              <a:t>Researched method beats the rule on all 4 instances and five 60-customer test cases</a:t>
            </a:r>
            <a:endParaRPr lang="en-US" sz="1400" dirty="0"/>
          </a:p>
        </p:txBody>
      </p:sp>
      <p:pic>
        <p:nvPicPr>
          <p:cNvPr id="17" name="done icon 3" descr="done">    </p:cNvPr>
          <p:cNvPicPr>
            <a:picLocks noChangeAspect="1"/>
          </p:cNvPicPr>
          <p:nvPr/>
        </p:nvPicPr>
        <p:blipFill>
          <a:blip r:embed="rId3"/>
          <a:stretch>
            <a:fillRect/>
          </a:stretch>
        </p:blipFill>
        <p:spPr>
          <a:xfrm>
            <a:off x="6217920" y="2889504"/>
            <a:ext cx="201168" cy="201168"/>
          </a:xfrm>
          <a:prstGeom prst="rect">
            <a:avLst/>
          </a:prstGeom>
        </p:spPr>
      </p:pic>
      <p:sp>
        <p:nvSpPr>
          <p:cNvPr id="18" name="Text 13"/>
          <p:cNvSpPr txBox="1"/>
          <p:nvPr/>
        </p:nvSpPr>
        <p:spPr>
          <a:xfrm>
            <a:off x="6565392" y="2834640"/>
            <a:ext cx="5074920" cy="411480"/>
          </a:xfrm>
          <a:prstGeom prst="rect">
            <a:avLst/>
          </a:prstGeom>
          <a:noFill/>
          <a:ln/>
        </p:spPr>
        <p:txBody>
          <a:bodyPr wrap="square" lIns="0" tIns="0" rIns="0" bIns="0" rtlCol="0" anchor="t"/>
          <a:lstStyle/>
          <a:p>
            <a:pPr indent="0" marL="0">
              <a:buNone/>
            </a:pPr>
            <a:r>
              <a:rPr lang="en-US" sz="1400" dirty="0">
                <a:solidFill>
                  <a:schemeClr val="tx1"/>
                </a:solidFill>
              </a:rPr>
              <a:t>Independent checker, plus 36 automated tests (the 3 required ones included)</a:t>
            </a:r>
            <a:endParaRPr lang="en-US" sz="1400" dirty="0"/>
          </a:p>
        </p:txBody>
      </p:sp>
      <p:pic>
        <p:nvPicPr>
          <p:cNvPr id="19" name="done icon 4" descr="done">    </p:cNvPr>
          <p:cNvPicPr>
            <a:picLocks noChangeAspect="1"/>
          </p:cNvPicPr>
          <p:nvPr/>
        </p:nvPicPr>
        <p:blipFill>
          <a:blip r:embed="rId4"/>
          <a:stretch>
            <a:fillRect/>
          </a:stretch>
        </p:blipFill>
        <p:spPr>
          <a:xfrm>
            <a:off x="6217920" y="3392424"/>
            <a:ext cx="201168" cy="201168"/>
          </a:xfrm>
          <a:prstGeom prst="rect">
            <a:avLst/>
          </a:prstGeom>
        </p:spPr>
      </p:pic>
      <p:sp>
        <p:nvSpPr>
          <p:cNvPr id="20" name="Text 14"/>
          <p:cNvSpPr txBox="1"/>
          <p:nvPr/>
        </p:nvSpPr>
        <p:spPr>
          <a:xfrm>
            <a:off x="6565392" y="3337560"/>
            <a:ext cx="5074920" cy="411480"/>
          </a:xfrm>
          <a:prstGeom prst="rect">
            <a:avLst/>
          </a:prstGeom>
          <a:noFill/>
          <a:ln/>
        </p:spPr>
        <p:txBody>
          <a:bodyPr wrap="square" lIns="0" tIns="0" rIns="0" bIns="0" rtlCol="0" anchor="t"/>
          <a:lstStyle/>
          <a:p>
            <a:pPr indent="0" marL="0">
              <a:buNone/>
            </a:pPr>
            <a:r>
              <a:rPr lang="en-US" sz="1400" dirty="0">
                <a:solidFill>
                  <a:schemeClr val="tx1"/>
                </a:solidFill>
              </a:rPr>
              <a:t>Stress test on 30 saved traffic scenarios</a:t>
            </a:r>
            <a:endParaRPr lang="en-US" sz="1400" dirty="0"/>
          </a:p>
        </p:txBody>
      </p:sp>
      <p:pic>
        <p:nvPicPr>
          <p:cNvPr id="21" name="done icon 5" descr="done">    </p:cNvPr>
          <p:cNvPicPr>
            <a:picLocks noChangeAspect="1"/>
          </p:cNvPicPr>
          <p:nvPr/>
        </p:nvPicPr>
        <p:blipFill>
          <a:blip r:embed="rId5"/>
          <a:stretch>
            <a:fillRect/>
          </a:stretch>
        </p:blipFill>
        <p:spPr>
          <a:xfrm>
            <a:off x="6217920" y="3895344"/>
            <a:ext cx="201168" cy="201168"/>
          </a:xfrm>
          <a:prstGeom prst="rect">
            <a:avLst/>
          </a:prstGeom>
        </p:spPr>
      </p:pic>
      <p:sp>
        <p:nvSpPr>
          <p:cNvPr id="22" name="Text 15"/>
          <p:cNvSpPr txBox="1"/>
          <p:nvPr/>
        </p:nvSpPr>
        <p:spPr>
          <a:xfrm>
            <a:off x="6565392" y="3840480"/>
            <a:ext cx="5074920" cy="411480"/>
          </a:xfrm>
          <a:prstGeom prst="rect">
            <a:avLst/>
          </a:prstGeom>
          <a:noFill/>
          <a:ln/>
        </p:spPr>
        <p:txBody>
          <a:bodyPr wrap="square" lIns="0" tIns="0" rIns="0" bIns="0" rtlCol="0" anchor="t"/>
          <a:lstStyle/>
          <a:p>
            <a:pPr indent="0" marL="0">
              <a:buNone/>
            </a:pPr>
            <a:r>
              <a:rPr lang="en-US" sz="1400" dirty="0">
                <a:solidFill>
                  <a:schemeClr val="tx1"/>
                </a:solidFill>
              </a:rPr>
              <a:t>New: alternative plans for management and an interactive explorer</a:t>
            </a:r>
            <a:endParaRPr lang="en-US" sz="1400" dirty="0"/>
          </a:p>
        </p:txBody>
      </p:sp>
      <p:sp>
        <p:nvSpPr>
          <p:cNvPr id="23" name="Text 16"/>
          <p:cNvSpPr txBox="1"/>
          <p:nvPr/>
        </p:nvSpPr>
        <p:spPr>
          <a:xfrm>
            <a:off x="6217920" y="4343400"/>
            <a:ext cx="539496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Before the final submission</a:t>
            </a:r>
            <a:endParaRPr lang="en-US" sz="2000" dirty="0"/>
          </a:p>
        </p:txBody>
      </p:sp>
      <p:pic>
        <p:nvPicPr>
          <p:cNvPr id="24" name="todo icon 1" descr="to do">    </p:cNvPr>
          <p:cNvPicPr>
            <a:picLocks noChangeAspect="1"/>
          </p:cNvPicPr>
          <p:nvPr/>
        </p:nvPicPr>
        <p:blipFill>
          <a:blip r:embed="rId6"/>
          <a:stretch>
            <a:fillRect/>
          </a:stretch>
        </p:blipFill>
        <p:spPr>
          <a:xfrm>
            <a:off x="6217920" y="4901184"/>
            <a:ext cx="201168" cy="201168"/>
          </a:xfrm>
          <a:prstGeom prst="rect">
            <a:avLst/>
          </a:prstGeom>
        </p:spPr>
      </p:pic>
      <p:sp>
        <p:nvSpPr>
          <p:cNvPr id="25" name="Text 17"/>
          <p:cNvSpPr txBox="1"/>
          <p:nvPr/>
        </p:nvSpPr>
        <p:spPr>
          <a:xfrm>
            <a:off x="6565392" y="4846320"/>
            <a:ext cx="5074920" cy="411480"/>
          </a:xfrm>
          <a:prstGeom prst="rect">
            <a:avLst/>
          </a:prstGeom>
          <a:noFill/>
          <a:ln/>
        </p:spPr>
        <p:txBody>
          <a:bodyPr wrap="square" lIns="0" tIns="0" rIns="0" bIns="0" rtlCol="0" anchor="t"/>
          <a:lstStyle/>
          <a:p>
            <a:pPr indent="0" marL="0">
              <a:buNone/>
            </a:pPr>
            <a:r>
              <a:rPr lang="en-US" sz="1400" dirty="0">
                <a:solidFill>
                  <a:schemeClr val="tx1"/>
                </a:solidFill>
              </a:rPr>
              <a:t>Rewrite the README's opening paragraph in our own words</a:t>
            </a:r>
            <a:endParaRPr lang="en-US" sz="1400" dirty="0"/>
          </a:p>
        </p:txBody>
      </p:sp>
      <p:pic>
        <p:nvPicPr>
          <p:cNvPr id="26" name="todo icon 2" descr="to do">    </p:cNvPr>
          <p:cNvPicPr>
            <a:picLocks noChangeAspect="1"/>
          </p:cNvPicPr>
          <p:nvPr/>
        </p:nvPicPr>
        <p:blipFill>
          <a:blip r:embed="rId7"/>
          <a:stretch>
            <a:fillRect/>
          </a:stretch>
        </p:blipFill>
        <p:spPr>
          <a:xfrm>
            <a:off x="6217920" y="5358384"/>
            <a:ext cx="201168" cy="201168"/>
          </a:xfrm>
          <a:prstGeom prst="rect">
            <a:avLst/>
          </a:prstGeom>
        </p:spPr>
      </p:pic>
      <p:sp>
        <p:nvSpPr>
          <p:cNvPr id="27" name="Text 18"/>
          <p:cNvSpPr txBox="1"/>
          <p:nvPr/>
        </p:nvSpPr>
        <p:spPr>
          <a:xfrm>
            <a:off x="6565392" y="5303520"/>
            <a:ext cx="5074920" cy="411480"/>
          </a:xfrm>
          <a:prstGeom prst="rect">
            <a:avLst/>
          </a:prstGeom>
          <a:noFill/>
          <a:ln/>
        </p:spPr>
        <p:txBody>
          <a:bodyPr wrap="square" lIns="0" tIns="0" rIns="0" bIns="0" rtlCol="0" anchor="t"/>
          <a:lstStyle/>
          <a:p>
            <a:pPr indent="0" marL="0">
              <a:buNone/>
            </a:pPr>
            <a:r>
              <a:rPr lang="en-US" sz="1400" dirty="0">
                <a:solidFill>
                  <a:schemeClr val="tx1"/>
                </a:solidFill>
              </a:rPr>
              <a:t>Record the final video: each of us walks through a different agent-drafted component</a:t>
            </a:r>
            <a:endParaRPr lang="en-US" sz="1400" dirty="0"/>
          </a:p>
        </p:txBody>
      </p:sp>
      <p:pic>
        <p:nvPicPr>
          <p:cNvPr id="28" name="todo icon 3" descr="to do">    </p:cNvPr>
          <p:cNvPicPr>
            <a:picLocks noChangeAspect="1"/>
          </p:cNvPicPr>
          <p:nvPr/>
        </p:nvPicPr>
        <p:blipFill>
          <a:blip r:embed="rId8"/>
          <a:stretch>
            <a:fillRect/>
          </a:stretch>
        </p:blipFill>
        <p:spPr>
          <a:xfrm>
            <a:off x="6217920" y="5815584"/>
            <a:ext cx="201168" cy="201168"/>
          </a:xfrm>
          <a:prstGeom prst="rect">
            <a:avLst/>
          </a:prstGeom>
        </p:spPr>
      </p:pic>
      <p:sp>
        <p:nvSpPr>
          <p:cNvPr id="29" name="Text 19"/>
          <p:cNvSpPr txBox="1"/>
          <p:nvPr/>
        </p:nvSpPr>
        <p:spPr>
          <a:xfrm>
            <a:off x="6565392" y="5760720"/>
            <a:ext cx="5074920" cy="411480"/>
          </a:xfrm>
          <a:prstGeom prst="rect">
            <a:avLst/>
          </a:prstGeom>
          <a:noFill/>
          <a:ln/>
        </p:spPr>
        <p:txBody>
          <a:bodyPr wrap="square" lIns="0" tIns="0" rIns="0" bIns="0" rtlCol="0" anchor="t"/>
          <a:lstStyle/>
          <a:p>
            <a:pPr indent="0" marL="0">
              <a:buNone/>
            </a:pPr>
            <a:r>
              <a:rPr lang="en-US" sz="1400" dirty="0">
                <a:solidFill>
                  <a:schemeClr val="tx1"/>
                </a:solidFill>
              </a:rPr>
              <a:t>Push the repo and submit the commit hash</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decision: which truck serves whom, in what order</a:t>
            </a:r>
            <a:endParaRPr lang="en-US" sz="3200" dirty="0"/>
          </a:p>
        </p:txBody>
      </p:sp>
      <p:sp>
        <p:nvSpPr>
          <p:cNvPr id="3" name="Text 1"/>
          <p:cNvSpPr txBox="1"/>
          <p:nvPr/>
        </p:nvSpPr>
        <p:spPr>
          <a:xfrm>
            <a:off x="548640" y="1234440"/>
            <a:ext cx="5852160" cy="868680"/>
          </a:xfrm>
          <a:prstGeom prst="rect">
            <a:avLst/>
          </a:prstGeom>
          <a:noFill/>
          <a:ln/>
        </p:spPr>
        <p:txBody>
          <a:bodyPr wrap="square" lIns="0" tIns="0" rIns="0" bIns="0" rtlCol="0" anchor="t"/>
          <a:lstStyle/>
          <a:p>
            <a:pPr indent="0" marL="0">
              <a:buNone/>
            </a:pPr>
            <a:r>
              <a:rPr lang="en-US" sz="1500" dirty="0">
                <a:solidFill>
                  <a:schemeClr val="tx2"/>
                </a:solidFill>
              </a:rPr>
              <a:t>Each day a dispatcher assigns every customer to one truck and sets the stop order. Our tool makes that plan from four data files and reports its travel, waiting and service consequences.</a:t>
            </a:r>
            <a:endParaRPr lang="en-US" sz="1500" dirty="0"/>
          </a:p>
        </p:txBody>
      </p:sp>
      <p:sp>
        <p:nvSpPr>
          <p:cNvPr id="4" name="Capacity circle"/>
          <p:cNvSpPr/>
          <p:nvPr/>
        </p:nvSpPr>
        <p:spPr>
          <a:xfrm>
            <a:off x="548640" y="2286000"/>
            <a:ext cx="566928" cy="566928"/>
          </a:xfrm>
          <a:prstGeom prst="ellipse">
            <a:avLst/>
          </a:prstGeom>
          <a:solidFill>
            <a:schemeClr val="accent1"/>
          </a:solidFill>
          <a:ln w="12700">
            <a:solidFill>
              <a:schemeClr val="accent1"/>
            </a:solidFill>
            <a:prstDash val="solid"/>
          </a:ln>
        </p:spPr>
      </p:sp>
      <p:pic>
        <p:nvPicPr>
          <p:cNvPr id="5" name="Capacity icon" descr="Capacity">    </p:cNvPr>
          <p:cNvPicPr>
            <a:picLocks noChangeAspect="1"/>
          </p:cNvPicPr>
          <p:nvPr/>
        </p:nvPicPr>
        <p:blipFill>
          <a:blip r:embed="rId1"/>
          <a:stretch>
            <a:fillRect/>
          </a:stretch>
        </p:blipFill>
        <p:spPr>
          <a:xfrm>
            <a:off x="690372" y="2427732"/>
            <a:ext cx="283464" cy="283464"/>
          </a:xfrm>
          <a:prstGeom prst="rect">
            <a:avLst/>
          </a:prstGeom>
        </p:spPr>
      </p:pic>
      <p:sp>
        <p:nvSpPr>
          <p:cNvPr id="6" name="Text 3"/>
          <p:cNvSpPr txBox="1"/>
          <p:nvPr/>
        </p:nvSpPr>
        <p:spPr>
          <a:xfrm>
            <a:off x="1325880" y="2286000"/>
            <a:ext cx="5029200" cy="292608"/>
          </a:xfrm>
          <a:prstGeom prst="rect">
            <a:avLst/>
          </a:prstGeom>
          <a:noFill/>
          <a:ln/>
        </p:spPr>
        <p:txBody>
          <a:bodyPr wrap="square" lIns="0" tIns="0" rIns="0" bIns="0" rtlCol="0" anchor="t"/>
          <a:lstStyle/>
          <a:p>
            <a:pPr indent="0" marL="0">
              <a:buNone/>
            </a:pPr>
            <a:r>
              <a:rPr lang="en-US" sz="1600" b="1" dirty="0">
                <a:solidFill>
                  <a:schemeClr val="tx1"/>
                </a:solidFill>
              </a:rPr>
              <a:t>Capacity</a:t>
            </a:r>
            <a:endParaRPr lang="en-US" sz="1600" dirty="0"/>
          </a:p>
        </p:txBody>
      </p:sp>
      <p:sp>
        <p:nvSpPr>
          <p:cNvPr id="7" name="Text 4"/>
          <p:cNvSpPr txBox="1"/>
          <p:nvPr/>
        </p:nvSpPr>
        <p:spPr>
          <a:xfrm>
            <a:off x="1325880" y="2587752"/>
            <a:ext cx="5029200" cy="594360"/>
          </a:xfrm>
          <a:prstGeom prst="rect">
            <a:avLst/>
          </a:prstGeom>
          <a:noFill/>
          <a:ln/>
        </p:spPr>
        <p:txBody>
          <a:bodyPr wrap="square" lIns="0" tIns="0" rIns="0" bIns="0" rtlCol="0" anchor="t"/>
          <a:lstStyle/>
          <a:p>
            <a:pPr indent="0" marL="0">
              <a:buNone/>
            </a:pPr>
            <a:r>
              <a:rPr lang="en-US" sz="1400" dirty="0">
                <a:solidFill>
                  <a:schemeClr val="tx2"/>
                </a:solidFill>
              </a:rPr>
              <a:t>A truck carries at most 60 units of demand.</a:t>
            </a:r>
            <a:endParaRPr lang="en-US" sz="1400" dirty="0"/>
          </a:p>
        </p:txBody>
      </p:sp>
      <p:sp>
        <p:nvSpPr>
          <p:cNvPr id="8" name="Time windows circle"/>
          <p:cNvSpPr/>
          <p:nvPr/>
        </p:nvSpPr>
        <p:spPr>
          <a:xfrm>
            <a:off x="548640" y="3273552"/>
            <a:ext cx="566928" cy="566928"/>
          </a:xfrm>
          <a:prstGeom prst="ellipse">
            <a:avLst/>
          </a:prstGeom>
          <a:solidFill>
            <a:schemeClr val="accent1"/>
          </a:solidFill>
          <a:ln w="12700">
            <a:solidFill>
              <a:schemeClr val="accent1"/>
            </a:solidFill>
            <a:prstDash val="solid"/>
          </a:ln>
        </p:spPr>
      </p:sp>
      <p:pic>
        <p:nvPicPr>
          <p:cNvPr id="9" name="Time windows icon" descr="Time windows">    </p:cNvPr>
          <p:cNvPicPr>
            <a:picLocks noChangeAspect="1"/>
          </p:cNvPicPr>
          <p:nvPr/>
        </p:nvPicPr>
        <p:blipFill>
          <a:blip r:embed="rId2"/>
          <a:stretch>
            <a:fillRect/>
          </a:stretch>
        </p:blipFill>
        <p:spPr>
          <a:xfrm>
            <a:off x="690372" y="3415284"/>
            <a:ext cx="283464" cy="283464"/>
          </a:xfrm>
          <a:prstGeom prst="rect">
            <a:avLst/>
          </a:prstGeom>
        </p:spPr>
      </p:pic>
      <p:sp>
        <p:nvSpPr>
          <p:cNvPr id="10" name="Text 6"/>
          <p:cNvSpPr txBox="1"/>
          <p:nvPr/>
        </p:nvSpPr>
        <p:spPr>
          <a:xfrm>
            <a:off x="1325880" y="3273552"/>
            <a:ext cx="5029200" cy="292608"/>
          </a:xfrm>
          <a:prstGeom prst="rect">
            <a:avLst/>
          </a:prstGeom>
          <a:noFill/>
          <a:ln/>
        </p:spPr>
        <p:txBody>
          <a:bodyPr wrap="square" lIns="0" tIns="0" rIns="0" bIns="0" rtlCol="0" anchor="t"/>
          <a:lstStyle/>
          <a:p>
            <a:pPr indent="0" marL="0">
              <a:buNone/>
            </a:pPr>
            <a:r>
              <a:rPr lang="en-US" sz="1600" b="1" dirty="0">
                <a:solidFill>
                  <a:schemeClr val="tx1"/>
                </a:solidFill>
              </a:rPr>
              <a:t>Time windows</a:t>
            </a:r>
            <a:endParaRPr lang="en-US" sz="1600" dirty="0"/>
          </a:p>
        </p:txBody>
      </p:sp>
      <p:sp>
        <p:nvSpPr>
          <p:cNvPr id="11" name="Text 7"/>
          <p:cNvSpPr txBox="1"/>
          <p:nvPr/>
        </p:nvSpPr>
        <p:spPr>
          <a:xfrm>
            <a:off x="1325880" y="3575304"/>
            <a:ext cx="5029200" cy="594360"/>
          </a:xfrm>
          <a:prstGeom prst="rect">
            <a:avLst/>
          </a:prstGeom>
          <a:noFill/>
          <a:ln/>
        </p:spPr>
        <p:txBody>
          <a:bodyPr wrap="square" lIns="0" tIns="0" rIns="0" bIns="0" rtlCol="0" anchor="t"/>
          <a:lstStyle/>
          <a:p>
            <a:pPr indent="0" marL="0">
              <a:buNone/>
            </a:pPr>
            <a:r>
              <a:rPr lang="en-US" sz="1400" dirty="0">
                <a:solidFill>
                  <a:schemeClr val="tx2"/>
                </a:solidFill>
              </a:rPr>
              <a:t>Service must start inside each customer's window, about 90 minutes of a 600-minute day. Early trucks wait.</a:t>
            </a:r>
            <a:endParaRPr lang="en-US" sz="1400" dirty="0"/>
          </a:p>
        </p:txBody>
      </p:sp>
      <p:sp>
        <p:nvSpPr>
          <p:cNvPr id="12" name="Shifts circle"/>
          <p:cNvSpPr/>
          <p:nvPr/>
        </p:nvSpPr>
        <p:spPr>
          <a:xfrm>
            <a:off x="548640" y="4261104"/>
            <a:ext cx="566928" cy="566928"/>
          </a:xfrm>
          <a:prstGeom prst="ellipse">
            <a:avLst/>
          </a:prstGeom>
          <a:solidFill>
            <a:schemeClr val="accent1"/>
          </a:solidFill>
          <a:ln w="12700">
            <a:solidFill>
              <a:schemeClr val="accent1"/>
            </a:solidFill>
            <a:prstDash val="solid"/>
          </a:ln>
        </p:spPr>
      </p:sp>
      <p:pic>
        <p:nvPicPr>
          <p:cNvPr id="13" name="Shifts icon" descr="Shifts">    </p:cNvPr>
          <p:cNvPicPr>
            <a:picLocks noChangeAspect="1"/>
          </p:cNvPicPr>
          <p:nvPr/>
        </p:nvPicPr>
        <p:blipFill>
          <a:blip r:embed="rId3"/>
          <a:stretch>
            <a:fillRect/>
          </a:stretch>
        </p:blipFill>
        <p:spPr>
          <a:xfrm>
            <a:off x="690372" y="4402836"/>
            <a:ext cx="283464" cy="283464"/>
          </a:xfrm>
          <a:prstGeom prst="rect">
            <a:avLst/>
          </a:prstGeom>
        </p:spPr>
      </p:pic>
      <p:sp>
        <p:nvSpPr>
          <p:cNvPr id="14" name="Text 9"/>
          <p:cNvSpPr txBox="1"/>
          <p:nvPr/>
        </p:nvSpPr>
        <p:spPr>
          <a:xfrm>
            <a:off x="1325880" y="4261104"/>
            <a:ext cx="5029200" cy="292608"/>
          </a:xfrm>
          <a:prstGeom prst="rect">
            <a:avLst/>
          </a:prstGeom>
          <a:noFill/>
          <a:ln/>
        </p:spPr>
        <p:txBody>
          <a:bodyPr wrap="square" lIns="0" tIns="0" rIns="0" bIns="0" rtlCol="0" anchor="t"/>
          <a:lstStyle/>
          <a:p>
            <a:pPr indent="0" marL="0">
              <a:buNone/>
            </a:pPr>
            <a:r>
              <a:rPr lang="en-US" sz="1600" b="1" dirty="0">
                <a:solidFill>
                  <a:schemeClr val="tx1"/>
                </a:solidFill>
              </a:rPr>
              <a:t>Shifts</a:t>
            </a:r>
            <a:endParaRPr lang="en-US" sz="1600" dirty="0"/>
          </a:p>
        </p:txBody>
      </p:sp>
      <p:sp>
        <p:nvSpPr>
          <p:cNvPr id="15" name="Text 10"/>
          <p:cNvSpPr txBox="1"/>
          <p:nvPr/>
        </p:nvSpPr>
        <p:spPr>
          <a:xfrm>
            <a:off x="1325880" y="4562856"/>
            <a:ext cx="5029200" cy="594360"/>
          </a:xfrm>
          <a:prstGeom prst="rect">
            <a:avLst/>
          </a:prstGeom>
          <a:noFill/>
          <a:ln/>
        </p:spPr>
        <p:txBody>
          <a:bodyPr wrap="square" lIns="0" tIns="0" rIns="0" bIns="0" rtlCol="0" anchor="t"/>
          <a:lstStyle/>
          <a:p>
            <a:pPr indent="0" marL="0">
              <a:buNone/>
            </a:pPr>
            <a:r>
              <a:rPr lang="en-US" sz="1400" dirty="0">
                <a:solidFill>
                  <a:schemeClr val="tx2"/>
                </a:solidFill>
              </a:rPr>
              <a:t>Each truck leaves the depot at shift start and is back by shift end.</a:t>
            </a:r>
            <a:endParaRPr lang="en-US" sz="1400" dirty="0"/>
          </a:p>
        </p:txBody>
      </p:sp>
      <p:sp>
        <p:nvSpPr>
          <p:cNvPr id="16" name="Every customer circle"/>
          <p:cNvSpPr/>
          <p:nvPr/>
        </p:nvSpPr>
        <p:spPr>
          <a:xfrm>
            <a:off x="548640" y="5248656"/>
            <a:ext cx="566928" cy="566928"/>
          </a:xfrm>
          <a:prstGeom prst="ellipse">
            <a:avLst/>
          </a:prstGeom>
          <a:solidFill>
            <a:schemeClr val="accent1"/>
          </a:solidFill>
          <a:ln w="12700">
            <a:solidFill>
              <a:schemeClr val="accent1"/>
            </a:solidFill>
            <a:prstDash val="solid"/>
          </a:ln>
        </p:spPr>
      </p:sp>
      <p:pic>
        <p:nvPicPr>
          <p:cNvPr id="17" name="Every customer icon" descr="Every customer">    </p:cNvPr>
          <p:cNvPicPr>
            <a:picLocks noChangeAspect="1"/>
          </p:cNvPicPr>
          <p:nvPr/>
        </p:nvPicPr>
        <p:blipFill>
          <a:blip r:embed="rId4"/>
          <a:stretch>
            <a:fillRect/>
          </a:stretch>
        </p:blipFill>
        <p:spPr>
          <a:xfrm>
            <a:off x="690372" y="5390388"/>
            <a:ext cx="283464" cy="283464"/>
          </a:xfrm>
          <a:prstGeom prst="rect">
            <a:avLst/>
          </a:prstGeom>
        </p:spPr>
      </p:pic>
      <p:sp>
        <p:nvSpPr>
          <p:cNvPr id="18" name="Text 12"/>
          <p:cNvSpPr txBox="1"/>
          <p:nvPr/>
        </p:nvSpPr>
        <p:spPr>
          <a:xfrm>
            <a:off x="1325880" y="5248656"/>
            <a:ext cx="5029200" cy="292608"/>
          </a:xfrm>
          <a:prstGeom prst="rect">
            <a:avLst/>
          </a:prstGeom>
          <a:noFill/>
          <a:ln/>
        </p:spPr>
        <p:txBody>
          <a:bodyPr wrap="square" lIns="0" tIns="0" rIns="0" bIns="0" rtlCol="0" anchor="t"/>
          <a:lstStyle/>
          <a:p>
            <a:pPr indent="0" marL="0">
              <a:buNone/>
            </a:pPr>
            <a:r>
              <a:rPr lang="en-US" sz="1600" b="1" dirty="0">
                <a:solidFill>
                  <a:schemeClr val="tx1"/>
                </a:solidFill>
              </a:rPr>
              <a:t>Every customer</a:t>
            </a:r>
            <a:endParaRPr lang="en-US" sz="1600" dirty="0"/>
          </a:p>
        </p:txBody>
      </p:sp>
      <p:sp>
        <p:nvSpPr>
          <p:cNvPr id="19" name="Text 13"/>
          <p:cNvSpPr txBox="1"/>
          <p:nvPr/>
        </p:nvSpPr>
        <p:spPr>
          <a:xfrm>
            <a:off x="1325880" y="5550408"/>
            <a:ext cx="5029200" cy="594360"/>
          </a:xfrm>
          <a:prstGeom prst="rect">
            <a:avLst/>
          </a:prstGeom>
          <a:noFill/>
          <a:ln/>
        </p:spPr>
        <p:txBody>
          <a:bodyPr wrap="square" lIns="0" tIns="0" rIns="0" bIns="0" rtlCol="0" anchor="t"/>
          <a:lstStyle/>
          <a:p>
            <a:pPr indent="0" marL="0">
              <a:buNone/>
            </a:pPr>
            <a:r>
              <a:rPr lang="en-US" sz="1400" dirty="0">
                <a:solidFill>
                  <a:schemeClr val="tx2"/>
                </a:solidFill>
              </a:rPr>
              <a:t>Each customer is served exactly once. No skipping.</a:t>
            </a:r>
            <a:endParaRPr lang="en-US" sz="1400" dirty="0"/>
          </a:p>
        </p:txBody>
      </p:sp>
      <p:sp>
        <p:nvSpPr>
          <p:cNvPr id="20" name="measures card"/>
          <p:cNvSpPr/>
          <p:nvPr/>
        </p:nvSpPr>
        <p:spPr>
          <a:xfrm>
            <a:off x="6903720" y="1234440"/>
            <a:ext cx="4739335" cy="1965960"/>
          </a:xfrm>
          <a:prstGeom prst="roundRect">
            <a:avLst>
              <a:gd name="adj" fmla="val 3721"/>
            </a:avLst>
          </a:prstGeom>
          <a:solidFill>
            <a:schemeClr val="bg2"/>
          </a:solidFill>
          <a:ln w="12700">
            <a:solidFill>
              <a:schemeClr val="bg2"/>
            </a:solidFill>
            <a:prstDash val="solid"/>
          </a:ln>
        </p:spPr>
      </p:sp>
      <p:sp>
        <p:nvSpPr>
          <p:cNvPr id="21" name="Text 15"/>
          <p:cNvSpPr txBox="1"/>
          <p:nvPr/>
        </p:nvSpPr>
        <p:spPr>
          <a:xfrm>
            <a:off x="7178040" y="1371600"/>
            <a:ext cx="4190695"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How plans are scored</a:t>
            </a:r>
            <a:endParaRPr lang="en-US" sz="1800" dirty="0"/>
          </a:p>
        </p:txBody>
      </p:sp>
      <p:sp>
        <p:nvSpPr>
          <p:cNvPr id="22" name="Text 16"/>
          <p:cNvSpPr txBox="1"/>
          <p:nvPr/>
        </p:nvSpPr>
        <p:spPr>
          <a:xfrm>
            <a:off x="7178040" y="1810512"/>
            <a:ext cx="4190695" cy="128016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Primary: </a:t>
            </a:r>
            <a:pPr indent="0" marL="0">
              <a:spcAft>
                <a:spcPts val="400"/>
              </a:spcAft>
              <a:buNone/>
            </a:pPr>
            <a:r>
              <a:rPr lang="en-US" sz="1400" dirty="0">
                <a:solidFill>
                  <a:schemeClr val="tx1"/>
                </a:solidFill>
              </a:rPr>
              <a:t>total travel time (excludes waiting and service)</a:t>
            </a:r>
            <a:endParaRPr lang="en-US" sz="1400" dirty="0"/>
          </a:p>
          <a:p>
            <a:pPr indent="0" marL="0">
              <a:spcAft>
                <a:spcPts val="400"/>
              </a:spcAft>
              <a:buNone/>
            </a:pPr>
            <a:r>
              <a:rPr lang="en-US" sz="1400" b="1" dirty="0">
                <a:solidFill>
                  <a:schemeClr val="tx1"/>
                </a:solidFill>
              </a:rPr>
              <a:t>Secondary: </a:t>
            </a:r>
            <a:pPr indent="0" marL="0">
              <a:spcAft>
                <a:spcPts val="400"/>
              </a:spcAft>
              <a:buNone/>
            </a:pPr>
            <a:r>
              <a:rPr lang="en-US" sz="1400" dirty="0">
                <a:solidFill>
                  <a:schemeClr val="tx1"/>
                </a:solidFill>
              </a:rPr>
              <a:t>trucks used</a:t>
            </a:r>
            <a:endParaRPr lang="en-US" sz="1400" dirty="0"/>
          </a:p>
          <a:p>
            <a:pPr indent="0" marL="0">
              <a:spcAft>
                <a:spcPts val="400"/>
              </a:spcAft>
              <a:buNone/>
            </a:pPr>
            <a:r>
              <a:rPr lang="en-US" sz="1400" b="1" dirty="0">
                <a:solidFill>
                  <a:schemeClr val="tx1"/>
                </a:solidFill>
              </a:rPr>
              <a:t>Always reported: </a:t>
            </a:r>
            <a:pPr indent="0" marL="0">
              <a:spcAft>
                <a:spcPts val="400"/>
              </a:spcAft>
              <a:buNone/>
            </a:pPr>
            <a:r>
              <a:rPr lang="en-US" sz="1400" dirty="0">
                <a:solidFill>
                  <a:schemeClr val="tx1"/>
                </a:solidFill>
              </a:rPr>
              <a:t>computation time</a:t>
            </a:r>
            <a:endParaRPr lang="en-US" sz="1400" dirty="0"/>
          </a:p>
        </p:txBody>
      </p:sp>
      <p:graphicFrame>
        <p:nvGraphicFramePr>
          <p:cNvPr id="4" name="instance table"/>
          <p:cNvGraphicFramePr>
            <a:graphicFrameLocks noGrp="1"/>
          </p:cNvGraphicFramePr>
          <p:nvPr>
            <p:extLst>
              <p:ext uri="{D42A27DB-BD31-4B8C-83A1-F6EECF244321}">
                <p14:modId xmlns:p14="http://schemas.microsoft.com/office/powerpoint/2010/main" val="1579011935"/>
              </p:ext>
            </p:extLst>
          </p:nvPr>
        </p:nvGraphicFramePr>
        <p:xfrm>
          <a:off x="6903720" y="3429000"/>
          <a:ext cx="4739335" cy="914400"/>
        </p:xfrm>
        <a:graphic>
          <a:graphicData uri="http://schemas.openxmlformats.org/drawingml/2006/table">
            <a:tbl>
              <a:tblPr/>
              <a:tblGrid>
                <a:gridCol w="1965960"/>
                <a:gridCol w="1005840"/>
                <a:gridCol w="1767535"/>
              </a:tblGrid>
              <a:tr h="329184">
                <a:tc>
                  <a:txBody>
                    <a:bodyPr/>
                    <a:lstStyle/>
                    <a:p>
                      <a:pPr indent="0" marL="0">
                        <a:buNone/>
                      </a:pPr>
                      <a:r>
                        <a:rPr lang="en-US" sz="1200" b="1" dirty="0">
                          <a:solidFill>
                            <a:schemeClr val="bg1"/>
                          </a:solidFill>
                        </a:rPr>
                        <a:t>Instance</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Customers</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Use</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r>
              <a:tr h="329184">
                <a:tc>
                  <a:txBody>
                    <a:bodyPr/>
                    <a:lstStyle/>
                    <a:p>
                      <a:pPr indent="0" marL="0">
                        <a:buNone/>
                      </a:pPr>
                      <a:r>
                        <a:rPr lang="en-US" sz="1200" dirty="0">
                          <a:solidFill>
                            <a:schemeClr val="tx1"/>
                          </a:solidFill>
                        </a:rPr>
                        <a:t>hand_checkable</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6</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Trace the rule by hand</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200" dirty="0">
                          <a:solidFill>
                            <a:schemeClr val="tx1"/>
                          </a:solidFill>
                        </a:rPr>
                        <a:t>development_small</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15</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Debug</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200" dirty="0">
                          <a:solidFill>
                            <a:schemeClr val="tx1"/>
                          </a:solidFill>
                        </a:rPr>
                        <a:t>development_medium</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45</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Compare, stress test</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200" dirty="0">
                          <a:solidFill>
                            <a:schemeClr val="tx1"/>
                          </a:solidFill>
                        </a:rPr>
                        <a:t>development_large</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120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Scale and runtime</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200" dirty="0">
                          <a:solidFill>
                            <a:schemeClr val="tx1"/>
                          </a:solidFill>
                        </a:rPr>
                        <a:t>edge_case</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10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Infeasible (demand 65 &gt; 60)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200" dirty="0">
                          <a:solidFill>
                            <a:schemeClr val="tx1"/>
                          </a:solidFill>
                        </a:rPr>
                        <a:t>held-out (instructor)</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60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Must beat the rule</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rule to beat: nearest feasible stop, one truck at a time</a:t>
            </a:r>
            <a:endParaRPr lang="en-US" sz="3200" dirty="0"/>
          </a:p>
        </p:txBody>
      </p:sp>
      <p:pic>
        <p:nvPicPr>
          <p:cNvPr id="3" name="rule code" descr="Code of the nearest feasible neighbor rule, src/vrptw/rule.py lines 20-46">    </p:cNvPr>
          <p:cNvPicPr>
            <a:picLocks noChangeAspect="1"/>
          </p:cNvPicPr>
          <p:nvPr/>
        </p:nvPicPr>
        <p:blipFill>
          <a:blip r:embed="rId1"/>
          <a:stretch>
            <a:fillRect/>
          </a:stretch>
        </p:blipFill>
        <p:spPr>
          <a:xfrm>
            <a:off x="548640" y="1234440"/>
            <a:ext cx="6309360" cy="4598822"/>
          </a:xfrm>
          <a:prstGeom prst="rect">
            <a:avLst/>
          </a:prstGeom>
        </p:spPr>
      </p:pic>
      <p:sp>
        <p:nvSpPr>
          <p:cNvPr id="4" name="Text 1"/>
          <p:cNvSpPr txBox="1"/>
          <p:nvPr/>
        </p:nvSpPr>
        <p:spPr>
          <a:xfrm>
            <a:off x="548640" y="5924702"/>
            <a:ext cx="6309360" cy="457200"/>
          </a:xfrm>
          <a:prstGeom prst="rect">
            <a:avLst/>
          </a:prstGeom>
          <a:noFill/>
          <a:ln/>
        </p:spPr>
        <p:txBody>
          <a:bodyPr wrap="square" lIns="0" tIns="0" rIns="0" bIns="0" rtlCol="0" anchor="t"/>
          <a:lstStyle/>
          <a:p>
            <a:pPr indent="0" marL="0">
              <a:buNone/>
            </a:pPr>
            <a:r>
              <a:rPr lang="en-US" sz="1200" dirty="0">
                <a:solidFill>
                  <a:schemeClr val="tx2"/>
                </a:solidFill>
              </a:rPr>
              <a:t>src/vrptw/rule.py: the brief's rule, line for line. It reproduces the worked example's 352.417 min.</a:t>
            </a:r>
            <a:endParaRPr lang="en-US" sz="1200" dirty="0"/>
          </a:p>
        </p:txBody>
      </p:sp>
      <p:pic>
        <p:nvPicPr>
          <p:cNvPr id="5" name="rule map" descr="Route map of the rule's 11-truck plan on development_medium">    </p:cNvPr>
          <p:cNvPicPr>
            <a:picLocks noChangeAspect="1"/>
          </p:cNvPicPr>
          <p:nvPr/>
        </p:nvPicPr>
        <p:blipFill>
          <a:blip r:embed="rId2"/>
          <a:stretch>
            <a:fillRect/>
          </a:stretch>
        </p:blipFill>
        <p:spPr>
          <a:xfrm>
            <a:off x="7360920" y="1234440"/>
            <a:ext cx="4023360" cy="4023360"/>
          </a:xfrm>
          <a:prstGeom prst="rect">
            <a:avLst/>
          </a:prstGeom>
        </p:spPr>
      </p:pic>
      <p:sp>
        <p:nvSpPr>
          <p:cNvPr id="6" name="Text 2"/>
          <p:cNvSpPr txBox="1"/>
          <p:nvPr/>
        </p:nvSpPr>
        <p:spPr>
          <a:xfrm>
            <a:off x="7132320" y="5349240"/>
            <a:ext cx="4480560" cy="914400"/>
          </a:xfrm>
          <a:prstGeom prst="rect">
            <a:avLst/>
          </a:prstGeom>
          <a:noFill/>
          <a:ln/>
        </p:spPr>
        <p:txBody>
          <a:bodyPr wrap="square" lIns="0" tIns="0" rIns="0" bIns="0" rtlCol="0" anchor="t"/>
          <a:lstStyle/>
          <a:p>
            <a:pPr indent="0" marL="0">
              <a:buNone/>
            </a:pPr>
            <a:r>
              <a:rPr lang="en-US" sz="1300" b="1" dirty="0">
                <a:solidFill>
                  <a:schemeClr val="tx1"/>
                </a:solidFill>
              </a:rPr>
              <a:t>1,683.4 min · 11 trucks</a:t>
            </a:r>
            <a:endParaRPr lang="en-US" sz="1300" dirty="0"/>
          </a:p>
          <a:p>
            <a:pPr indent="0" marL="0">
              <a:buNone/>
            </a:pPr>
            <a:r>
              <a:rPr lang="en-US" sz="1300" dirty="0">
                <a:solidFill>
                  <a:schemeClr val="tx1"/>
                </a:solidFill>
              </a:rPr>
              <a:t>Greedy and myopic: early trucks take the easy stops, and the last trucks collect scattered leftovers. One truck works just 1.8 hours.</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Our method: large neighborhood search</a:t>
            </a:r>
            <a:endParaRPr lang="en-US" sz="3200" dirty="0"/>
          </a:p>
        </p:txBody>
      </p:sp>
      <p:sp>
        <p:nvSpPr>
          <p:cNvPr id="3" name="step 1"/>
          <p:cNvSpPr/>
          <p:nvPr/>
        </p:nvSpPr>
        <p:spPr>
          <a:xfrm>
            <a:off x="548640" y="1371600"/>
            <a:ext cx="2542032" cy="2514600"/>
          </a:xfrm>
          <a:prstGeom prst="roundRect">
            <a:avLst>
              <a:gd name="adj" fmla="val 2909"/>
            </a:avLst>
          </a:prstGeom>
          <a:solidFill>
            <a:schemeClr val="bg2"/>
          </a:solidFill>
          <a:ln w="12700">
            <a:solidFill>
              <a:schemeClr val="bg2"/>
            </a:solidFill>
            <a:prstDash val="solid"/>
          </a:ln>
        </p:spPr>
      </p:sp>
      <p:sp>
        <p:nvSpPr>
          <p:cNvPr id="4" name="step 1 number"/>
          <p:cNvSpPr/>
          <p:nvPr/>
        </p:nvSpPr>
        <p:spPr>
          <a:xfrm>
            <a:off x="777240" y="1572768"/>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77240" y="15727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777240" y="2212848"/>
            <a:ext cx="2084832"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Build</a:t>
            </a:r>
            <a:endParaRPr lang="en-US" sz="1700" dirty="0"/>
          </a:p>
        </p:txBody>
      </p:sp>
      <p:sp>
        <p:nvSpPr>
          <p:cNvPr id="7" name="Text 5"/>
          <p:cNvSpPr txBox="1"/>
          <p:nvPr/>
        </p:nvSpPr>
        <p:spPr>
          <a:xfrm>
            <a:off x="777240" y="2606040"/>
            <a:ext cx="2084832" cy="1234440"/>
          </a:xfrm>
          <a:prstGeom prst="rect">
            <a:avLst/>
          </a:prstGeom>
          <a:noFill/>
          <a:ln/>
        </p:spPr>
        <p:txBody>
          <a:bodyPr wrap="square" lIns="0" tIns="0" rIns="0" bIns="0" rtlCol="0" anchor="t"/>
          <a:lstStyle/>
          <a:p>
            <a:pPr indent="0" marL="0">
              <a:buNone/>
            </a:pPr>
            <a:r>
              <a:rPr lang="en-US" sz="1300" dirty="0">
                <a:solidFill>
                  <a:schemeClr val="tx2"/>
                </a:solidFill>
              </a:rPr>
              <a:t>Regret-2 insertion builds all routes at once. The rule's plan is a second start. Keep the better.</a:t>
            </a:r>
            <a:endParaRPr lang="en-US" sz="1300" dirty="0"/>
          </a:p>
        </p:txBody>
      </p:sp>
      <p:sp>
        <p:nvSpPr>
          <p:cNvPr id="8" name="arrow 1"/>
          <p:cNvSpPr/>
          <p:nvPr/>
        </p:nvSpPr>
        <p:spPr>
          <a:xfrm>
            <a:off x="3145536" y="2496312"/>
            <a:ext cx="192024" cy="274320"/>
          </a:xfrm>
          <a:prstGeom prst="rightArrow">
            <a:avLst/>
          </a:prstGeom>
          <a:solidFill>
            <a:schemeClr val="accent1"/>
          </a:solidFill>
          <a:ln w="12700">
            <a:solidFill>
              <a:schemeClr val="accent1"/>
            </a:solidFill>
            <a:prstDash val="solid"/>
          </a:ln>
        </p:spPr>
      </p:sp>
      <p:sp>
        <p:nvSpPr>
          <p:cNvPr id="9" name="step 2"/>
          <p:cNvSpPr/>
          <p:nvPr/>
        </p:nvSpPr>
        <p:spPr>
          <a:xfrm>
            <a:off x="3392424" y="1371600"/>
            <a:ext cx="2542032" cy="2514600"/>
          </a:xfrm>
          <a:prstGeom prst="roundRect">
            <a:avLst>
              <a:gd name="adj" fmla="val 2909"/>
            </a:avLst>
          </a:prstGeom>
          <a:solidFill>
            <a:schemeClr val="bg2"/>
          </a:solidFill>
          <a:ln w="12700">
            <a:solidFill>
              <a:schemeClr val="bg2"/>
            </a:solidFill>
            <a:prstDash val="solid"/>
          </a:ln>
        </p:spPr>
      </p:sp>
      <p:sp>
        <p:nvSpPr>
          <p:cNvPr id="10" name="step 2 number"/>
          <p:cNvSpPr/>
          <p:nvPr/>
        </p:nvSpPr>
        <p:spPr>
          <a:xfrm>
            <a:off x="3621024" y="1572768"/>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3621024" y="15727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3621024" y="2212848"/>
            <a:ext cx="2084832"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Improve</a:t>
            </a:r>
            <a:endParaRPr lang="en-US" sz="1700" dirty="0"/>
          </a:p>
        </p:txBody>
      </p:sp>
      <p:sp>
        <p:nvSpPr>
          <p:cNvPr id="13" name="Text 11"/>
          <p:cNvSpPr txBox="1"/>
          <p:nvPr/>
        </p:nvSpPr>
        <p:spPr>
          <a:xfrm>
            <a:off x="3621024" y="2606040"/>
            <a:ext cx="2084832" cy="1234440"/>
          </a:xfrm>
          <a:prstGeom prst="rect">
            <a:avLst/>
          </a:prstGeom>
          <a:noFill/>
          <a:ln/>
        </p:spPr>
        <p:txBody>
          <a:bodyPr wrap="square" lIns="0" tIns="0" rIns="0" bIns="0" rtlCol="0" anchor="t"/>
          <a:lstStyle/>
          <a:p>
            <a:pPr indent="0" marL="0">
              <a:buNone/>
            </a:pPr>
            <a:r>
              <a:rPr lang="en-US" sz="1300" dirty="0">
                <a:solidFill>
                  <a:schemeClr val="tx2"/>
                </a:solidFill>
              </a:rPr>
              <a:t>Local search with 5 moves: 2-opt, or-opt, relocate, swap, 2-opt*. A move is kept only if it is shorter and feasible.</a:t>
            </a:r>
            <a:endParaRPr lang="en-US" sz="1300" dirty="0"/>
          </a:p>
        </p:txBody>
      </p:sp>
      <p:sp>
        <p:nvSpPr>
          <p:cNvPr id="14" name="arrow 2"/>
          <p:cNvSpPr/>
          <p:nvPr/>
        </p:nvSpPr>
        <p:spPr>
          <a:xfrm>
            <a:off x="5989320" y="2496312"/>
            <a:ext cx="192024" cy="274320"/>
          </a:xfrm>
          <a:prstGeom prst="rightArrow">
            <a:avLst/>
          </a:prstGeom>
          <a:solidFill>
            <a:schemeClr val="accent1"/>
          </a:solidFill>
          <a:ln w="12700">
            <a:solidFill>
              <a:schemeClr val="accent1"/>
            </a:solidFill>
            <a:prstDash val="solid"/>
          </a:ln>
        </p:spPr>
      </p:sp>
      <p:sp>
        <p:nvSpPr>
          <p:cNvPr id="15" name="step 3"/>
          <p:cNvSpPr/>
          <p:nvPr/>
        </p:nvSpPr>
        <p:spPr>
          <a:xfrm>
            <a:off x="6236208" y="1371600"/>
            <a:ext cx="2542032" cy="2514600"/>
          </a:xfrm>
          <a:prstGeom prst="roundRect">
            <a:avLst>
              <a:gd name="adj" fmla="val 2909"/>
            </a:avLst>
          </a:prstGeom>
          <a:solidFill>
            <a:schemeClr val="bg2"/>
          </a:solidFill>
          <a:ln w="12700">
            <a:solidFill>
              <a:schemeClr val="bg2"/>
            </a:solidFill>
            <a:prstDash val="solid"/>
          </a:ln>
        </p:spPr>
      </p:sp>
      <p:sp>
        <p:nvSpPr>
          <p:cNvPr id="16" name="step 3 number"/>
          <p:cNvSpPr/>
          <p:nvPr/>
        </p:nvSpPr>
        <p:spPr>
          <a:xfrm>
            <a:off x="6464808" y="1572768"/>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6464808" y="15727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6464808" y="2212848"/>
            <a:ext cx="2084832"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Ruin and recreate</a:t>
            </a:r>
            <a:endParaRPr lang="en-US" sz="1700" dirty="0"/>
          </a:p>
        </p:txBody>
      </p:sp>
      <p:sp>
        <p:nvSpPr>
          <p:cNvPr id="19" name="Text 17"/>
          <p:cNvSpPr txBox="1"/>
          <p:nvPr/>
        </p:nvSpPr>
        <p:spPr>
          <a:xfrm>
            <a:off x="6464808" y="2606040"/>
            <a:ext cx="2084832" cy="1234440"/>
          </a:xfrm>
          <a:prstGeom prst="rect">
            <a:avLst/>
          </a:prstGeom>
          <a:noFill/>
          <a:ln/>
        </p:spPr>
        <p:txBody>
          <a:bodyPr wrap="square" lIns="0" tIns="0" rIns="0" bIns="0" rtlCol="0" anchor="t"/>
          <a:lstStyle/>
          <a:p>
            <a:pPr indent="0" marL="0">
              <a:buNone/>
            </a:pPr>
            <a:r>
              <a:rPr lang="en-US" sz="1300" dirty="0">
                <a:solidFill>
                  <a:schemeClr val="tx2"/>
                </a:solidFill>
              </a:rPr>
              <a:t>Remove 2 to 15 related customers, then reinsert the hardest-to-place first (regret insertion).</a:t>
            </a:r>
            <a:endParaRPr lang="en-US" sz="1300" dirty="0"/>
          </a:p>
        </p:txBody>
      </p:sp>
      <p:sp>
        <p:nvSpPr>
          <p:cNvPr id="20" name="arrow 3"/>
          <p:cNvSpPr/>
          <p:nvPr/>
        </p:nvSpPr>
        <p:spPr>
          <a:xfrm>
            <a:off x="8833104" y="2496312"/>
            <a:ext cx="192024" cy="274320"/>
          </a:xfrm>
          <a:prstGeom prst="rightArrow">
            <a:avLst/>
          </a:prstGeom>
          <a:solidFill>
            <a:schemeClr val="accent1"/>
          </a:solidFill>
          <a:ln w="12700">
            <a:solidFill>
              <a:schemeClr val="accent1"/>
            </a:solidFill>
            <a:prstDash val="solid"/>
          </a:ln>
        </p:spPr>
      </p:sp>
      <p:sp>
        <p:nvSpPr>
          <p:cNvPr id="21" name="step 4"/>
          <p:cNvSpPr/>
          <p:nvPr/>
        </p:nvSpPr>
        <p:spPr>
          <a:xfrm>
            <a:off x="9079992" y="1371600"/>
            <a:ext cx="2542032" cy="2514600"/>
          </a:xfrm>
          <a:prstGeom prst="roundRect">
            <a:avLst>
              <a:gd name="adj" fmla="val 2909"/>
            </a:avLst>
          </a:prstGeom>
          <a:solidFill>
            <a:schemeClr val="bg2"/>
          </a:solidFill>
          <a:ln w="12700">
            <a:solidFill>
              <a:schemeClr val="bg2"/>
            </a:solidFill>
            <a:prstDash val="solid"/>
          </a:ln>
        </p:spPr>
      </p:sp>
      <p:sp>
        <p:nvSpPr>
          <p:cNvPr id="22" name="step 4 number"/>
          <p:cNvSpPr/>
          <p:nvPr/>
        </p:nvSpPr>
        <p:spPr>
          <a:xfrm>
            <a:off x="9308592" y="1572768"/>
            <a:ext cx="502920" cy="502920"/>
          </a:xfrm>
          <a:prstGeom prst="ellipse">
            <a:avLst/>
          </a:prstGeom>
          <a:solidFill>
            <a:schemeClr val="accent1"/>
          </a:solidFill>
          <a:ln w="12700">
            <a:solidFill>
              <a:schemeClr val="accent1"/>
            </a:solidFill>
            <a:prstDash val="solid"/>
          </a:ln>
        </p:spPr>
      </p:sp>
      <p:sp>
        <p:nvSpPr>
          <p:cNvPr id="23" name="Text 21"/>
          <p:cNvSpPr txBox="1"/>
          <p:nvPr/>
        </p:nvSpPr>
        <p:spPr>
          <a:xfrm>
            <a:off x="9308592" y="15727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Text 22"/>
          <p:cNvSpPr txBox="1"/>
          <p:nvPr/>
        </p:nvSpPr>
        <p:spPr>
          <a:xfrm>
            <a:off x="9308592" y="2212848"/>
            <a:ext cx="2084832"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Accept</a:t>
            </a:r>
            <a:endParaRPr lang="en-US" sz="1700" dirty="0"/>
          </a:p>
        </p:txBody>
      </p:sp>
      <p:sp>
        <p:nvSpPr>
          <p:cNvPr id="25" name="Text 23"/>
          <p:cNvSpPr txBox="1"/>
          <p:nvPr/>
        </p:nvSpPr>
        <p:spPr>
          <a:xfrm>
            <a:off x="9308592" y="2606040"/>
            <a:ext cx="2084832" cy="1234440"/>
          </a:xfrm>
          <a:prstGeom prst="rect">
            <a:avLst/>
          </a:prstGeom>
          <a:noFill/>
          <a:ln/>
        </p:spPr>
        <p:txBody>
          <a:bodyPr wrap="square" lIns="0" tIns="0" rIns="0" bIns="0" rtlCol="0" anchor="t"/>
          <a:lstStyle/>
          <a:p>
            <a:pPr indent="0" marL="0">
              <a:buNone/>
            </a:pPr>
            <a:r>
              <a:rPr lang="en-US" sz="1300" dirty="0">
                <a:solidFill>
                  <a:schemeClr val="tx2"/>
                </a:solidFill>
              </a:rPr>
              <a:t>Simulated annealing sometimes accepts a worse plan early on to escape dead ends. Keep the best ever seen.</a:t>
            </a:r>
            <a:endParaRPr lang="en-US" sz="1300" dirty="0"/>
          </a:p>
        </p:txBody>
      </p:sp>
      <p:sp>
        <p:nvSpPr>
          <p:cNvPr id="26" name="Text 24"/>
          <p:cNvSpPr txBox="1"/>
          <p:nvPr/>
        </p:nvSpPr>
        <p:spPr>
          <a:xfrm>
            <a:off x="548640" y="4069080"/>
            <a:ext cx="11094415" cy="457200"/>
          </a:xfrm>
          <a:prstGeom prst="rect">
            <a:avLst/>
          </a:prstGeom>
          <a:noFill/>
          <a:ln/>
        </p:spPr>
        <p:txBody>
          <a:bodyPr wrap="square" lIns="0" tIns="0" rIns="0" bIns="0" rtlCol="0" anchor="t"/>
          <a:lstStyle/>
          <a:p>
            <a:pPr indent="0" marL="0">
              <a:buNone/>
            </a:pPr>
            <a:r>
              <a:rPr lang="en-US" sz="1400" dirty="0">
                <a:solidFill>
                  <a:schemeClr val="tx1"/>
                </a:solidFill>
              </a:rPr>
              <a:t>Steps 3 and 4 repeat 8,000 times with a fixed seed (522), so the same input always gives the same routes. A 480-second cap is only a safety net.</a:t>
            </a:r>
            <a:endParaRPr lang="en-US" sz="1400" dirty="0"/>
          </a:p>
        </p:txBody>
      </p:sp>
      <p:sp>
        <p:nvSpPr>
          <p:cNvPr id="27" name="why card"/>
          <p:cNvSpPr/>
          <p:nvPr/>
        </p:nvSpPr>
        <p:spPr>
          <a:xfrm>
            <a:off x="548640" y="4663440"/>
            <a:ext cx="6675120" cy="1417320"/>
          </a:xfrm>
          <a:prstGeom prst="roundRect">
            <a:avLst>
              <a:gd name="adj" fmla="val 5161"/>
            </a:avLst>
          </a:prstGeom>
          <a:solidFill>
            <a:schemeClr val="bg2"/>
          </a:solidFill>
          <a:ln w="12700">
            <a:solidFill>
              <a:schemeClr val="bg2"/>
            </a:solidFill>
            <a:prstDash val="solid"/>
          </a:ln>
        </p:spPr>
      </p:sp>
      <p:sp>
        <p:nvSpPr>
          <p:cNvPr id="28" name="Text 26"/>
          <p:cNvSpPr txBox="1"/>
          <p:nvPr/>
        </p:nvSpPr>
        <p:spPr>
          <a:xfrm>
            <a:off x="777240" y="4773168"/>
            <a:ext cx="6217920" cy="1234440"/>
          </a:xfrm>
          <a:prstGeom prst="rect">
            <a:avLst/>
          </a:prstGeom>
          <a:noFill/>
          <a:ln/>
        </p:spPr>
        <p:txBody>
          <a:bodyPr wrap="square" lIns="0" tIns="0" rIns="0" bIns="0" rtlCol="0" anchor="t"/>
          <a:lstStyle/>
          <a:p>
            <a:pPr indent="0" marL="0">
              <a:buNone/>
            </a:pPr>
            <a:r>
              <a:rPr lang="en-US" sz="1600" b="1" dirty="0">
                <a:solidFill>
                  <a:schemeClr val="tx1"/>
                </a:solidFill>
              </a:rPr>
              <a:t>Why it fits this problem</a:t>
            </a:r>
            <a:endParaRPr lang="en-US" sz="1300" dirty="0"/>
          </a:p>
          <a:p>
            <a:pPr indent="0" marL="0">
              <a:buNone/>
            </a:pPr>
            <a:r>
              <a:rPr lang="en-US" sz="1300" dirty="0">
                <a:solidFill>
                  <a:schemeClr val="tx1"/>
                </a:solidFill>
              </a:rPr>
              <a:t>Narrow windows make most single moves infeasible, so plain local search stalls. Removing a group of nearby, similar-time customers and rebuilding them together can reorganize several routes in one step.</a:t>
            </a:r>
            <a:endParaRPr lang="en-US" sz="1300" dirty="0"/>
          </a:p>
        </p:txBody>
      </p:sp>
      <p:sp>
        <p:nvSpPr>
          <p:cNvPr id="29" name="Text 27"/>
          <p:cNvSpPr txBox="1"/>
          <p:nvPr/>
        </p:nvSpPr>
        <p:spPr>
          <a:xfrm>
            <a:off x="7498080" y="4709160"/>
            <a:ext cx="4114800" cy="1463040"/>
          </a:xfrm>
          <a:prstGeom prst="rect">
            <a:avLst/>
          </a:prstGeom>
          <a:noFill/>
          <a:ln/>
        </p:spPr>
        <p:txBody>
          <a:bodyPr wrap="square" lIns="0" tIns="0" rIns="0" bIns="0" rtlCol="0" anchor="t"/>
          <a:lstStyle/>
          <a:p>
            <a:pPr indent="0" marL="0">
              <a:buNone/>
            </a:pPr>
            <a:r>
              <a:rPr lang="en-US" sz="1200" b="1" dirty="0">
                <a:solidFill>
                  <a:schemeClr val="tx2"/>
                </a:solidFill>
              </a:rPr>
              <a:t>Sources</a:t>
            </a:r>
            <a:endParaRPr lang="en-US" sz="1200" dirty="0"/>
          </a:p>
          <a:p>
            <a:pPr indent="0" marL="0">
              <a:buNone/>
            </a:pPr>
            <a:r>
              <a:rPr lang="en-US" sz="1200" dirty="0">
                <a:solidFill>
                  <a:schemeClr val="tx2"/>
                </a:solidFill>
              </a:rPr>
              <a:t>Ropke &amp; Pisinger (2006), Transportation Science 40(4)</a:t>
            </a:r>
            <a:endParaRPr lang="en-US" sz="1200" dirty="0"/>
          </a:p>
          <a:p>
            <a:pPr indent="0" marL="0">
              <a:buNone/>
            </a:pPr>
            <a:r>
              <a:rPr lang="en-US" sz="1200" dirty="0">
                <a:solidFill>
                  <a:schemeClr val="tx2"/>
                </a:solidFill>
              </a:rPr>
              <a:t>Solomon (1987), Operations Research 35(2)</a:t>
            </a:r>
            <a:endParaRPr lang="en-US" sz="1200" dirty="0"/>
          </a:p>
          <a:p>
            <a:pPr indent="0" marL="0">
              <a:buNone/>
            </a:pPr>
            <a:r>
              <a:rPr lang="en-US" sz="1200" dirty="0">
                <a:solidFill>
                  <a:schemeClr val="tx2"/>
                </a:solidFill>
              </a:rPr>
              <a:t>Savelsbergh (1992), ORSA J. on Computing 4(2)</a:t>
            </a:r>
            <a:endParaRPr lang="en-US" sz="1200" dirty="0"/>
          </a:p>
          <a:p>
            <a:pPr indent="0" marL="0">
              <a:buNone/>
            </a:pPr>
            <a:r>
              <a:rPr lang="en-US" sz="1200" dirty="0">
                <a:solidFill>
                  <a:schemeClr val="tx2"/>
                </a:solidFill>
              </a:rPr>
              <a:t>Bräysy &amp; Gendreau (2005), Transportation Science 39(1)</a:t>
            </a:r>
            <a:endParaRPr lang="en-US" sz="12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Fast feasibility: is there room for this customer?</a:t>
            </a:r>
            <a:endParaRPr lang="en-US" sz="3200" dirty="0"/>
          </a:p>
        </p:txBody>
      </p:sp>
      <p:pic>
        <p:nvPicPr>
          <p:cNvPr id="3" name="insertion code" descr="Route.insertion_cost, src/vrptw/lns.py lines 96-111">    </p:cNvPr>
          <p:cNvPicPr>
            <a:picLocks noChangeAspect="1"/>
          </p:cNvPicPr>
          <p:nvPr/>
        </p:nvPicPr>
        <p:blipFill>
          <a:blip r:embed="rId1"/>
          <a:stretch>
            <a:fillRect/>
          </a:stretch>
        </p:blipFill>
        <p:spPr>
          <a:xfrm>
            <a:off x="548640" y="1280160"/>
            <a:ext cx="7863840" cy="3391281"/>
          </a:xfrm>
          <a:prstGeom prst="rect">
            <a:avLst/>
          </a:prstGeom>
        </p:spPr>
      </p:pic>
      <p:sp>
        <p:nvSpPr>
          <p:cNvPr id="4" name="Text 1"/>
          <p:cNvSpPr txBox="1"/>
          <p:nvPr/>
        </p:nvSpPr>
        <p:spPr>
          <a:xfrm>
            <a:off x="548640" y="4762881"/>
            <a:ext cx="7863840" cy="457200"/>
          </a:xfrm>
          <a:prstGeom prst="rect">
            <a:avLst/>
          </a:prstGeom>
          <a:noFill/>
          <a:ln/>
        </p:spPr>
        <p:txBody>
          <a:bodyPr wrap="square" lIns="0" tIns="0" rIns="0" bIns="0" rtlCol="0" anchor="t"/>
          <a:lstStyle/>
          <a:p>
            <a:pPr indent="0" marL="0">
              <a:buNone/>
            </a:pPr>
            <a:r>
              <a:rPr lang="en-US" sz="1200" dirty="0">
                <a:solidFill>
                  <a:schemeClr val="tx2"/>
                </a:solidFill>
              </a:rPr>
              <a:t>src/vrptw/lns.py, Route.insertion_cost</a:t>
            </a:r>
            <a:endParaRPr lang="en-US" sz="1200" dirty="0"/>
          </a:p>
        </p:txBody>
      </p:sp>
      <p:sp>
        <p:nvSpPr>
          <p:cNvPr id="5" name="Text 2"/>
          <p:cNvSpPr txBox="1"/>
          <p:nvPr/>
        </p:nvSpPr>
        <p:spPr>
          <a:xfrm>
            <a:off x="8778240" y="1325880"/>
            <a:ext cx="2864815" cy="4389120"/>
          </a:xfrm>
          <a:prstGeom prst="rect">
            <a:avLst/>
          </a:prstGeom>
          <a:noFill/>
          <a:ln/>
        </p:spPr>
        <p:txBody>
          <a:bodyPr wrap="square" lIns="0" tIns="0" rIns="0" bIns="0" rtlCol="0" anchor="t"/>
          <a:lstStyle/>
          <a:p>
            <a:pPr indent="0" marL="0">
              <a:buNone/>
            </a:pPr>
            <a:r>
              <a:rPr lang="en-US" sz="1700" b="1" dirty="0">
                <a:solidFill>
                  <a:schemeClr val="tx1"/>
                </a:solidFill>
              </a:rPr>
              <a:t>Constant-time insertion test</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Each route caches when it leaves every stop and the latest start each later stop can tolerate.</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Whether a customer fits at a position is then three checks: capacity, its own window, and the next stop's latest start. No route replay (Savelsbergh 1992).</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This is what makes 8,000 ruin-and-recreate iterations take seconds.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Safety: a broken plan is never kept</a:t>
            </a:r>
            <a:endParaRPr lang="en-US" sz="3200" dirty="0"/>
          </a:p>
        </p:txBody>
      </p:sp>
      <p:pic>
        <p:nvPicPr>
          <p:cNvPr id="3" name="acceptance code" descr="Ruin-and-recreate acceptance, src/vrptw/lns.py lines 418-440">    </p:cNvPr>
          <p:cNvPicPr>
            <a:picLocks noChangeAspect="1"/>
          </p:cNvPicPr>
          <p:nvPr/>
        </p:nvPicPr>
        <p:blipFill>
          <a:blip r:embed="rId1"/>
          <a:stretch>
            <a:fillRect/>
          </a:stretch>
        </p:blipFill>
        <p:spPr>
          <a:xfrm>
            <a:off x="548640" y="1280160"/>
            <a:ext cx="7863840" cy="4652772"/>
          </a:xfrm>
          <a:prstGeom prst="rect">
            <a:avLst/>
          </a:prstGeom>
        </p:spPr>
      </p:pic>
      <p:sp>
        <p:nvSpPr>
          <p:cNvPr id="4" name="Text 1"/>
          <p:cNvSpPr txBox="1"/>
          <p:nvPr/>
        </p:nvSpPr>
        <p:spPr>
          <a:xfrm>
            <a:off x="548640" y="6024372"/>
            <a:ext cx="7863840" cy="457200"/>
          </a:xfrm>
          <a:prstGeom prst="rect">
            <a:avLst/>
          </a:prstGeom>
          <a:noFill/>
          <a:ln/>
        </p:spPr>
        <p:txBody>
          <a:bodyPr wrap="square" lIns="0" tIns="0" rIns="0" bIns="0" rtlCol="0" anchor="t"/>
          <a:lstStyle/>
          <a:p>
            <a:pPr indent="0" marL="0">
              <a:buNone/>
            </a:pPr>
            <a:r>
              <a:rPr lang="en-US" sz="1200" dirty="0">
                <a:solidFill>
                  <a:schemeClr val="tx2"/>
                </a:solidFill>
              </a:rPr>
              <a:t>src/vrptw/lns.py, inside _ruin_and_recreate</a:t>
            </a:r>
            <a:endParaRPr lang="en-US" sz="1200" dirty="0"/>
          </a:p>
        </p:txBody>
      </p:sp>
      <p:sp>
        <p:nvSpPr>
          <p:cNvPr id="5" name="Text 2"/>
          <p:cNvSpPr txBox="1"/>
          <p:nvPr/>
        </p:nvSpPr>
        <p:spPr>
          <a:xfrm>
            <a:off x="8778240" y="1325880"/>
            <a:ext cx="2864815" cy="4572000"/>
          </a:xfrm>
          <a:prstGeom prst="rect">
            <a:avLst/>
          </a:prstGeom>
          <a:noFill/>
          <a:ln/>
        </p:spPr>
        <p:txBody>
          <a:bodyPr wrap="square" lIns="0" tIns="0" rIns="0" bIns="0" rtlCol="0" anchor="t"/>
          <a:lstStyle/>
          <a:p>
            <a:pPr indent="0" marL="0">
              <a:buNone/>
            </a:pPr>
            <a:r>
              <a:rPr lang="en-US" sz="1700" b="1" dirty="0">
                <a:solidFill>
                  <a:schemeClr val="tx1"/>
                </a:solidFill>
              </a:rPr>
              <a:t>Check, then decide</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After repair and local search, every changed route gets a full capacity, window and shift check (line 425).</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Only then does simulated annealing decide: always accept a shorter plan, and sometimes a slightly longer one early on, with odds that fall to zero (lines 431-435).</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The best feasible plan ever seen is what the tool returns.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Same customers, same fleet: 38% less driving</a:t>
            </a:r>
            <a:endParaRPr lang="en-US" sz="3200" dirty="0"/>
          </a:p>
        </p:txBody>
      </p:sp>
      <p:pic>
        <p:nvPicPr>
          <p:cNvPr id="3" name="Today's rule map" descr="Today's rule route map, development_medium">    </p:cNvPr>
          <p:cNvPicPr>
            <a:picLocks noChangeAspect="1"/>
          </p:cNvPicPr>
          <p:nvPr/>
        </p:nvPicPr>
        <p:blipFill>
          <a:blip r:embed="rId1"/>
          <a:stretch>
            <a:fillRect/>
          </a:stretch>
        </p:blipFill>
        <p:spPr>
          <a:xfrm>
            <a:off x="914400" y="1234440"/>
            <a:ext cx="4206240" cy="4206240"/>
          </a:xfrm>
          <a:prstGeom prst="rect">
            <a:avLst/>
          </a:prstGeom>
        </p:spPr>
      </p:pic>
      <p:sp>
        <p:nvSpPr>
          <p:cNvPr id="4" name="Text 1"/>
          <p:cNvSpPr txBox="1"/>
          <p:nvPr/>
        </p:nvSpPr>
        <p:spPr>
          <a:xfrm>
            <a:off x="914400" y="5486400"/>
            <a:ext cx="4206240" cy="347472"/>
          </a:xfrm>
          <a:prstGeom prst="rect">
            <a:avLst/>
          </a:prstGeom>
          <a:noFill/>
          <a:ln/>
        </p:spPr>
        <p:txBody>
          <a:bodyPr wrap="square" lIns="0" tIns="0" rIns="0" bIns="0" rtlCol="0" anchor="t"/>
          <a:lstStyle/>
          <a:p>
            <a:pPr algn="ctr" indent="0" marL="0">
              <a:buNone/>
            </a:pPr>
            <a:r>
              <a:rPr lang="en-US" sz="1800" b="1" dirty="0">
                <a:solidFill>
                  <a:schemeClr val="tx1"/>
                </a:solidFill>
                <a:latin typeface="Cambria" pitchFamily="34" charset="0"/>
                <a:ea typeface="Cambria" pitchFamily="34" charset="-122"/>
                <a:cs typeface="Cambria" pitchFamily="34" charset="-120"/>
              </a:rPr>
              <a:t>Today's rule</a:t>
            </a:r>
            <a:endParaRPr lang="en-US" sz="1800" dirty="0"/>
          </a:p>
        </p:txBody>
      </p:sp>
      <p:sp>
        <p:nvSpPr>
          <p:cNvPr id="5" name="Text 2"/>
          <p:cNvSpPr txBox="1"/>
          <p:nvPr/>
        </p:nvSpPr>
        <p:spPr>
          <a:xfrm>
            <a:off x="914400" y="5833872"/>
            <a:ext cx="4206240" cy="320040"/>
          </a:xfrm>
          <a:prstGeom prst="rect">
            <a:avLst/>
          </a:prstGeom>
          <a:noFill/>
          <a:ln/>
        </p:spPr>
        <p:txBody>
          <a:bodyPr wrap="square" lIns="0" tIns="0" rIns="0" bIns="0" rtlCol="0" anchor="t"/>
          <a:lstStyle/>
          <a:p>
            <a:pPr algn="ctr" indent="0" marL="0">
              <a:buNone/>
            </a:pPr>
            <a:r>
              <a:rPr lang="en-US" sz="1400" dirty="0">
                <a:solidFill>
                  <a:schemeClr val="tx2"/>
                </a:solidFill>
              </a:rPr>
              <a:t>1,683.4 travel min · 11 trucks</a:t>
            </a:r>
            <a:endParaRPr lang="en-US" sz="1400" dirty="0"/>
          </a:p>
        </p:txBody>
      </p:sp>
      <p:pic>
        <p:nvPicPr>
          <p:cNvPr id="6" name="Our method (LNS) map" descr="Our method (LNS) route map, development_medium">    </p:cNvPr>
          <p:cNvPicPr>
            <a:picLocks noChangeAspect="1"/>
          </p:cNvPicPr>
          <p:nvPr/>
        </p:nvPicPr>
        <p:blipFill>
          <a:blip r:embed="rId2"/>
          <a:stretch>
            <a:fillRect/>
          </a:stretch>
        </p:blipFill>
        <p:spPr>
          <a:xfrm>
            <a:off x="7071055" y="1234440"/>
            <a:ext cx="4206240" cy="4206240"/>
          </a:xfrm>
          <a:prstGeom prst="rect">
            <a:avLst/>
          </a:prstGeom>
        </p:spPr>
      </p:pic>
      <p:sp>
        <p:nvSpPr>
          <p:cNvPr id="7" name="Text 3"/>
          <p:cNvSpPr txBox="1"/>
          <p:nvPr/>
        </p:nvSpPr>
        <p:spPr>
          <a:xfrm>
            <a:off x="7071055" y="5486400"/>
            <a:ext cx="4206240" cy="347472"/>
          </a:xfrm>
          <a:prstGeom prst="rect">
            <a:avLst/>
          </a:prstGeom>
          <a:noFill/>
          <a:ln/>
        </p:spPr>
        <p:txBody>
          <a:bodyPr wrap="square" lIns="0" tIns="0" rIns="0" bIns="0" rtlCol="0" anchor="t"/>
          <a:lstStyle/>
          <a:p>
            <a:pPr algn="ctr" indent="0" marL="0">
              <a:buNone/>
            </a:pPr>
            <a:r>
              <a:rPr lang="en-US" sz="1800" b="1" dirty="0">
                <a:solidFill>
                  <a:schemeClr val="tx1"/>
                </a:solidFill>
                <a:latin typeface="Cambria" pitchFamily="34" charset="0"/>
                <a:ea typeface="Cambria" pitchFamily="34" charset="-122"/>
                <a:cs typeface="Cambria" pitchFamily="34" charset="-120"/>
              </a:rPr>
              <a:t>Our method (LNS)</a:t>
            </a:r>
            <a:endParaRPr lang="en-US" sz="1800" dirty="0"/>
          </a:p>
        </p:txBody>
      </p:sp>
      <p:sp>
        <p:nvSpPr>
          <p:cNvPr id="8" name="Text 4"/>
          <p:cNvSpPr txBox="1"/>
          <p:nvPr/>
        </p:nvSpPr>
        <p:spPr>
          <a:xfrm>
            <a:off x="7071055" y="5833872"/>
            <a:ext cx="4206240" cy="320040"/>
          </a:xfrm>
          <a:prstGeom prst="rect">
            <a:avLst/>
          </a:prstGeom>
          <a:noFill/>
          <a:ln/>
        </p:spPr>
        <p:txBody>
          <a:bodyPr wrap="square" lIns="0" tIns="0" rIns="0" bIns="0" rtlCol="0" anchor="t"/>
          <a:lstStyle/>
          <a:p>
            <a:pPr algn="ctr" indent="0" marL="0">
              <a:buNone/>
            </a:pPr>
            <a:r>
              <a:rPr lang="en-US" sz="1400" dirty="0">
                <a:solidFill>
                  <a:schemeClr val="tx2"/>
                </a:solidFill>
              </a:rPr>
              <a:t>1,040.7 travel min · 8 trucks</a:t>
            </a:r>
            <a:endParaRPr lang="en-US" sz="1400" dirty="0"/>
          </a:p>
        </p:txBody>
      </p:sp>
      <p:sp>
        <p:nvSpPr>
          <p:cNvPr id="9" name="Text 5"/>
          <p:cNvSpPr txBox="1"/>
          <p:nvPr/>
        </p:nvSpPr>
        <p:spPr>
          <a:xfrm>
            <a:off x="5074920" y="2743200"/>
            <a:ext cx="2057400" cy="109728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−642.7 min</a:t>
            </a:r>
            <a:endParaRPr lang="en-US" sz="2400" dirty="0"/>
          </a:p>
          <a:p>
            <a:pPr algn="ctr" indent="0" marL="0">
              <a:buNone/>
            </a:pPr>
            <a:r>
              <a:rPr lang="en-US" sz="2400" b="1" dirty="0">
                <a:solidFill>
                  <a:schemeClr val="accent1"/>
                </a:solidFill>
                <a:latin typeface="Cambria" pitchFamily="34" charset="0"/>
                <a:ea typeface="Cambria" pitchFamily="34" charset="-122"/>
                <a:cs typeface="Cambria" pitchFamily="34" charset="-120"/>
              </a:rPr>
              <a:t>−3 trucks</a:t>
            </a:r>
            <a:endParaRPr lang="en-US" sz="2400" dirty="0"/>
          </a:p>
        </p:txBody>
      </p:sp>
      <p:sp>
        <p:nvSpPr>
          <p:cNvPr id="10" name="Text 6"/>
          <p:cNvSpPr txBox="1"/>
          <p:nvPr/>
        </p:nvSpPr>
        <p:spPr>
          <a:xfrm>
            <a:off x="4892040" y="3977640"/>
            <a:ext cx="2423160" cy="1188720"/>
          </a:xfrm>
          <a:prstGeom prst="rect">
            <a:avLst/>
          </a:prstGeom>
          <a:noFill/>
          <a:ln/>
        </p:spPr>
        <p:txBody>
          <a:bodyPr wrap="square" lIns="0" tIns="0" rIns="0" bIns="0" rtlCol="0" anchor="t"/>
          <a:lstStyle/>
          <a:p>
            <a:pPr algn="ctr" indent="0" marL="0">
              <a:buNone/>
            </a:pPr>
            <a:r>
              <a:rPr lang="en-US" sz="1200" dirty="0">
                <a:solidFill>
                  <a:schemeClr val="tx2"/>
                </a:solidFill>
              </a:rPr>
              <a:t>Some LNS routes still cross. Each remaining crossing was tested: removing it would make a named customer miss its window.</a:t>
            </a:r>
            <a:endParaRPr lang="en-US" sz="12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advantage grows with problem size</a:t>
            </a:r>
            <a:endParaRPr lang="en-US" sz="3200" dirty="0"/>
          </a:p>
        </p:txBody>
      </p:sp>
      <p:graphicFrame>
        <p:nvGraphicFramePr>
          <p:cNvPr id="3" name="travel by instance chart" descr=""/>
          <p:cNvGraphicFramePr/>
          <p:nvPr/>
        </p:nvGraphicFramePr>
        <p:xfrm>
          <a:off x="548640" y="1234440"/>
          <a:ext cx="667512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savings table"/>
          <p:cNvGraphicFramePr>
            <a:graphicFrameLocks noGrp="1"/>
          </p:cNvGraphicFramePr>
          <p:nvPr>
            <p:extLst>
              <p:ext uri="{D42A27DB-BD31-4B8C-83A1-F6EECF244321}">
                <p14:modId xmlns:p14="http://schemas.microsoft.com/office/powerpoint/2010/main" val="1579011935"/>
              </p:ext>
            </p:extLst>
          </p:nvPr>
        </p:nvGraphicFramePr>
        <p:xfrm>
          <a:off x="7543800" y="1371600"/>
          <a:ext cx="4099255" cy="914400"/>
        </p:xfrm>
        <a:graphic>
          <a:graphicData uri="http://schemas.openxmlformats.org/drawingml/2006/table">
            <a:tbl>
              <a:tblPr/>
              <a:tblGrid>
                <a:gridCol w="1143000"/>
                <a:gridCol w="914400"/>
                <a:gridCol w="1005840"/>
                <a:gridCol w="1036015"/>
              </a:tblGrid>
              <a:tr h="365760">
                <a:tc>
                  <a:txBody>
                    <a:bodyPr/>
                    <a:lstStyle/>
                    <a:p>
                      <a:pPr algn="l" indent="0" marL="0">
                        <a:buNone/>
                      </a:pPr>
                      <a:r>
                        <a:rPr lang="en-US" sz="1300" b="1" dirty="0">
                          <a:solidFill>
                            <a:schemeClr val="bg1"/>
                          </a:solidFill>
                        </a:rPr>
                        <a:t>Instance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300" b="1" dirty="0">
                          <a:solidFill>
                            <a:schemeClr val="bg1"/>
                          </a:solidFill>
                        </a:rPr>
                        <a:t>Saved</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300" b="1" dirty="0">
                          <a:solidFill>
                            <a:schemeClr val="bg1"/>
                          </a:solidFill>
                        </a:rPr>
                        <a:t>Trucks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300" b="1" dirty="0">
                          <a:solidFill>
                            <a:schemeClr val="bg1"/>
                          </a:solidFill>
                        </a:rPr>
                        <a:t>LNS time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r>
              <a:tr h="365760">
                <a:tc>
                  <a:txBody>
                    <a:bodyPr/>
                    <a:lstStyle/>
                    <a:p>
                      <a:pPr algn="l" indent="0" marL="0">
                        <a:buNone/>
                      </a:pPr>
                      <a:r>
                        <a:rPr lang="en-US" sz="1300" dirty="0">
                          <a:solidFill>
                            <a:schemeClr val="tx1"/>
                          </a:solidFill>
                        </a:rPr>
                        <a:t>hand</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6.5%</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2 → 2</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0.5 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300" dirty="0">
                          <a:solidFill>
                            <a:schemeClr val="tx1"/>
                          </a:solidFill>
                        </a:rPr>
                        <a:t>small</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26.0%</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5 → 4</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1.0 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algn="l" indent="0" marL="0">
                        <a:buNone/>
                      </a:pPr>
                      <a:r>
                        <a:rPr lang="en-US" sz="1300" dirty="0">
                          <a:solidFill>
                            <a:schemeClr val="tx1"/>
                          </a:solidFill>
                        </a:rPr>
                        <a:t>medium</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38.2%</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11 → 8</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300" dirty="0">
                          <a:solidFill>
                            <a:schemeClr val="tx1"/>
                          </a:solidFill>
                        </a:rPr>
                        <a:t>8.9 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algn="l" indent="0" marL="0">
                        <a:buNone/>
                      </a:pPr>
                      <a:r>
                        <a:rPr lang="en-US" sz="1300" dirty="0">
                          <a:solidFill>
                            <a:schemeClr val="tx1"/>
                          </a:solidFill>
                        </a:rPr>
                        <a:t>large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39.4%</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25 → 19</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300" dirty="0">
                          <a:solidFill>
                            <a:schemeClr val="tx1"/>
                          </a:solidFill>
                        </a:rPr>
                        <a:t>27.8 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Text 1"/>
          <p:cNvSpPr txBox="1"/>
          <p:nvPr/>
        </p:nvSpPr>
        <p:spPr>
          <a:xfrm>
            <a:off x="7543800" y="3429000"/>
            <a:ext cx="4099255" cy="2377440"/>
          </a:xfrm>
          <a:prstGeom prst="rect">
            <a:avLst/>
          </a:prstGeom>
          <a:noFill/>
          <a:ln/>
        </p:spPr>
        <p:txBody>
          <a:bodyPr wrap="square" lIns="0" tIns="0" rIns="0" bIns="0" rtlCol="0" anchor="t"/>
          <a:lstStyle/>
          <a:p>
            <a:pPr indent="0" marL="0">
              <a:buNone/>
            </a:pPr>
            <a:r>
              <a:rPr lang="en-US" sz="1400" b="1" dirty="0">
                <a:solidFill>
                  <a:schemeClr val="tx1"/>
                </a:solidFill>
              </a:rPr>
              <a:t>Held-out size check: </a:t>
            </a:r>
            <a:pPr indent="0" marL="0">
              <a:buNone/>
            </a:pPr>
            <a:r>
              <a:rPr lang="en-US" sz="1400" dirty="0">
                <a:solidFill>
                  <a:schemeClr val="tx1"/>
                </a:solidFill>
              </a:rPr>
              <a:t>on five 60-customer cases drawn from the large instance, our method saved 35.6% to 39.7% of travel, in about 16 seconds each (limit: 600 s).</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1"/>
                </a:solidFill>
              </a:rPr>
              <a:t>Why it grows: </a:t>
            </a:r>
            <a:pPr indent="0" marL="0">
              <a:buNone/>
            </a:pPr>
            <a:r>
              <a:rPr lang="en-US" sz="1400" dirty="0">
                <a:solidFill>
                  <a:schemeClr val="tx1"/>
                </a:solidFill>
              </a:rPr>
              <a:t>with 6 customers there is little to rearrange. With more customers the rule's leftovers pile up for its last trucks.</a:t>
            </a:r>
            <a:endParaRPr lang="en-US" sz="1400" dirty="0"/>
          </a:p>
        </p:txBody>
      </p:sp>
      <p:sp>
        <p:nvSpPr>
          <p:cNvPr id="6" name="Text 2"/>
          <p:cNvSpPr txBox="1"/>
          <p:nvPr/>
        </p:nvSpPr>
        <p:spPr>
          <a:xfrm>
            <a:off x="7543800" y="5669280"/>
            <a:ext cx="4099255" cy="548640"/>
          </a:xfrm>
          <a:prstGeom prst="rect">
            <a:avLst/>
          </a:prstGeom>
          <a:noFill/>
          <a:ln/>
        </p:spPr>
        <p:txBody>
          <a:bodyPr wrap="square" lIns="0" tIns="0" rIns="0" bIns="0" rtlCol="0" anchor="t"/>
          <a:lstStyle/>
          <a:p>
            <a:pPr indent="0" marL="0">
              <a:buNone/>
            </a:pPr>
            <a:r>
              <a:rPr lang="en-US" sz="1100" dirty="0">
                <a:solidFill>
                  <a:schemeClr val="tx2"/>
                </a:solidFill>
              </a:rPr>
              <a:t>Single instances from one generator; not a claim about every delivery network. Machine: Windows 11 laptop, Python 3.12, single thread.</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How we know the plans are right</a:t>
            </a:r>
            <a:endParaRPr lang="en-US" sz="3200" dirty="0"/>
          </a:p>
        </p:txBody>
      </p:sp>
      <p:pic>
        <p:nvPicPr>
          <p:cNvPr id="3" name="checker code" descr="Independent checker, src/vrptw/checker.py lines 47-70">    </p:cNvPr>
          <p:cNvPicPr>
            <a:picLocks noChangeAspect="1"/>
          </p:cNvPicPr>
          <p:nvPr/>
        </p:nvPicPr>
        <p:blipFill>
          <a:blip r:embed="rId1"/>
          <a:stretch>
            <a:fillRect/>
          </a:stretch>
        </p:blipFill>
        <p:spPr>
          <a:xfrm>
            <a:off x="548640" y="1234440"/>
            <a:ext cx="5943600" cy="3371850"/>
          </a:xfrm>
          <a:prstGeom prst="rect">
            <a:avLst/>
          </a:prstGeom>
        </p:spPr>
      </p:pic>
      <p:sp>
        <p:nvSpPr>
          <p:cNvPr id="4" name="Text 1"/>
          <p:cNvSpPr txBox="1"/>
          <p:nvPr/>
        </p:nvSpPr>
        <p:spPr>
          <a:xfrm>
            <a:off x="548640" y="4716018"/>
            <a:ext cx="5943600" cy="640080"/>
          </a:xfrm>
          <a:prstGeom prst="rect">
            <a:avLst/>
          </a:prstGeom>
          <a:noFill/>
          <a:ln/>
        </p:spPr>
        <p:txBody>
          <a:bodyPr wrap="square" lIns="0" tIns="0" rIns="0" bIns="0" rtlCol="0" anchor="t"/>
          <a:lstStyle/>
          <a:p>
            <a:pPr indent="0" marL="0">
              <a:buNone/>
            </a:pPr>
            <a:r>
              <a:rPr lang="en-US" sz="1200" dirty="0">
                <a:solidFill>
                  <a:schemeClr val="tx2"/>
                </a:solidFill>
              </a:rPr>
              <a:t>src/vrptw/checker.py: standard library only, imports no solver code. It replays each route from the input CSVs and recomputes every time and measure.</a:t>
            </a:r>
            <a:endParaRPr lang="en-US" sz="1200" dirty="0"/>
          </a:p>
        </p:txBody>
      </p:sp>
      <p:sp>
        <p:nvSpPr>
          <p:cNvPr id="5" name="Independent checker card"/>
          <p:cNvSpPr/>
          <p:nvPr/>
        </p:nvSpPr>
        <p:spPr>
          <a:xfrm>
            <a:off x="6858000" y="1280160"/>
            <a:ext cx="4785055" cy="1417320"/>
          </a:xfrm>
          <a:prstGeom prst="roundRect">
            <a:avLst>
              <a:gd name="adj" fmla="val 5161"/>
            </a:avLst>
          </a:prstGeom>
          <a:solidFill>
            <a:schemeClr val="bg2"/>
          </a:solidFill>
          <a:ln w="12700">
            <a:solidFill>
              <a:schemeClr val="bg2"/>
            </a:solidFill>
            <a:prstDash val="solid"/>
          </a:ln>
        </p:spPr>
      </p:sp>
      <p:sp>
        <p:nvSpPr>
          <p:cNvPr id="6" name="Independent checker circle"/>
          <p:cNvSpPr/>
          <p:nvPr/>
        </p:nvSpPr>
        <p:spPr>
          <a:xfrm>
            <a:off x="7086600" y="1508760"/>
            <a:ext cx="548640" cy="548640"/>
          </a:xfrm>
          <a:prstGeom prst="ellipse">
            <a:avLst/>
          </a:prstGeom>
          <a:solidFill>
            <a:schemeClr val="accent1"/>
          </a:solidFill>
          <a:ln w="12700">
            <a:solidFill>
              <a:schemeClr val="accent1"/>
            </a:solidFill>
            <a:prstDash val="solid"/>
          </a:ln>
        </p:spPr>
      </p:sp>
      <p:pic>
        <p:nvPicPr>
          <p:cNvPr id="7" name="Independent checker icon" descr="Independent checker">    </p:cNvPr>
          <p:cNvPicPr>
            <a:picLocks noChangeAspect="1"/>
          </p:cNvPicPr>
          <p:nvPr/>
        </p:nvPicPr>
        <p:blipFill>
          <a:blip r:embed="rId2"/>
          <a:stretch>
            <a:fillRect/>
          </a:stretch>
        </p:blipFill>
        <p:spPr>
          <a:xfrm>
            <a:off x="7223760" y="1645920"/>
            <a:ext cx="274320" cy="274320"/>
          </a:xfrm>
          <a:prstGeom prst="rect">
            <a:avLst/>
          </a:prstGeom>
        </p:spPr>
      </p:pic>
      <p:sp>
        <p:nvSpPr>
          <p:cNvPr id="8" name="Text 4"/>
          <p:cNvSpPr txBox="1"/>
          <p:nvPr/>
        </p:nvSpPr>
        <p:spPr>
          <a:xfrm>
            <a:off x="7818120" y="1463040"/>
            <a:ext cx="3596335" cy="347472"/>
          </a:xfrm>
          <a:prstGeom prst="rect">
            <a:avLst/>
          </a:prstGeom>
          <a:noFill/>
          <a:ln/>
        </p:spPr>
        <p:txBody>
          <a:bodyPr wrap="square" lIns="0" tIns="0" rIns="0" bIns="0" rtlCol="0" anchor="t"/>
          <a:lstStyle/>
          <a:p>
            <a:pPr indent="0" marL="0">
              <a:buNone/>
            </a:pPr>
            <a:r>
              <a:rPr lang="en-US" sz="1600" b="1" dirty="0">
                <a:solidFill>
                  <a:schemeClr val="tx1"/>
                </a:solidFill>
              </a:rPr>
              <a:t>Independent checker</a:t>
            </a:r>
            <a:endParaRPr lang="en-US" sz="1600" dirty="0"/>
          </a:p>
        </p:txBody>
      </p:sp>
      <p:sp>
        <p:nvSpPr>
          <p:cNvPr id="9" name="Text 5"/>
          <p:cNvSpPr txBox="1"/>
          <p:nvPr/>
        </p:nvSpPr>
        <p:spPr>
          <a:xfrm>
            <a:off x="7818120" y="1810512"/>
            <a:ext cx="3596335" cy="822960"/>
          </a:xfrm>
          <a:prstGeom prst="rect">
            <a:avLst/>
          </a:prstGeom>
          <a:noFill/>
          <a:ln/>
        </p:spPr>
        <p:txBody>
          <a:bodyPr wrap="square" lIns="0" tIns="0" rIns="0" bIns="0" rtlCol="0" anchor="t"/>
          <a:lstStyle/>
          <a:p>
            <a:pPr indent="0" marL="0">
              <a:buNone/>
            </a:pPr>
            <a:r>
              <a:rPr lang="en-US" sz="1300" dirty="0">
                <a:solidFill>
                  <a:schemeClr val="tx2"/>
                </a:solidFill>
              </a:rPr>
              <a:t>Reads only the input files and decision.json. Every plan in this deck passed it.</a:t>
            </a:r>
            <a:endParaRPr lang="en-US" sz="1300" dirty="0"/>
          </a:p>
        </p:txBody>
      </p:sp>
      <p:sp>
        <p:nvSpPr>
          <p:cNvPr id="10" name="36 automated tests card"/>
          <p:cNvSpPr/>
          <p:nvPr/>
        </p:nvSpPr>
        <p:spPr>
          <a:xfrm>
            <a:off x="6858000" y="2880360"/>
            <a:ext cx="4785055" cy="1417320"/>
          </a:xfrm>
          <a:prstGeom prst="roundRect">
            <a:avLst>
              <a:gd name="adj" fmla="val 5161"/>
            </a:avLst>
          </a:prstGeom>
          <a:solidFill>
            <a:schemeClr val="bg2"/>
          </a:solidFill>
          <a:ln w="12700">
            <a:solidFill>
              <a:schemeClr val="bg2"/>
            </a:solidFill>
            <a:prstDash val="solid"/>
          </a:ln>
        </p:spPr>
      </p:sp>
      <p:sp>
        <p:nvSpPr>
          <p:cNvPr id="11" name="36 automated tests circle"/>
          <p:cNvSpPr/>
          <p:nvPr/>
        </p:nvSpPr>
        <p:spPr>
          <a:xfrm>
            <a:off x="7086600" y="3108960"/>
            <a:ext cx="548640" cy="548640"/>
          </a:xfrm>
          <a:prstGeom prst="ellipse">
            <a:avLst/>
          </a:prstGeom>
          <a:solidFill>
            <a:schemeClr val="accent1"/>
          </a:solidFill>
          <a:ln w="12700">
            <a:solidFill>
              <a:schemeClr val="accent1"/>
            </a:solidFill>
            <a:prstDash val="solid"/>
          </a:ln>
        </p:spPr>
      </p:sp>
      <p:pic>
        <p:nvPicPr>
          <p:cNvPr id="12" name="36 automated tests icon" descr="36 automated tests">    </p:cNvPr>
          <p:cNvPicPr>
            <a:picLocks noChangeAspect="1"/>
          </p:cNvPicPr>
          <p:nvPr/>
        </p:nvPicPr>
        <p:blipFill>
          <a:blip r:embed="rId3"/>
          <a:stretch>
            <a:fillRect/>
          </a:stretch>
        </p:blipFill>
        <p:spPr>
          <a:xfrm>
            <a:off x="7223760" y="3246120"/>
            <a:ext cx="274320" cy="274320"/>
          </a:xfrm>
          <a:prstGeom prst="rect">
            <a:avLst/>
          </a:prstGeom>
        </p:spPr>
      </p:pic>
      <p:sp>
        <p:nvSpPr>
          <p:cNvPr id="13" name="Text 8"/>
          <p:cNvSpPr txBox="1"/>
          <p:nvPr/>
        </p:nvSpPr>
        <p:spPr>
          <a:xfrm>
            <a:off x="7818120" y="3063240"/>
            <a:ext cx="3596335" cy="347472"/>
          </a:xfrm>
          <a:prstGeom prst="rect">
            <a:avLst/>
          </a:prstGeom>
          <a:noFill/>
          <a:ln/>
        </p:spPr>
        <p:txBody>
          <a:bodyPr wrap="square" lIns="0" tIns="0" rIns="0" bIns="0" rtlCol="0" anchor="t"/>
          <a:lstStyle/>
          <a:p>
            <a:pPr indent="0" marL="0">
              <a:buNone/>
            </a:pPr>
            <a:r>
              <a:rPr lang="en-US" sz="1600" b="1" dirty="0">
                <a:solidFill>
                  <a:schemeClr val="tx1"/>
                </a:solidFill>
              </a:rPr>
              <a:t>36 automated tests</a:t>
            </a:r>
            <a:endParaRPr lang="en-US" sz="1600" dirty="0"/>
          </a:p>
        </p:txBody>
      </p:sp>
      <p:sp>
        <p:nvSpPr>
          <p:cNvPr id="14" name="Text 9"/>
          <p:cNvSpPr txBox="1"/>
          <p:nvPr/>
        </p:nvSpPr>
        <p:spPr>
          <a:xfrm>
            <a:off x="7818120" y="3410712"/>
            <a:ext cx="3596335" cy="822960"/>
          </a:xfrm>
          <a:prstGeom prst="rect">
            <a:avLst/>
          </a:prstGeom>
          <a:noFill/>
          <a:ln/>
        </p:spPr>
        <p:txBody>
          <a:bodyPr wrap="square" lIns="0" tIns="0" rIns="0" bIns="0" rtlCol="0" anchor="t"/>
          <a:lstStyle/>
          <a:p>
            <a:pPr indent="0" marL="0">
              <a:buNone/>
            </a:pPr>
            <a:r>
              <a:rPr lang="en-US" sz="1300" dirty="0">
                <a:solidFill>
                  <a:schemeClr val="tx2"/>
                </a:solidFill>
              </a:rPr>
              <a:t>The 3 required tests, malformed inputs, determinism, shuffled rows, a mixed fleet, and regressions from an outside code review.</a:t>
            </a:r>
            <a:endParaRPr lang="en-US" sz="1300" dirty="0"/>
          </a:p>
        </p:txBody>
      </p:sp>
      <p:sp>
        <p:nvSpPr>
          <p:cNvPr id="15" name="Exact benchmark (Gurobi) card"/>
          <p:cNvSpPr/>
          <p:nvPr/>
        </p:nvSpPr>
        <p:spPr>
          <a:xfrm>
            <a:off x="6858000" y="4480560"/>
            <a:ext cx="4785055" cy="1417320"/>
          </a:xfrm>
          <a:prstGeom prst="roundRect">
            <a:avLst>
              <a:gd name="adj" fmla="val 5161"/>
            </a:avLst>
          </a:prstGeom>
          <a:solidFill>
            <a:schemeClr val="bg2"/>
          </a:solidFill>
          <a:ln w="12700">
            <a:solidFill>
              <a:schemeClr val="bg2"/>
            </a:solidFill>
            <a:prstDash val="solid"/>
          </a:ln>
        </p:spPr>
      </p:sp>
      <p:sp>
        <p:nvSpPr>
          <p:cNvPr id="16" name="Exact benchmark (Gurobi) circle"/>
          <p:cNvSpPr/>
          <p:nvPr/>
        </p:nvSpPr>
        <p:spPr>
          <a:xfrm>
            <a:off x="7086600" y="4709160"/>
            <a:ext cx="548640" cy="548640"/>
          </a:xfrm>
          <a:prstGeom prst="ellipse">
            <a:avLst/>
          </a:prstGeom>
          <a:solidFill>
            <a:schemeClr val="accent1"/>
          </a:solidFill>
          <a:ln w="12700">
            <a:solidFill>
              <a:schemeClr val="accent1"/>
            </a:solidFill>
            <a:prstDash val="solid"/>
          </a:ln>
        </p:spPr>
      </p:sp>
      <p:pic>
        <p:nvPicPr>
          <p:cNvPr id="17" name="Exact benchmark (Gurobi) icon" descr="Exact benchmark (Gurobi)">    </p:cNvPr>
          <p:cNvPicPr>
            <a:picLocks noChangeAspect="1"/>
          </p:cNvPicPr>
          <p:nvPr/>
        </p:nvPicPr>
        <p:blipFill>
          <a:blip r:embed="rId4"/>
          <a:stretch>
            <a:fillRect/>
          </a:stretch>
        </p:blipFill>
        <p:spPr>
          <a:xfrm>
            <a:off x="7223760" y="4846320"/>
            <a:ext cx="274320" cy="274320"/>
          </a:xfrm>
          <a:prstGeom prst="rect">
            <a:avLst/>
          </a:prstGeom>
        </p:spPr>
      </p:pic>
      <p:sp>
        <p:nvSpPr>
          <p:cNvPr id="18" name="Text 12"/>
          <p:cNvSpPr txBox="1"/>
          <p:nvPr/>
        </p:nvSpPr>
        <p:spPr>
          <a:xfrm>
            <a:off x="7818120" y="4663440"/>
            <a:ext cx="3596335" cy="347472"/>
          </a:xfrm>
          <a:prstGeom prst="rect">
            <a:avLst/>
          </a:prstGeom>
          <a:noFill/>
          <a:ln/>
        </p:spPr>
        <p:txBody>
          <a:bodyPr wrap="square" lIns="0" tIns="0" rIns="0" bIns="0" rtlCol="0" anchor="t"/>
          <a:lstStyle/>
          <a:p>
            <a:pPr indent="0" marL="0">
              <a:buNone/>
            </a:pPr>
            <a:r>
              <a:rPr lang="en-US" sz="1600" b="1" dirty="0">
                <a:solidFill>
                  <a:schemeClr val="tx1"/>
                </a:solidFill>
              </a:rPr>
              <a:t>Exact benchmark (Gurobi)</a:t>
            </a:r>
            <a:endParaRPr lang="en-US" sz="1600" dirty="0"/>
          </a:p>
        </p:txBody>
      </p:sp>
      <p:sp>
        <p:nvSpPr>
          <p:cNvPr id="19" name="Text 13"/>
          <p:cNvSpPr txBox="1"/>
          <p:nvPr/>
        </p:nvSpPr>
        <p:spPr>
          <a:xfrm>
            <a:off x="7818120" y="5010912"/>
            <a:ext cx="3596335" cy="822960"/>
          </a:xfrm>
          <a:prstGeom prst="rect">
            <a:avLst/>
          </a:prstGeom>
          <a:noFill/>
          <a:ln/>
        </p:spPr>
        <p:txBody>
          <a:bodyPr wrap="square" lIns="0" tIns="0" rIns="0" bIns="0" rtlCol="0" anchor="t"/>
          <a:lstStyle/>
          <a:p>
            <a:pPr indent="0" marL="0">
              <a:buNone/>
            </a:pPr>
            <a:r>
              <a:rPr lang="en-US" sz="1300" dirty="0">
                <a:solidFill>
                  <a:schemeClr val="tx2"/>
                </a:solidFill>
              </a:rPr>
              <a:t>Proves our plans optimal for 6, 15 and 45 customers. For 120, it found nothing better in 30 minutes.</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We rehearsed the instructor's grading run</a:t>
            </a:r>
            <a:endParaRPr lang="en-US" sz="3200" dirty="0"/>
          </a:p>
        </p:txBody>
      </p:sp>
      <p:pic>
        <p:nvPicPr>
          <p:cNvPr id="3" name="terminal output" descr="Terminal output of solve, check, a malformed copy and the edge case">    </p:cNvPr>
          <p:cNvPicPr>
            <a:picLocks noChangeAspect="1"/>
          </p:cNvPicPr>
          <p:nvPr/>
        </p:nvPicPr>
        <p:blipFill>
          <a:blip r:embed="rId1"/>
          <a:stretch>
            <a:fillRect/>
          </a:stretch>
        </p:blipFill>
        <p:spPr>
          <a:xfrm>
            <a:off x="548640" y="1234440"/>
            <a:ext cx="6035040" cy="4121491"/>
          </a:xfrm>
          <a:prstGeom prst="rect">
            <a:avLst/>
          </a:prstGeom>
        </p:spPr>
      </p:pic>
      <p:sp>
        <p:nvSpPr>
          <p:cNvPr id="4" name="Text 1"/>
          <p:cNvSpPr txBox="1"/>
          <p:nvPr/>
        </p:nvSpPr>
        <p:spPr>
          <a:xfrm>
            <a:off x="548640" y="5429083"/>
            <a:ext cx="6035040" cy="457200"/>
          </a:xfrm>
          <a:prstGeom prst="rect">
            <a:avLst/>
          </a:prstGeom>
          <a:noFill/>
          <a:ln/>
        </p:spPr>
        <p:txBody>
          <a:bodyPr wrap="square" lIns="0" tIns="0" rIns="0" bIns="0" rtlCol="0" anchor="t"/>
          <a:lstStyle/>
          <a:p>
            <a:pPr indent="0" marL="0">
              <a:buNone/>
            </a:pPr>
            <a:r>
              <a:rPr lang="en-US" sz="1200" dirty="0">
                <a:solidFill>
                  <a:schemeClr val="tx2"/>
                </a:solidFill>
              </a:rPr>
              <a:t>Actual output, captured October 26 in the repo's out/ folder.</a:t>
            </a:r>
            <a:endParaRPr lang="en-US" sz="1200" dirty="0"/>
          </a:p>
        </p:txBody>
      </p:sp>
      <p:sp>
        <p:nvSpPr>
          <p:cNvPr id="5" name="Fresh 60-customer copy circle"/>
          <p:cNvSpPr/>
          <p:nvPr/>
        </p:nvSpPr>
        <p:spPr>
          <a:xfrm>
            <a:off x="6949440" y="1344168"/>
            <a:ext cx="384048" cy="384048"/>
          </a:xfrm>
          <a:prstGeom prst="ellipse">
            <a:avLst/>
          </a:prstGeom>
          <a:solidFill>
            <a:schemeClr val="accent3"/>
          </a:solidFill>
          <a:ln w="12700">
            <a:solidFill>
              <a:schemeClr val="accent3"/>
            </a:solidFill>
            <a:prstDash val="solid"/>
          </a:ln>
        </p:spPr>
      </p:sp>
      <p:pic>
        <p:nvPicPr>
          <p:cNvPr id="6" name="Fresh 60-customer copy icon" descr="Fresh 60-customer copy">    </p:cNvPr>
          <p:cNvPicPr>
            <a:picLocks noChangeAspect="1"/>
          </p:cNvPicPr>
          <p:nvPr/>
        </p:nvPicPr>
        <p:blipFill>
          <a:blip r:embed="rId2"/>
          <a:stretch>
            <a:fillRect/>
          </a:stretch>
        </p:blipFill>
        <p:spPr>
          <a:xfrm>
            <a:off x="7045452" y="1440180"/>
            <a:ext cx="192024" cy="192024"/>
          </a:xfrm>
          <a:prstGeom prst="rect">
            <a:avLst/>
          </a:prstGeom>
        </p:spPr>
      </p:pic>
      <p:sp>
        <p:nvSpPr>
          <p:cNvPr id="7" name="Text 3"/>
          <p:cNvSpPr txBox="1"/>
          <p:nvPr/>
        </p:nvSpPr>
        <p:spPr>
          <a:xfrm>
            <a:off x="7498080" y="1325880"/>
            <a:ext cx="4144975" cy="822960"/>
          </a:xfrm>
          <a:prstGeom prst="rect">
            <a:avLst/>
          </a:prstGeom>
          <a:noFill/>
          <a:ln/>
        </p:spPr>
        <p:txBody>
          <a:bodyPr wrap="square" lIns="0" tIns="0" rIns="0" bIns="0" rtlCol="0" anchor="t"/>
          <a:lstStyle/>
          <a:p>
            <a:pPr indent="0" marL="0">
              <a:buNone/>
            </a:pPr>
            <a:r>
              <a:rPr lang="en-US" sz="1400" b="1" dirty="0">
                <a:solidFill>
                  <a:schemeClr val="tx1"/>
                </a:solidFill>
              </a:rPr>
              <a:t>Fresh 60-customer copy</a:t>
            </a:r>
            <a:endParaRPr lang="en-US" sz="1400" dirty="0"/>
          </a:p>
          <a:p>
            <a:pPr indent="0" marL="0">
              <a:buNone/>
            </a:pPr>
            <a:r>
              <a:rPr lang="en-US" sz="1400" dirty="0">
                <a:solidFill>
                  <a:schemeClr val="tx2"/>
                </a:solidFill>
              </a:rPr>
              <a:t>beats the rule (1,250.9 vs 2,043.1 min) in 16 s and passes the checker</a:t>
            </a:r>
            <a:endParaRPr lang="en-US" sz="1400" dirty="0"/>
          </a:p>
        </p:txBody>
      </p:sp>
      <p:sp>
        <p:nvSpPr>
          <p:cNvPr id="8" name="Malformed copy circle"/>
          <p:cNvSpPr/>
          <p:nvPr/>
        </p:nvSpPr>
        <p:spPr>
          <a:xfrm>
            <a:off x="6949440" y="2258568"/>
            <a:ext cx="384048" cy="384048"/>
          </a:xfrm>
          <a:prstGeom prst="ellipse">
            <a:avLst/>
          </a:prstGeom>
          <a:solidFill>
            <a:schemeClr val="accent3"/>
          </a:solidFill>
          <a:ln w="12700">
            <a:solidFill>
              <a:schemeClr val="accent3"/>
            </a:solidFill>
            <a:prstDash val="solid"/>
          </a:ln>
        </p:spPr>
      </p:sp>
      <p:pic>
        <p:nvPicPr>
          <p:cNvPr id="9" name="Malformed copy icon" descr="Malformed copy">    </p:cNvPr>
          <p:cNvPicPr>
            <a:picLocks noChangeAspect="1"/>
          </p:cNvPicPr>
          <p:nvPr/>
        </p:nvPicPr>
        <p:blipFill>
          <a:blip r:embed="rId3"/>
          <a:stretch>
            <a:fillRect/>
          </a:stretch>
        </p:blipFill>
        <p:spPr>
          <a:xfrm>
            <a:off x="7045452" y="2354580"/>
            <a:ext cx="192024" cy="192024"/>
          </a:xfrm>
          <a:prstGeom prst="rect">
            <a:avLst/>
          </a:prstGeom>
        </p:spPr>
      </p:pic>
      <p:sp>
        <p:nvSpPr>
          <p:cNvPr id="10" name="Text 5"/>
          <p:cNvSpPr txBox="1"/>
          <p:nvPr/>
        </p:nvSpPr>
        <p:spPr>
          <a:xfrm>
            <a:off x="7498080" y="2240280"/>
            <a:ext cx="4144975" cy="822960"/>
          </a:xfrm>
          <a:prstGeom prst="rect">
            <a:avLst/>
          </a:prstGeom>
          <a:noFill/>
          <a:ln/>
        </p:spPr>
        <p:txBody>
          <a:bodyPr wrap="square" lIns="0" tIns="0" rIns="0" bIns="0" rtlCol="0" anchor="t"/>
          <a:lstStyle/>
          <a:p>
            <a:pPr indent="0" marL="0">
              <a:buNone/>
            </a:pPr>
            <a:r>
              <a:rPr lang="en-US" sz="1400" b="1" dirty="0">
                <a:solidFill>
                  <a:schemeClr val="tx1"/>
                </a:solidFill>
              </a:rPr>
              <a:t>Malformed copy</a:t>
            </a:r>
            <a:endParaRPr lang="en-US" sz="1400" dirty="0"/>
          </a:p>
          <a:p>
            <a:pPr indent="0" marL="0">
              <a:buNone/>
            </a:pPr>
            <a:r>
              <a:rPr lang="en-US" sz="1400" dirty="0">
                <a:solidFill>
                  <a:schemeClr val="tx2"/>
                </a:solidFill>
              </a:rPr>
              <a:t>names the file and column, writes no decision.json, exits 2</a:t>
            </a:r>
            <a:endParaRPr lang="en-US" sz="1400" dirty="0"/>
          </a:p>
        </p:txBody>
      </p:sp>
      <p:sp>
        <p:nvSpPr>
          <p:cNvPr id="11" name="Infeasible edge case circle"/>
          <p:cNvSpPr/>
          <p:nvPr/>
        </p:nvSpPr>
        <p:spPr>
          <a:xfrm>
            <a:off x="6949440" y="3172968"/>
            <a:ext cx="384048" cy="384048"/>
          </a:xfrm>
          <a:prstGeom prst="ellipse">
            <a:avLst/>
          </a:prstGeom>
          <a:solidFill>
            <a:schemeClr val="accent3"/>
          </a:solidFill>
          <a:ln w="12700">
            <a:solidFill>
              <a:schemeClr val="accent3"/>
            </a:solidFill>
            <a:prstDash val="solid"/>
          </a:ln>
        </p:spPr>
      </p:sp>
      <p:pic>
        <p:nvPicPr>
          <p:cNvPr id="12" name="Infeasible edge case icon" descr="Infeasible edge case">    </p:cNvPr>
          <p:cNvPicPr>
            <a:picLocks noChangeAspect="1"/>
          </p:cNvPicPr>
          <p:nvPr/>
        </p:nvPicPr>
        <p:blipFill>
          <a:blip r:embed="rId4"/>
          <a:stretch>
            <a:fillRect/>
          </a:stretch>
        </p:blipFill>
        <p:spPr>
          <a:xfrm>
            <a:off x="7045452" y="3268980"/>
            <a:ext cx="192024" cy="192024"/>
          </a:xfrm>
          <a:prstGeom prst="rect">
            <a:avLst/>
          </a:prstGeom>
        </p:spPr>
      </p:pic>
      <p:sp>
        <p:nvSpPr>
          <p:cNvPr id="13" name="Text 7"/>
          <p:cNvSpPr txBox="1"/>
          <p:nvPr/>
        </p:nvSpPr>
        <p:spPr>
          <a:xfrm>
            <a:off x="7498080" y="3154680"/>
            <a:ext cx="4144975" cy="822960"/>
          </a:xfrm>
          <a:prstGeom prst="rect">
            <a:avLst/>
          </a:prstGeom>
          <a:noFill/>
          <a:ln/>
        </p:spPr>
        <p:txBody>
          <a:bodyPr wrap="square" lIns="0" tIns="0" rIns="0" bIns="0" rtlCol="0" anchor="t"/>
          <a:lstStyle/>
          <a:p>
            <a:pPr indent="0" marL="0">
              <a:buNone/>
            </a:pPr>
            <a:r>
              <a:rPr lang="en-US" sz="1400" b="1" dirty="0">
                <a:solidFill>
                  <a:schemeClr val="tx1"/>
                </a:solidFill>
              </a:rPr>
              <a:t>Infeasible edge case</a:t>
            </a:r>
            <a:endParaRPr lang="en-US" sz="1400" dirty="0"/>
          </a:p>
          <a:p>
            <a:pPr indent="0" marL="0">
              <a:buNone/>
            </a:pPr>
            <a:r>
              <a:rPr lang="en-US" sz="1400" dirty="0">
                <a:solidFill>
                  <a:schemeClr val="tx2"/>
                </a:solidFill>
              </a:rPr>
              <a:t>prints “no feasible decision found” and exits 0</a:t>
            </a:r>
            <a:endParaRPr lang="en-US" sz="1400" dirty="0"/>
          </a:p>
        </p:txBody>
      </p:sp>
      <p:sp>
        <p:nvSpPr>
          <p:cNvPr id="14" name="Rerun on a supplied case circle"/>
          <p:cNvSpPr/>
          <p:nvPr/>
        </p:nvSpPr>
        <p:spPr>
          <a:xfrm>
            <a:off x="6949440" y="4087368"/>
            <a:ext cx="384048" cy="384048"/>
          </a:xfrm>
          <a:prstGeom prst="ellipse">
            <a:avLst/>
          </a:prstGeom>
          <a:solidFill>
            <a:schemeClr val="accent3"/>
          </a:solidFill>
          <a:ln w="12700">
            <a:solidFill>
              <a:schemeClr val="accent3"/>
            </a:solidFill>
            <a:prstDash val="solid"/>
          </a:ln>
        </p:spPr>
      </p:sp>
      <p:pic>
        <p:nvPicPr>
          <p:cNvPr id="15" name="Rerun on a supplied case icon" descr="Rerun on a supplied case">    </p:cNvPr>
          <p:cNvPicPr>
            <a:picLocks noChangeAspect="1"/>
          </p:cNvPicPr>
          <p:nvPr/>
        </p:nvPicPr>
        <p:blipFill>
          <a:blip r:embed="rId5"/>
          <a:stretch>
            <a:fillRect/>
          </a:stretch>
        </p:blipFill>
        <p:spPr>
          <a:xfrm>
            <a:off x="7045452" y="4183380"/>
            <a:ext cx="192024" cy="192024"/>
          </a:xfrm>
          <a:prstGeom prst="rect">
            <a:avLst/>
          </a:prstGeom>
        </p:spPr>
      </p:pic>
      <p:sp>
        <p:nvSpPr>
          <p:cNvPr id="16" name="Text 9"/>
          <p:cNvSpPr txBox="1"/>
          <p:nvPr/>
        </p:nvSpPr>
        <p:spPr>
          <a:xfrm>
            <a:off x="7498080" y="4069080"/>
            <a:ext cx="4144975" cy="822960"/>
          </a:xfrm>
          <a:prstGeom prst="rect">
            <a:avLst/>
          </a:prstGeom>
          <a:noFill/>
          <a:ln/>
        </p:spPr>
        <p:txBody>
          <a:bodyPr wrap="square" lIns="0" tIns="0" rIns="0" bIns="0" rtlCol="0" anchor="t"/>
          <a:lstStyle/>
          <a:p>
            <a:pPr indent="0" marL="0">
              <a:buNone/>
            </a:pPr>
            <a:r>
              <a:rPr lang="en-US" sz="1400" b="1" dirty="0">
                <a:solidFill>
                  <a:schemeClr val="tx1"/>
                </a:solidFill>
              </a:rPr>
              <a:t>Rerun on a supplied case</a:t>
            </a:r>
            <a:endParaRPr lang="en-US" sz="1400" dirty="0"/>
          </a:p>
          <a:p>
            <a:pPr indent="0" marL="0">
              <a:buNone/>
            </a:pPr>
            <a:r>
              <a:rPr lang="en-US" sz="1400" dirty="0">
                <a:solidFill>
                  <a:schemeClr val="tx2"/>
                </a:solidFill>
              </a:rPr>
              <a:t>same routes as the submitted results (fixed seed, iteration stop)</a:t>
            </a:r>
            <a:endParaRPr lang="en-US" sz="1400" dirty="0"/>
          </a:p>
        </p:txBody>
      </p:sp>
      <p:sp>
        <p:nvSpPr>
          <p:cNvPr id="17" name="One command circle"/>
          <p:cNvSpPr/>
          <p:nvPr/>
        </p:nvSpPr>
        <p:spPr>
          <a:xfrm>
            <a:off x="6949440" y="5001768"/>
            <a:ext cx="384048" cy="384048"/>
          </a:xfrm>
          <a:prstGeom prst="ellipse">
            <a:avLst/>
          </a:prstGeom>
          <a:solidFill>
            <a:schemeClr val="accent3"/>
          </a:solidFill>
          <a:ln w="12700">
            <a:solidFill>
              <a:schemeClr val="accent3"/>
            </a:solidFill>
            <a:prstDash val="solid"/>
          </a:ln>
        </p:spPr>
      </p:sp>
      <p:pic>
        <p:nvPicPr>
          <p:cNvPr id="18" name="One command icon" descr="One command">    </p:cNvPr>
          <p:cNvPicPr>
            <a:picLocks noChangeAspect="1"/>
          </p:cNvPicPr>
          <p:nvPr/>
        </p:nvPicPr>
        <p:blipFill>
          <a:blip r:embed="rId6"/>
          <a:stretch>
            <a:fillRect/>
          </a:stretch>
        </p:blipFill>
        <p:spPr>
          <a:xfrm>
            <a:off x="7045452" y="5097780"/>
            <a:ext cx="192024" cy="192024"/>
          </a:xfrm>
          <a:prstGeom prst="rect">
            <a:avLst/>
          </a:prstGeom>
        </p:spPr>
      </p:pic>
      <p:sp>
        <p:nvSpPr>
          <p:cNvPr id="19" name="Text 11"/>
          <p:cNvSpPr txBox="1"/>
          <p:nvPr/>
        </p:nvSpPr>
        <p:spPr>
          <a:xfrm>
            <a:off x="7498080" y="4983480"/>
            <a:ext cx="4144975" cy="822960"/>
          </a:xfrm>
          <a:prstGeom prst="rect">
            <a:avLst/>
          </a:prstGeom>
          <a:noFill/>
          <a:ln/>
        </p:spPr>
        <p:txBody>
          <a:bodyPr wrap="square" lIns="0" tIns="0" rIns="0" bIns="0" rtlCol="0" anchor="t"/>
          <a:lstStyle/>
          <a:p>
            <a:pPr indent="0" marL="0">
              <a:buNone/>
            </a:pPr>
            <a:r>
              <a:rPr lang="en-US" sz="1400" b="1" dirty="0">
                <a:solidFill>
                  <a:schemeClr val="tx1"/>
                </a:solidFill>
              </a:rPr>
              <a:t>One command</a:t>
            </a:r>
            <a:endParaRPr lang="en-US" sz="1400" dirty="0"/>
          </a:p>
          <a:p>
            <a:pPr indent="0" marL="0">
              <a:buNone/>
            </a:pPr>
            <a:r>
              <a:rPr lang="en-US" sz="1400" dirty="0">
                <a:solidFill>
                  <a:schemeClr val="tx2"/>
                </a:solidFill>
              </a:rPr>
              <a:t>pixi run compare regenerates every table, plot and scenario</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Stress test: our plan holds up better in traffic</a:t>
            </a:r>
            <a:endParaRPr lang="en-US" sz="3200" dirty="0"/>
          </a:p>
        </p:txBody>
      </p:sp>
      <p:pic>
        <p:nvPicPr>
          <p:cNvPr id="3" name="stress test plot" descr="Per-scenario travel time and violations for the rule and LNS plans">    </p:cNvPr>
          <p:cNvPicPr>
            <a:picLocks noChangeAspect="1"/>
          </p:cNvPicPr>
          <p:nvPr/>
        </p:nvPicPr>
        <p:blipFill>
          <a:blip r:embed="rId1"/>
          <a:stretch>
            <a:fillRect/>
          </a:stretch>
        </p:blipFill>
        <p:spPr>
          <a:xfrm>
            <a:off x="548640" y="1234440"/>
            <a:ext cx="7223760" cy="3889717"/>
          </a:xfrm>
          <a:prstGeom prst="rect">
            <a:avLst/>
          </a:prstGeom>
        </p:spPr>
      </p:pic>
      <p:sp>
        <p:nvSpPr>
          <p:cNvPr id="4" name="Text 1"/>
          <p:cNvSpPr txBox="1"/>
          <p:nvPr/>
        </p:nvSpPr>
        <p:spPr>
          <a:xfrm>
            <a:off x="548640" y="5215597"/>
            <a:ext cx="7223760" cy="548640"/>
          </a:xfrm>
          <a:prstGeom prst="rect">
            <a:avLst/>
          </a:prstGeom>
          <a:noFill/>
          <a:ln/>
        </p:spPr>
        <p:txBody>
          <a:bodyPr wrap="square" lIns="0" tIns="0" rIns="0" bIns="0" rtlCol="0" anchor="t"/>
          <a:lstStyle/>
          <a:p>
            <a:pPr indent="0" marL="0">
              <a:buNone/>
            </a:pPr>
            <a:r>
              <a:rPr lang="en-US" sz="1200" dirty="0">
                <a:solidFill>
                  <a:schemeClr val="tx2"/>
                </a:solidFill>
              </a:rPr>
              <a:t>30 saved traffic days (seed 20261008), each plan driven unchanged. Circles mark days with at least one late stop.</a:t>
            </a:r>
            <a:endParaRPr lang="en-US" sz="1200" dirty="0"/>
          </a:p>
        </p:txBody>
      </p:sp>
      <p:sp>
        <p:nvSpPr>
          <p:cNvPr id="5" name="Text 2"/>
          <p:cNvSpPr txBox="1"/>
          <p:nvPr/>
        </p:nvSpPr>
        <p:spPr>
          <a:xfrm>
            <a:off x="8138160" y="1280160"/>
            <a:ext cx="3504895" cy="566928"/>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1,126 vs 1,819</a:t>
            </a:r>
            <a:endParaRPr lang="en-US" sz="3000" dirty="0"/>
          </a:p>
        </p:txBody>
      </p:sp>
      <p:sp>
        <p:nvSpPr>
          <p:cNvPr id="6" name="Text 3"/>
          <p:cNvSpPr txBox="1"/>
          <p:nvPr/>
        </p:nvSpPr>
        <p:spPr>
          <a:xfrm>
            <a:off x="8138160" y="1847088"/>
            <a:ext cx="3504895" cy="411480"/>
          </a:xfrm>
          <a:prstGeom prst="rect">
            <a:avLst/>
          </a:prstGeom>
          <a:noFill/>
          <a:ln/>
        </p:spPr>
        <p:txBody>
          <a:bodyPr wrap="square" lIns="0" tIns="0" rIns="0" bIns="0" rtlCol="0" anchor="t"/>
          <a:lstStyle/>
          <a:p>
            <a:pPr indent="0" marL="0">
              <a:buNone/>
            </a:pPr>
            <a:r>
              <a:rPr lang="en-US" sz="1300" dirty="0">
                <a:solidFill>
                  <a:schemeClr val="tx2"/>
                </a:solidFill>
              </a:rPr>
              <a:t>mean travel minutes (LNS vs rule)</a:t>
            </a:r>
            <a:endParaRPr lang="en-US" sz="1300" dirty="0"/>
          </a:p>
        </p:txBody>
      </p:sp>
      <p:sp>
        <p:nvSpPr>
          <p:cNvPr id="7" name="Text 4"/>
          <p:cNvSpPr txBox="1"/>
          <p:nvPr/>
        </p:nvSpPr>
        <p:spPr>
          <a:xfrm>
            <a:off x="8138160" y="2377440"/>
            <a:ext cx="3504895" cy="566928"/>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19 vs 28</a:t>
            </a:r>
            <a:endParaRPr lang="en-US" sz="3000" dirty="0"/>
          </a:p>
        </p:txBody>
      </p:sp>
      <p:sp>
        <p:nvSpPr>
          <p:cNvPr id="8" name="Text 5"/>
          <p:cNvSpPr txBox="1"/>
          <p:nvPr/>
        </p:nvSpPr>
        <p:spPr>
          <a:xfrm>
            <a:off x="8138160" y="2944368"/>
            <a:ext cx="3504895" cy="411480"/>
          </a:xfrm>
          <a:prstGeom prst="rect">
            <a:avLst/>
          </a:prstGeom>
          <a:noFill/>
          <a:ln/>
        </p:spPr>
        <p:txBody>
          <a:bodyPr wrap="square" lIns="0" tIns="0" rIns="0" bIns="0" rtlCol="0" anchor="t"/>
          <a:lstStyle/>
          <a:p>
            <a:pPr indent="0" marL="0">
              <a:buNone/>
            </a:pPr>
            <a:r>
              <a:rPr lang="en-US" sz="1300" dirty="0">
                <a:solidFill>
                  <a:schemeClr val="tx2"/>
                </a:solidFill>
              </a:rPr>
              <a:t>late service starts over 30 days</a:t>
            </a:r>
            <a:endParaRPr lang="en-US" sz="1300" dirty="0"/>
          </a:p>
        </p:txBody>
      </p:sp>
      <p:sp>
        <p:nvSpPr>
          <p:cNvPr id="9" name="Text 6"/>
          <p:cNvSpPr txBox="1"/>
          <p:nvPr/>
        </p:nvSpPr>
        <p:spPr>
          <a:xfrm>
            <a:off x="8138160" y="3474720"/>
            <a:ext cx="3504895" cy="566928"/>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 vs 14</a:t>
            </a:r>
            <a:endParaRPr lang="en-US" sz="3000" dirty="0"/>
          </a:p>
        </p:txBody>
      </p:sp>
      <p:sp>
        <p:nvSpPr>
          <p:cNvPr id="10" name="Text 7"/>
          <p:cNvSpPr txBox="1"/>
          <p:nvPr/>
        </p:nvSpPr>
        <p:spPr>
          <a:xfrm>
            <a:off x="8138160" y="4041648"/>
            <a:ext cx="3504895" cy="411480"/>
          </a:xfrm>
          <a:prstGeom prst="rect">
            <a:avLst/>
          </a:prstGeom>
          <a:noFill/>
          <a:ln/>
        </p:spPr>
        <p:txBody>
          <a:bodyPr wrap="square" lIns="0" tIns="0" rIns="0" bIns="0" rtlCol="0" anchor="t"/>
          <a:lstStyle/>
          <a:p>
            <a:pPr indent="0" marL="0">
              <a:buNone/>
            </a:pPr>
            <a:r>
              <a:rPr lang="en-US" sz="1300" dirty="0">
                <a:solidFill>
                  <a:schemeClr val="tx2"/>
                </a:solidFill>
              </a:rPr>
              <a:t>late returns to the depot</a:t>
            </a:r>
            <a:endParaRPr lang="en-US" sz="1300" dirty="0"/>
          </a:p>
        </p:txBody>
      </p:sp>
      <p:sp>
        <p:nvSpPr>
          <p:cNvPr id="11" name="Text 8"/>
          <p:cNvSpPr txBox="1"/>
          <p:nvPr/>
        </p:nvSpPr>
        <p:spPr>
          <a:xfrm>
            <a:off x="8138160" y="4572000"/>
            <a:ext cx="3504895" cy="566928"/>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10 vs 11</a:t>
            </a:r>
            <a:endParaRPr lang="en-US" sz="3000" dirty="0"/>
          </a:p>
        </p:txBody>
      </p:sp>
      <p:sp>
        <p:nvSpPr>
          <p:cNvPr id="12" name="Text 9"/>
          <p:cNvSpPr txBox="1"/>
          <p:nvPr/>
        </p:nvSpPr>
        <p:spPr>
          <a:xfrm>
            <a:off x="8138160" y="5138928"/>
            <a:ext cx="3504895" cy="411480"/>
          </a:xfrm>
          <a:prstGeom prst="rect">
            <a:avLst/>
          </a:prstGeom>
          <a:noFill/>
          <a:ln/>
        </p:spPr>
        <p:txBody>
          <a:bodyPr wrap="square" lIns="0" tIns="0" rIns="0" bIns="0" rtlCol="0" anchor="t"/>
          <a:lstStyle/>
          <a:p>
            <a:pPr indent="0" marL="0">
              <a:buNone/>
            </a:pPr>
            <a:r>
              <a:rPr lang="en-US" sz="1300" dirty="0">
                <a:solidFill>
                  <a:schemeClr val="tx2"/>
                </a:solidFill>
              </a:rPr>
              <a:t>days with any violation</a:t>
            </a:r>
            <a:endParaRPr lang="en-US" sz="1300" dirty="0"/>
          </a:p>
        </p:txBody>
      </p:sp>
      <p:sp>
        <p:nvSpPr>
          <p:cNvPr id="13" name="Text 10"/>
          <p:cNvSpPr txBox="1"/>
          <p:nvPr/>
        </p:nvSpPr>
        <p:spPr>
          <a:xfrm>
            <a:off x="8138160" y="5623560"/>
            <a:ext cx="3504895" cy="685800"/>
          </a:xfrm>
          <a:prstGeom prst="rect">
            <a:avLst/>
          </a:prstGeom>
          <a:noFill/>
          <a:ln/>
        </p:spPr>
        <p:txBody>
          <a:bodyPr wrap="square" lIns="0" tIns="0" rIns="0" bIns="0" rtlCol="0" anchor="t"/>
          <a:lstStyle/>
          <a:p>
            <a:pPr indent="0" marL="0">
              <a:buNone/>
            </a:pPr>
            <a:r>
              <a:rPr lang="en-US" sz="1100" dirty="0">
                <a:solidFill>
                  <a:schemeClr val="tx2"/>
                </a:solidFill>
              </a:rPr>
              <a:t>Congestion: city-wide day factor (mean 1, CV 0.2) times road noise (CV 0.1). Trucks used is fixed by the plan: 8 vs 11 on every day.</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Miles aren't the only measure of success</a:t>
            </a:r>
            <a:endParaRPr lang="en-US" sz="3200" dirty="0"/>
          </a:p>
        </p:txBody>
      </p:sp>
      <p:sp>
        <p:nvSpPr>
          <p:cNvPr id="3" name="Travel time circle"/>
          <p:cNvSpPr/>
          <p:nvPr/>
        </p:nvSpPr>
        <p:spPr>
          <a:xfrm>
            <a:off x="548640" y="1280160"/>
            <a:ext cx="502920" cy="502920"/>
          </a:xfrm>
          <a:prstGeom prst="ellipse">
            <a:avLst/>
          </a:prstGeom>
          <a:solidFill>
            <a:schemeClr val="accent1"/>
          </a:solidFill>
          <a:ln w="12700">
            <a:solidFill>
              <a:schemeClr val="accent1"/>
            </a:solidFill>
            <a:prstDash val="solid"/>
          </a:ln>
        </p:spPr>
      </p:sp>
      <p:pic>
        <p:nvPicPr>
          <p:cNvPr id="4" name="Travel time icon" descr="Travel time">    </p:cNvPr>
          <p:cNvPicPr>
            <a:picLocks noChangeAspect="1"/>
          </p:cNvPicPr>
          <p:nvPr/>
        </p:nvPicPr>
        <p:blipFill>
          <a:blip r:embed="rId1"/>
          <a:stretch>
            <a:fillRect/>
          </a:stretch>
        </p:blipFill>
        <p:spPr>
          <a:xfrm>
            <a:off x="674370" y="1405890"/>
            <a:ext cx="251460" cy="251460"/>
          </a:xfrm>
          <a:prstGeom prst="rect">
            <a:avLst/>
          </a:prstGeom>
        </p:spPr>
      </p:pic>
      <p:sp>
        <p:nvSpPr>
          <p:cNvPr id="5" name="Text 2"/>
          <p:cNvSpPr txBox="1"/>
          <p:nvPr/>
        </p:nvSpPr>
        <p:spPr>
          <a:xfrm>
            <a:off x="1170432" y="1261872"/>
            <a:ext cx="1163269" cy="292608"/>
          </a:xfrm>
          <a:prstGeom prst="rect">
            <a:avLst/>
          </a:prstGeom>
          <a:noFill/>
          <a:ln/>
        </p:spPr>
        <p:txBody>
          <a:bodyPr wrap="square" lIns="0" tIns="0" rIns="0" bIns="0" rtlCol="0" anchor="t"/>
          <a:lstStyle/>
          <a:p>
            <a:pPr indent="0" marL="0">
              <a:buNone/>
            </a:pPr>
            <a:r>
              <a:rPr lang="en-US" sz="1400" b="1" dirty="0">
                <a:solidFill>
                  <a:schemeClr val="tx1"/>
                </a:solidFill>
              </a:rPr>
              <a:t>Travel time</a:t>
            </a:r>
            <a:endParaRPr lang="en-US" sz="1400" dirty="0"/>
          </a:p>
        </p:txBody>
      </p:sp>
      <p:sp>
        <p:nvSpPr>
          <p:cNvPr id="6" name="Text 3"/>
          <p:cNvSpPr txBox="1"/>
          <p:nvPr/>
        </p:nvSpPr>
        <p:spPr>
          <a:xfrm>
            <a:off x="1170432" y="1554480"/>
            <a:ext cx="1163269" cy="457200"/>
          </a:xfrm>
          <a:prstGeom prst="rect">
            <a:avLst/>
          </a:prstGeom>
          <a:noFill/>
          <a:ln/>
        </p:spPr>
        <p:txBody>
          <a:bodyPr wrap="square" lIns="0" tIns="0" rIns="0" bIns="0" rtlCol="0" anchor="t"/>
          <a:lstStyle/>
          <a:p>
            <a:pPr indent="0" marL="0">
              <a:buNone/>
            </a:pPr>
            <a:r>
              <a:rPr lang="en-US" sz="1100" dirty="0">
                <a:solidFill>
                  <a:schemeClr val="tx2"/>
                </a:solidFill>
              </a:rPr>
              <a:t>fuel, wear</a:t>
            </a:r>
            <a:endParaRPr lang="en-US" sz="1100" dirty="0"/>
          </a:p>
        </p:txBody>
      </p:sp>
      <p:sp>
        <p:nvSpPr>
          <p:cNvPr id="7" name="Trucks circle"/>
          <p:cNvSpPr/>
          <p:nvPr/>
        </p:nvSpPr>
        <p:spPr>
          <a:xfrm>
            <a:off x="2397709" y="1280160"/>
            <a:ext cx="502920" cy="502920"/>
          </a:xfrm>
          <a:prstGeom prst="ellipse">
            <a:avLst/>
          </a:prstGeom>
          <a:solidFill>
            <a:schemeClr val="accent1"/>
          </a:solidFill>
          <a:ln w="12700">
            <a:solidFill>
              <a:schemeClr val="accent1"/>
            </a:solidFill>
            <a:prstDash val="solid"/>
          </a:ln>
        </p:spPr>
      </p:sp>
      <p:pic>
        <p:nvPicPr>
          <p:cNvPr id="8" name="Trucks icon" descr="Trucks">    </p:cNvPr>
          <p:cNvPicPr>
            <a:picLocks noChangeAspect="1"/>
          </p:cNvPicPr>
          <p:nvPr/>
        </p:nvPicPr>
        <p:blipFill>
          <a:blip r:embed="rId2"/>
          <a:stretch>
            <a:fillRect/>
          </a:stretch>
        </p:blipFill>
        <p:spPr>
          <a:xfrm>
            <a:off x="2523439" y="1405890"/>
            <a:ext cx="251460" cy="251460"/>
          </a:xfrm>
          <a:prstGeom prst="rect">
            <a:avLst/>
          </a:prstGeom>
        </p:spPr>
      </p:pic>
      <p:sp>
        <p:nvSpPr>
          <p:cNvPr id="9" name="Text 5"/>
          <p:cNvSpPr txBox="1"/>
          <p:nvPr/>
        </p:nvSpPr>
        <p:spPr>
          <a:xfrm>
            <a:off x="3019501" y="1261872"/>
            <a:ext cx="1163269" cy="292608"/>
          </a:xfrm>
          <a:prstGeom prst="rect">
            <a:avLst/>
          </a:prstGeom>
          <a:noFill/>
          <a:ln/>
        </p:spPr>
        <p:txBody>
          <a:bodyPr wrap="square" lIns="0" tIns="0" rIns="0" bIns="0" rtlCol="0" anchor="t"/>
          <a:lstStyle/>
          <a:p>
            <a:pPr indent="0" marL="0">
              <a:buNone/>
            </a:pPr>
            <a:r>
              <a:rPr lang="en-US" sz="1400" b="1" dirty="0">
                <a:solidFill>
                  <a:schemeClr val="tx1"/>
                </a:solidFill>
              </a:rPr>
              <a:t>Trucks</a:t>
            </a:r>
            <a:endParaRPr lang="en-US" sz="1400" dirty="0"/>
          </a:p>
        </p:txBody>
      </p:sp>
      <p:sp>
        <p:nvSpPr>
          <p:cNvPr id="10" name="Text 6"/>
          <p:cNvSpPr txBox="1"/>
          <p:nvPr/>
        </p:nvSpPr>
        <p:spPr>
          <a:xfrm>
            <a:off x="3019501" y="1554480"/>
            <a:ext cx="1163269" cy="457200"/>
          </a:xfrm>
          <a:prstGeom prst="rect">
            <a:avLst/>
          </a:prstGeom>
          <a:noFill/>
          <a:ln/>
        </p:spPr>
        <p:txBody>
          <a:bodyPr wrap="square" lIns="0" tIns="0" rIns="0" bIns="0" rtlCol="0" anchor="t"/>
          <a:lstStyle/>
          <a:p>
            <a:pPr indent="0" marL="0">
              <a:buNone/>
            </a:pPr>
            <a:r>
              <a:rPr lang="en-US" sz="1100" dirty="0">
                <a:solidFill>
                  <a:schemeClr val="tx2"/>
                </a:solidFill>
              </a:rPr>
              <a:t>fleet cost</a:t>
            </a:r>
            <a:endParaRPr lang="en-US" sz="1100" dirty="0"/>
          </a:p>
        </p:txBody>
      </p:sp>
      <p:sp>
        <p:nvSpPr>
          <p:cNvPr id="11" name="Driver hours circle"/>
          <p:cNvSpPr/>
          <p:nvPr/>
        </p:nvSpPr>
        <p:spPr>
          <a:xfrm>
            <a:off x="4246778" y="1280160"/>
            <a:ext cx="502920" cy="502920"/>
          </a:xfrm>
          <a:prstGeom prst="ellipse">
            <a:avLst/>
          </a:prstGeom>
          <a:solidFill>
            <a:schemeClr val="accent3"/>
          </a:solidFill>
          <a:ln w="12700">
            <a:solidFill>
              <a:schemeClr val="accent3"/>
            </a:solidFill>
            <a:prstDash val="solid"/>
          </a:ln>
        </p:spPr>
      </p:sp>
      <p:pic>
        <p:nvPicPr>
          <p:cNvPr id="12" name="Driver hours icon" descr="Driver hours">    </p:cNvPr>
          <p:cNvPicPr>
            <a:picLocks noChangeAspect="1"/>
          </p:cNvPicPr>
          <p:nvPr/>
        </p:nvPicPr>
        <p:blipFill>
          <a:blip r:embed="rId3"/>
          <a:stretch>
            <a:fillRect/>
          </a:stretch>
        </p:blipFill>
        <p:spPr>
          <a:xfrm>
            <a:off x="4372508" y="1405890"/>
            <a:ext cx="251460" cy="251460"/>
          </a:xfrm>
          <a:prstGeom prst="rect">
            <a:avLst/>
          </a:prstGeom>
        </p:spPr>
      </p:pic>
      <p:sp>
        <p:nvSpPr>
          <p:cNvPr id="13" name="Text 8"/>
          <p:cNvSpPr txBox="1"/>
          <p:nvPr/>
        </p:nvSpPr>
        <p:spPr>
          <a:xfrm>
            <a:off x="4868570" y="1261872"/>
            <a:ext cx="1163269" cy="292608"/>
          </a:xfrm>
          <a:prstGeom prst="rect">
            <a:avLst/>
          </a:prstGeom>
          <a:noFill/>
          <a:ln/>
        </p:spPr>
        <p:txBody>
          <a:bodyPr wrap="square" lIns="0" tIns="0" rIns="0" bIns="0" rtlCol="0" anchor="t"/>
          <a:lstStyle/>
          <a:p>
            <a:pPr indent="0" marL="0">
              <a:buNone/>
            </a:pPr>
            <a:r>
              <a:rPr lang="en-US" sz="1400" b="1" dirty="0">
                <a:solidFill>
                  <a:schemeClr val="tx1"/>
                </a:solidFill>
              </a:rPr>
              <a:t>Driver hours</a:t>
            </a:r>
            <a:endParaRPr lang="en-US" sz="1400" dirty="0"/>
          </a:p>
        </p:txBody>
      </p:sp>
      <p:sp>
        <p:nvSpPr>
          <p:cNvPr id="14" name="Text 9"/>
          <p:cNvSpPr txBox="1"/>
          <p:nvPr/>
        </p:nvSpPr>
        <p:spPr>
          <a:xfrm>
            <a:off x="4868570" y="1554480"/>
            <a:ext cx="1163269" cy="457200"/>
          </a:xfrm>
          <a:prstGeom prst="rect">
            <a:avLst/>
          </a:prstGeom>
          <a:noFill/>
          <a:ln/>
        </p:spPr>
        <p:txBody>
          <a:bodyPr wrap="square" lIns="0" tIns="0" rIns="0" bIns="0" rtlCol="0" anchor="t"/>
          <a:lstStyle/>
          <a:p>
            <a:pPr indent="0" marL="0">
              <a:buNone/>
            </a:pPr>
            <a:r>
              <a:rPr lang="en-US" sz="1100" dirty="0">
                <a:solidFill>
                  <a:schemeClr val="tx2"/>
                </a:solidFill>
              </a:rPr>
              <a:t>wages, overtime</a:t>
            </a:r>
            <a:endParaRPr lang="en-US" sz="1100" dirty="0"/>
          </a:p>
        </p:txBody>
      </p:sp>
      <p:sp>
        <p:nvSpPr>
          <p:cNvPr id="15" name="Clean days circle"/>
          <p:cNvSpPr/>
          <p:nvPr/>
        </p:nvSpPr>
        <p:spPr>
          <a:xfrm>
            <a:off x="6095848" y="1280160"/>
            <a:ext cx="502920" cy="502920"/>
          </a:xfrm>
          <a:prstGeom prst="ellipse">
            <a:avLst/>
          </a:prstGeom>
          <a:solidFill>
            <a:schemeClr val="accent3"/>
          </a:solidFill>
          <a:ln w="12700">
            <a:solidFill>
              <a:schemeClr val="accent3"/>
            </a:solidFill>
            <a:prstDash val="solid"/>
          </a:ln>
        </p:spPr>
      </p:sp>
      <p:pic>
        <p:nvPicPr>
          <p:cNvPr id="16" name="Clean days icon" descr="Clean days">    </p:cNvPr>
          <p:cNvPicPr>
            <a:picLocks noChangeAspect="1"/>
          </p:cNvPicPr>
          <p:nvPr/>
        </p:nvPicPr>
        <p:blipFill>
          <a:blip r:embed="rId4"/>
          <a:stretch>
            <a:fillRect/>
          </a:stretch>
        </p:blipFill>
        <p:spPr>
          <a:xfrm>
            <a:off x="6221578" y="1405890"/>
            <a:ext cx="251460" cy="251460"/>
          </a:xfrm>
          <a:prstGeom prst="rect">
            <a:avLst/>
          </a:prstGeom>
        </p:spPr>
      </p:pic>
      <p:sp>
        <p:nvSpPr>
          <p:cNvPr id="17" name="Text 11"/>
          <p:cNvSpPr txBox="1"/>
          <p:nvPr/>
        </p:nvSpPr>
        <p:spPr>
          <a:xfrm>
            <a:off x="6717640" y="1261872"/>
            <a:ext cx="1163269" cy="292608"/>
          </a:xfrm>
          <a:prstGeom prst="rect">
            <a:avLst/>
          </a:prstGeom>
          <a:noFill/>
          <a:ln/>
        </p:spPr>
        <p:txBody>
          <a:bodyPr wrap="square" lIns="0" tIns="0" rIns="0" bIns="0" rtlCol="0" anchor="t"/>
          <a:lstStyle/>
          <a:p>
            <a:pPr indent="0" marL="0">
              <a:buNone/>
            </a:pPr>
            <a:r>
              <a:rPr lang="en-US" sz="1400" b="1" dirty="0">
                <a:solidFill>
                  <a:schemeClr val="tx1"/>
                </a:solidFill>
              </a:rPr>
              <a:t>Clean days</a:t>
            </a:r>
            <a:endParaRPr lang="en-US" sz="1400" dirty="0"/>
          </a:p>
        </p:txBody>
      </p:sp>
      <p:sp>
        <p:nvSpPr>
          <p:cNvPr id="18" name="Text 12"/>
          <p:cNvSpPr txBox="1"/>
          <p:nvPr/>
        </p:nvSpPr>
        <p:spPr>
          <a:xfrm>
            <a:off x="6717640" y="1554480"/>
            <a:ext cx="1163269" cy="457200"/>
          </a:xfrm>
          <a:prstGeom prst="rect">
            <a:avLst/>
          </a:prstGeom>
          <a:noFill/>
          <a:ln/>
        </p:spPr>
        <p:txBody>
          <a:bodyPr wrap="square" lIns="0" tIns="0" rIns="0" bIns="0" rtlCol="0" anchor="t"/>
          <a:lstStyle/>
          <a:p>
            <a:pPr indent="0" marL="0">
              <a:buNone/>
            </a:pPr>
            <a:r>
              <a:rPr lang="en-US" sz="1100" dirty="0">
                <a:solidFill>
                  <a:schemeClr val="tx2"/>
                </a:solidFill>
              </a:rPr>
              <a:t>days with no late stop</a:t>
            </a:r>
            <a:endParaRPr lang="en-US" sz="1100" dirty="0"/>
          </a:p>
        </p:txBody>
      </p:sp>
      <p:sp>
        <p:nvSpPr>
          <p:cNvPr id="19" name="Cushion circle"/>
          <p:cNvSpPr/>
          <p:nvPr/>
        </p:nvSpPr>
        <p:spPr>
          <a:xfrm>
            <a:off x="7944917" y="1280160"/>
            <a:ext cx="502920" cy="502920"/>
          </a:xfrm>
          <a:prstGeom prst="ellipse">
            <a:avLst/>
          </a:prstGeom>
          <a:solidFill>
            <a:schemeClr val="accent3"/>
          </a:solidFill>
          <a:ln w="12700">
            <a:solidFill>
              <a:schemeClr val="accent3"/>
            </a:solidFill>
            <a:prstDash val="solid"/>
          </a:ln>
        </p:spPr>
      </p:sp>
      <p:pic>
        <p:nvPicPr>
          <p:cNvPr id="20" name="Cushion icon" descr="Cushion">    </p:cNvPr>
          <p:cNvPicPr>
            <a:picLocks noChangeAspect="1"/>
          </p:cNvPicPr>
          <p:nvPr/>
        </p:nvPicPr>
        <p:blipFill>
          <a:blip r:embed="rId5"/>
          <a:stretch>
            <a:fillRect/>
          </a:stretch>
        </p:blipFill>
        <p:spPr>
          <a:xfrm>
            <a:off x="8070647" y="1405890"/>
            <a:ext cx="251460" cy="251460"/>
          </a:xfrm>
          <a:prstGeom prst="rect">
            <a:avLst/>
          </a:prstGeom>
        </p:spPr>
      </p:pic>
      <p:sp>
        <p:nvSpPr>
          <p:cNvPr id="21" name="Text 14"/>
          <p:cNvSpPr txBox="1"/>
          <p:nvPr/>
        </p:nvSpPr>
        <p:spPr>
          <a:xfrm>
            <a:off x="8566709" y="1261872"/>
            <a:ext cx="1163269" cy="292608"/>
          </a:xfrm>
          <a:prstGeom prst="rect">
            <a:avLst/>
          </a:prstGeom>
          <a:noFill/>
          <a:ln/>
        </p:spPr>
        <p:txBody>
          <a:bodyPr wrap="square" lIns="0" tIns="0" rIns="0" bIns="0" rtlCol="0" anchor="t"/>
          <a:lstStyle/>
          <a:p>
            <a:pPr indent="0" marL="0">
              <a:buNone/>
            </a:pPr>
            <a:r>
              <a:rPr lang="en-US" sz="1400" b="1" dirty="0">
                <a:solidFill>
                  <a:schemeClr val="tx1"/>
                </a:solidFill>
              </a:rPr>
              <a:t>Cushion</a:t>
            </a:r>
            <a:endParaRPr lang="en-US" sz="1400" dirty="0"/>
          </a:p>
        </p:txBody>
      </p:sp>
      <p:sp>
        <p:nvSpPr>
          <p:cNvPr id="22" name="Text 15"/>
          <p:cNvSpPr txBox="1"/>
          <p:nvPr/>
        </p:nvSpPr>
        <p:spPr>
          <a:xfrm>
            <a:off x="8566709" y="1554480"/>
            <a:ext cx="1163269" cy="457200"/>
          </a:xfrm>
          <a:prstGeom prst="rect">
            <a:avLst/>
          </a:prstGeom>
          <a:noFill/>
          <a:ln/>
        </p:spPr>
        <p:txBody>
          <a:bodyPr wrap="square" lIns="0" tIns="0" rIns="0" bIns="0" rtlCol="0" anchor="t"/>
          <a:lstStyle/>
          <a:p>
            <a:pPr indent="0" marL="0">
              <a:buNone/>
            </a:pPr>
            <a:r>
              <a:rPr lang="en-US" sz="1100" dirty="0">
                <a:solidFill>
                  <a:schemeClr val="tx2"/>
                </a:solidFill>
              </a:rPr>
              <a:t>minutes before a window closes</a:t>
            </a:r>
            <a:endParaRPr lang="en-US" sz="1100" dirty="0"/>
          </a:p>
        </p:txBody>
      </p:sp>
      <p:sp>
        <p:nvSpPr>
          <p:cNvPr id="23" name="Spare capacity circle"/>
          <p:cNvSpPr/>
          <p:nvPr/>
        </p:nvSpPr>
        <p:spPr>
          <a:xfrm>
            <a:off x="9793986" y="1280160"/>
            <a:ext cx="502920" cy="502920"/>
          </a:xfrm>
          <a:prstGeom prst="ellipse">
            <a:avLst/>
          </a:prstGeom>
          <a:solidFill>
            <a:schemeClr val="accent3"/>
          </a:solidFill>
          <a:ln w="12700">
            <a:solidFill>
              <a:schemeClr val="accent3"/>
            </a:solidFill>
            <a:prstDash val="solid"/>
          </a:ln>
        </p:spPr>
      </p:sp>
      <p:pic>
        <p:nvPicPr>
          <p:cNvPr id="24" name="Spare capacity icon" descr="Spare capacity">    </p:cNvPr>
          <p:cNvPicPr>
            <a:picLocks noChangeAspect="1"/>
          </p:cNvPicPr>
          <p:nvPr/>
        </p:nvPicPr>
        <p:blipFill>
          <a:blip r:embed="rId6"/>
          <a:stretch>
            <a:fillRect/>
          </a:stretch>
        </p:blipFill>
        <p:spPr>
          <a:xfrm>
            <a:off x="9919716" y="1405890"/>
            <a:ext cx="251460" cy="251460"/>
          </a:xfrm>
          <a:prstGeom prst="rect">
            <a:avLst/>
          </a:prstGeom>
        </p:spPr>
      </p:pic>
      <p:sp>
        <p:nvSpPr>
          <p:cNvPr id="25" name="Text 17"/>
          <p:cNvSpPr txBox="1"/>
          <p:nvPr/>
        </p:nvSpPr>
        <p:spPr>
          <a:xfrm>
            <a:off x="10415778" y="1261872"/>
            <a:ext cx="1163269" cy="292608"/>
          </a:xfrm>
          <a:prstGeom prst="rect">
            <a:avLst/>
          </a:prstGeom>
          <a:noFill/>
          <a:ln/>
        </p:spPr>
        <p:txBody>
          <a:bodyPr wrap="square" lIns="0" tIns="0" rIns="0" bIns="0" rtlCol="0" anchor="t"/>
          <a:lstStyle/>
          <a:p>
            <a:pPr indent="0" marL="0">
              <a:buNone/>
            </a:pPr>
            <a:r>
              <a:rPr lang="en-US" sz="1400" b="1" dirty="0">
                <a:solidFill>
                  <a:schemeClr val="tx1"/>
                </a:solidFill>
              </a:rPr>
              <a:t>Spare capacity</a:t>
            </a:r>
            <a:endParaRPr lang="en-US" sz="1400" dirty="0"/>
          </a:p>
        </p:txBody>
      </p:sp>
      <p:sp>
        <p:nvSpPr>
          <p:cNvPr id="26" name="Text 18"/>
          <p:cNvSpPr txBox="1"/>
          <p:nvPr/>
        </p:nvSpPr>
        <p:spPr>
          <a:xfrm>
            <a:off x="10415778" y="1554480"/>
            <a:ext cx="1163269" cy="457200"/>
          </a:xfrm>
          <a:prstGeom prst="rect">
            <a:avLst/>
          </a:prstGeom>
          <a:noFill/>
          <a:ln/>
        </p:spPr>
        <p:txBody>
          <a:bodyPr wrap="square" lIns="0" tIns="0" rIns="0" bIns="0" rtlCol="0" anchor="t"/>
          <a:lstStyle/>
          <a:p>
            <a:pPr indent="0" marL="0">
              <a:buNone/>
            </a:pPr>
            <a:r>
              <a:rPr lang="en-US" sz="1100" dirty="0">
                <a:solidFill>
                  <a:schemeClr val="tx2"/>
                </a:solidFill>
              </a:rPr>
              <a:t>room for add-on orders</a:t>
            </a:r>
            <a:endParaRPr lang="en-US" sz="1100" dirty="0"/>
          </a:p>
        </p:txBody>
      </p:sp>
      <p:sp>
        <p:nvSpPr>
          <p:cNvPr id="27" name="Text 19"/>
          <p:cNvSpPr txBox="1"/>
          <p:nvPr/>
        </p:nvSpPr>
        <p:spPr>
          <a:xfrm>
            <a:off x="548640" y="2240280"/>
            <a:ext cx="11094415" cy="457200"/>
          </a:xfrm>
          <a:prstGeom prst="rect">
            <a:avLst/>
          </a:prstGeom>
          <a:noFill/>
          <a:ln/>
        </p:spPr>
        <p:txBody>
          <a:bodyPr wrap="square" lIns="0" tIns="0" rIns="0" bIns="0" rtlCol="0" anchor="t"/>
          <a:lstStyle/>
          <a:p>
            <a:pPr indent="0" marL="0">
              <a:buNone/>
            </a:pPr>
            <a:r>
              <a:rPr lang="en-US" sz="1400" dirty="0">
                <a:solidFill>
                  <a:schemeClr val="tx1"/>
                </a:solidFill>
              </a:rPr>
              <a:t>We planned five alternatives with the same method, each told to protect something extra, then scored every plan on every measure and on the same 30 traffic days.</a:t>
            </a:r>
            <a:endParaRPr lang="en-US" sz="1400" dirty="0"/>
          </a:p>
        </p:txBody>
      </p:sp>
      <p:pic>
        <p:nvPicPr>
          <p:cNvPr id="28" name="scenario scorecard" descr="Bar charts of travel, trucks, clean days and late deliveries for seven plans">    </p:cNvPr>
          <p:cNvPicPr>
            <a:picLocks noChangeAspect="1"/>
          </p:cNvPicPr>
          <p:nvPr/>
        </p:nvPicPr>
        <p:blipFill>
          <a:blip r:embed="rId7"/>
          <a:stretch>
            <a:fillRect/>
          </a:stretch>
        </p:blipFill>
        <p:spPr>
          <a:xfrm>
            <a:off x="548640" y="2743200"/>
            <a:ext cx="11094415" cy="3106436"/>
          </a:xfrm>
          <a:prstGeom prst="rect">
            <a:avLst/>
          </a:prstGeom>
        </p:spPr>
      </p:pic>
      <p:sp>
        <p:nvSpPr>
          <p:cNvPr id="29" name="Text 20"/>
          <p:cNvSpPr txBox="1"/>
          <p:nvPr/>
        </p:nvSpPr>
        <p:spPr>
          <a:xfrm>
            <a:off x="548640" y="5895356"/>
            <a:ext cx="7315200" cy="457200"/>
          </a:xfrm>
          <a:prstGeom prst="rect">
            <a:avLst/>
          </a:prstGeom>
          <a:noFill/>
          <a:ln/>
        </p:spPr>
        <p:txBody>
          <a:bodyPr wrap="square" lIns="0" tIns="0" rIns="0" bIns="0" rtlCol="0" anchor="t"/>
          <a:lstStyle/>
          <a:p>
            <a:pPr indent="0" marL="0">
              <a:buNone/>
            </a:pPr>
            <a:r>
              <a:rPr lang="en-US" sz="1200" dirty="0">
                <a:solidFill>
                  <a:schemeClr val="tx2"/>
                </a:solidFill>
              </a:rPr>
              <a:t>Blue: plans from our method with different targets. Orange: today's rule.</a:t>
            </a:r>
            <a:endParaRPr lang="en-US" sz="12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Four options for the boss</a:t>
            </a:r>
            <a:endParaRPr lang="en-US" sz="3200" dirty="0"/>
          </a:p>
        </p:txBody>
      </p:sp>
      <p:graphicFrame>
        <p:nvGraphicFramePr>
          <p:cNvPr id="15" name="options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691640"/>
                <a:gridCol w="1188720"/>
                <a:gridCol w="868680"/>
                <a:gridCol w="1234440"/>
                <a:gridCol w="1463040"/>
                <a:gridCol w="1600200"/>
                <a:gridCol w="3047695"/>
              </a:tblGrid>
              <a:tr h="420624">
                <a:tc>
                  <a:txBody>
                    <a:bodyPr/>
                    <a:lstStyle/>
                    <a:p>
                      <a:pPr algn="ctr" indent="0" marL="0">
                        <a:buNone/>
                      </a:pPr>
                      <a:r>
                        <a:rPr lang="en-US" sz="1300" b="1" dirty="0">
                          <a:solidFill>
                            <a:schemeClr val="bg1"/>
                          </a:solidFill>
                        </a:rPr>
                        <a:t>Option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300" b="1" dirty="0">
                          <a:solidFill>
                            <a:schemeClr val="bg1"/>
                          </a:solidFill>
                        </a:rPr>
                        <a:t>Travel (min)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300" b="1" dirty="0">
                          <a:solidFill>
                            <a:schemeClr val="bg1"/>
                          </a:solidFill>
                        </a:rPr>
                        <a:t>Trucks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300" b="1" dirty="0">
                          <a:solidFill>
                            <a:schemeClr val="bg1"/>
                          </a:solidFill>
                        </a:rPr>
                        <a:t>Driver hours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300" b="1" dirty="0">
                          <a:solidFill>
                            <a:schemeClr val="bg1"/>
                          </a:solidFill>
                        </a:rPr>
                        <a:t>Clean days (of 30)</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300" b="1" dirty="0">
                          <a:solidFill>
                            <a:schemeClr val="bg1"/>
                          </a:solidFill>
                        </a:rPr>
                        <a:t>Late events (30 days)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300" b="1" dirty="0">
                          <a:solidFill>
                            <a:schemeClr val="bg1"/>
                          </a:solidFill>
                        </a:rPr>
                        <a:t>Choose it when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r>
              <a:tr h="420624">
                <a:tc>
                  <a:txBody>
                    <a:bodyPr/>
                    <a:lstStyle/>
                    <a:p>
                      <a:pPr algn="l" indent="0" marL="0">
                        <a:buNone/>
                      </a:pPr>
                      <a:r>
                        <a:rPr lang="en-US" sz="1300" b="1" dirty="0">
                          <a:solidFill>
                            <a:schemeClr val="tx1"/>
                          </a:solidFill>
                        </a:rPr>
                        <a:t>Today's rule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tx1"/>
                          </a:solidFill>
                        </a:rPr>
                        <a:t>1,683</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tx1"/>
                          </a:solidFill>
                        </a:rPr>
                        <a:t>11</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tx1"/>
                          </a:solidFill>
                        </a:rPr>
                        <a:t>73.9</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tx1"/>
                          </a:solidFill>
                        </a:rPr>
                        <a:t>19</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tx1"/>
                          </a:solidFill>
                        </a:rPr>
                        <a:t>42</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300" dirty="0">
                          <a:solidFill>
                            <a:schemeClr val="tx1"/>
                          </a:solidFill>
                        </a:rPr>
                        <a:t>Never: it trails on every measure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algn="l" indent="0" marL="0">
                        <a:buNone/>
                      </a:pPr>
                      <a:r>
                        <a:rPr lang="en-US" sz="1300" b="1" dirty="0">
                          <a:solidFill>
                            <a:schemeClr val="tx1"/>
                          </a:solidFill>
                        </a:rPr>
                        <a:t>Fewest miles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tx1"/>
                          </a:solidFill>
                        </a:rPr>
                        <a:t>1,041</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tx1"/>
                          </a:solidFill>
                        </a:rPr>
                        <a:t>8</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tx1"/>
                          </a:solidFill>
                        </a:rPr>
                        <a:t>63.8</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tx1"/>
                          </a:solidFill>
                        </a:rPr>
                        <a:t>20</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tx1"/>
                          </a:solidFill>
                        </a:rPr>
                        <a:t>20</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300" dirty="0">
                          <a:solidFill>
                            <a:schemeClr val="tx1"/>
                          </a:solidFill>
                        </a:rPr>
                        <a:t>Late deliveries are cheap to fix</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algn="l" indent="0" marL="0">
                        <a:buNone/>
                      </a:pPr>
                      <a:r>
                        <a:rPr lang="en-US" sz="1300" b="1" dirty="0">
                          <a:solidFill>
                            <a:schemeClr val="tx1"/>
                          </a:solidFill>
                        </a:rPr>
                        <a:t>20-min cushion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3EEFB"/>
                    </a:solidFill>
                  </a:tcPr>
                </a:tc>
                <a:tc>
                  <a:txBody>
                    <a:bodyPr/>
                    <a:lstStyle/>
                    <a:p>
                      <a:pPr algn="ctr" indent="0" marL="0">
                        <a:buNone/>
                      </a:pPr>
                      <a:r>
                        <a:rPr lang="en-US" sz="1300" b="1" dirty="0">
                          <a:solidFill>
                            <a:schemeClr val="accent1"/>
                          </a:solidFill>
                        </a:rPr>
                        <a:t>1,061</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3EEFB"/>
                    </a:solidFill>
                  </a:tcPr>
                </a:tc>
                <a:tc>
                  <a:txBody>
                    <a:bodyPr/>
                    <a:lstStyle/>
                    <a:p>
                      <a:pPr algn="ctr" indent="0" marL="0">
                        <a:buNone/>
                      </a:pPr>
                      <a:r>
                        <a:rPr lang="en-US" sz="1300" b="1" dirty="0">
                          <a:solidFill>
                            <a:schemeClr val="accent1"/>
                          </a:solidFill>
                        </a:rPr>
                        <a:t>8</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3EEFB"/>
                    </a:solidFill>
                  </a:tcPr>
                </a:tc>
                <a:tc>
                  <a:txBody>
                    <a:bodyPr/>
                    <a:lstStyle/>
                    <a:p>
                      <a:pPr algn="ctr" indent="0" marL="0">
                        <a:buNone/>
                      </a:pPr>
                      <a:r>
                        <a:rPr lang="en-US" sz="1300" b="1" dirty="0">
                          <a:solidFill>
                            <a:schemeClr val="accent1"/>
                          </a:solidFill>
                        </a:rPr>
                        <a:t>65.0</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3EEFB"/>
                    </a:solidFill>
                  </a:tcPr>
                </a:tc>
                <a:tc>
                  <a:txBody>
                    <a:bodyPr/>
                    <a:lstStyle/>
                    <a:p>
                      <a:pPr algn="ctr" indent="0" marL="0">
                        <a:buNone/>
                      </a:pPr>
                      <a:r>
                        <a:rPr lang="en-US" sz="1300" b="1" dirty="0">
                          <a:solidFill>
                            <a:schemeClr val="accent1"/>
                          </a:solidFill>
                        </a:rPr>
                        <a:t>27</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3EEFB"/>
                    </a:solidFill>
                  </a:tcPr>
                </a:tc>
                <a:tc>
                  <a:txBody>
                    <a:bodyPr/>
                    <a:lstStyle/>
                    <a:p>
                      <a:pPr algn="ctr" indent="0" marL="0">
                        <a:buNone/>
                      </a:pPr>
                      <a:r>
                        <a:rPr lang="en-US" sz="1300" b="1" dirty="0">
                          <a:solidFill>
                            <a:schemeClr val="accent1"/>
                          </a:solidFill>
                        </a:rPr>
                        <a:t>4</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3EEFB"/>
                    </a:solidFill>
                  </a:tcPr>
                </a:tc>
                <a:tc>
                  <a:txBody>
                    <a:bodyPr/>
                    <a:lstStyle/>
                    <a:p>
                      <a:pPr algn="l" indent="0" marL="0">
                        <a:buNone/>
                      </a:pPr>
                      <a:r>
                        <a:rPr lang="en-US" sz="1300" dirty="0">
                          <a:solidFill>
                            <a:schemeClr val="tx1"/>
                          </a:solidFill>
                        </a:rPr>
                        <a:t>A missed window costs over ~$100</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3EEFB"/>
                    </a:solidFill>
                  </a:tcPr>
                </a:tc>
              </a:tr>
              <a:tr h="420624">
                <a:tc>
                  <a:txBody>
                    <a:bodyPr/>
                    <a:lstStyle/>
                    <a:p>
                      <a:pPr algn="l" indent="0" marL="0">
                        <a:buNone/>
                      </a:pPr>
                      <a:r>
                        <a:rPr lang="en-US" sz="1300" b="1" dirty="0">
                          <a:solidFill>
                            <a:schemeClr val="tx1"/>
                          </a:solidFill>
                        </a:rPr>
                        <a:t>Cushion + spare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tx1"/>
                          </a:solidFill>
                        </a:rPr>
                        <a:t>1,110</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tx1"/>
                          </a:solidFill>
                        </a:rPr>
                        <a:t>10</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tx1"/>
                          </a:solidFill>
                        </a:rPr>
                        <a:t>78.7</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tx1"/>
                          </a:solidFill>
                        </a:rPr>
                        <a:t>27</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tx1"/>
                          </a:solidFill>
                        </a:rPr>
                        <a:t>4</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300" dirty="0">
                          <a:solidFill>
                            <a:schemeClr val="tx1"/>
                          </a:solidFill>
                        </a:rPr>
                        <a:t>Reliability matters most, or add-on orders are common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pic>
        <p:nvPicPr>
          <p:cNvPr id="4" name="headline maps" descr="Route maps of today's rule, fewest miles, 20-min cushion and spare capacity plans">    </p:cNvPr>
          <p:cNvPicPr>
            <a:picLocks noChangeAspect="1"/>
          </p:cNvPicPr>
          <p:nvPr/>
        </p:nvPicPr>
        <p:blipFill>
          <a:blip r:embed="rId1"/>
          <a:stretch>
            <a:fillRect/>
          </a:stretch>
        </p:blipFill>
        <p:spPr>
          <a:xfrm>
            <a:off x="1435925" y="3520440"/>
            <a:ext cx="9319846" cy="2423160"/>
          </a:xfrm>
          <a:prstGeom prst="rect">
            <a:avLst/>
          </a:prstGeom>
        </p:spPr>
      </p:pic>
      <p:sp>
        <p:nvSpPr>
          <p:cNvPr id="5" name="Text 1"/>
          <p:cNvSpPr txBox="1"/>
          <p:nvPr/>
        </p:nvSpPr>
        <p:spPr>
          <a:xfrm>
            <a:off x="548640" y="5989320"/>
            <a:ext cx="11094415" cy="457200"/>
          </a:xfrm>
          <a:prstGeom prst="rect">
            <a:avLst/>
          </a:prstGeom>
          <a:noFill/>
          <a:ln/>
        </p:spPr>
        <p:txBody>
          <a:bodyPr wrap="square" lIns="0" tIns="0" rIns="0" bIns="0" rtlCol="0" anchor="t"/>
          <a:lstStyle/>
          <a:p>
            <a:pPr indent="0" marL="0">
              <a:buNone/>
            </a:pPr>
            <a:r>
              <a:rPr lang="en-US" sz="1200" dirty="0">
                <a:solidFill>
                  <a:schemeClr val="tx2"/>
                </a:solidFill>
              </a:rPr>
              <a:t>Late events: late starts plus late returns over the 30 simulated days. A 9-hour driver day is impossible for any plan: customer C039 opens at minute 500.</a:t>
            </a:r>
            <a:endParaRPr lang="en-US" sz="12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An interactive explorer lets the boss set the costs</a:t>
            </a:r>
            <a:endParaRPr lang="en-US" sz="3200" dirty="0"/>
          </a:p>
        </p:txBody>
      </p:sp>
      <p:pic>
        <p:nvPicPr>
          <p:cNvPr id="3" name="explorer screenshot" descr="Dispatch Plan Explorer: cost sliders and ranked plans">    </p:cNvPr>
          <p:cNvPicPr>
            <a:picLocks noChangeAspect="1"/>
          </p:cNvPicPr>
          <p:nvPr/>
        </p:nvPicPr>
        <p:blipFill>
          <a:blip r:embed="rId1"/>
          <a:stretch>
            <a:fillRect/>
          </a:stretch>
        </p:blipFill>
        <p:spPr>
          <a:xfrm>
            <a:off x="548640" y="1234440"/>
            <a:ext cx="6949440" cy="4357641"/>
          </a:xfrm>
          <a:prstGeom prst="rect">
            <a:avLst/>
          </a:prstGeom>
        </p:spPr>
      </p:pic>
      <p:sp>
        <p:nvSpPr>
          <p:cNvPr id="4" name="Text 1"/>
          <p:cNvSpPr txBox="1"/>
          <p:nvPr/>
        </p:nvSpPr>
        <p:spPr>
          <a:xfrm>
            <a:off x="548640" y="5665233"/>
            <a:ext cx="6949440" cy="457200"/>
          </a:xfrm>
          <a:prstGeom prst="rect">
            <a:avLst/>
          </a:prstGeom>
          <a:noFill/>
          <a:ln/>
        </p:spPr>
        <p:txBody>
          <a:bodyPr wrap="square" lIns="0" tIns="0" rIns="0" bIns="0" rtlCol="0" anchor="t"/>
          <a:lstStyle/>
          <a:p>
            <a:pPr indent="0" marL="0">
              <a:buNone/>
            </a:pPr>
            <a:r>
              <a:rPr lang="en-US" sz="1200" dirty="0">
                <a:solidFill>
                  <a:schemeClr val="tx2"/>
                </a:solidFill>
              </a:rPr>
              <a:t>Dispatch Plan Explorer, with example costs. Inspecting a plan also shows its map and every truck's day.</a:t>
            </a:r>
            <a:endParaRPr lang="en-US" sz="1200" dirty="0"/>
          </a:p>
        </p:txBody>
      </p:sp>
      <p:sp>
        <p:nvSpPr>
          <p:cNvPr id="5" name="Text 2"/>
          <p:cNvSpPr txBox="1"/>
          <p:nvPr/>
        </p:nvSpPr>
        <p:spPr>
          <a:xfrm>
            <a:off x="7772400" y="1280160"/>
            <a:ext cx="3870655" cy="2834640"/>
          </a:xfrm>
          <a:prstGeom prst="rect">
            <a:avLst/>
          </a:prstGeom>
          <a:noFill/>
          <a:ln/>
        </p:spPr>
        <p:txBody>
          <a:bodyPr wrap="square" lIns="0" tIns="0" rIns="0" bIns="0" rtlCol="0" anchor="t"/>
          <a:lstStyle/>
          <a:p>
            <a:pPr indent="0" marL="0">
              <a:buNone/>
            </a:pPr>
            <a:r>
              <a:rPr lang="en-US" sz="1400" b="1" dirty="0">
                <a:solidFill>
                  <a:schemeClr val="tx1"/>
                </a:solidFill>
              </a:rPr>
              <a:t>Set four prices</a:t>
            </a:r>
            <a:endParaRPr lang="en-US" sz="1400" dirty="0"/>
          </a:p>
          <a:p>
            <a:pPr indent="0" marL="0">
              <a:buNone/>
            </a:pPr>
            <a:r>
              <a:rPr lang="en-US" sz="1400" dirty="0">
                <a:solidFill>
                  <a:schemeClr val="tx2"/>
                </a:solidFill>
              </a:rPr>
              <a:t>truck per day, driver hour, travel minute, late event</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1"/>
                </a:solidFill>
              </a:rPr>
              <a:t>Add a service floor</a:t>
            </a:r>
            <a:endParaRPr lang="en-US" sz="1400" dirty="0"/>
          </a:p>
          <a:p>
            <a:pPr indent="0" marL="0">
              <a:buNone/>
            </a:pPr>
            <a:r>
              <a:rPr lang="en-US" sz="1400" dirty="0">
                <a:solidFill>
                  <a:schemeClr val="tx2"/>
                </a:solidFill>
              </a:rPr>
              <a:t>rule out plans below N clean days</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1"/>
                </a:solidFill>
              </a:rPr>
              <a:t>Switch traffic and driver clock</a:t>
            </a:r>
            <a:endParaRPr lang="en-US" sz="1400" dirty="0"/>
          </a:p>
          <a:p>
            <a:pPr indent="0" marL="0">
              <a:buNone/>
            </a:pPr>
            <a:r>
              <a:rPr lang="en-US" sz="1400" dirty="0">
                <a:solidFill>
                  <a:schemeClr val="tx2"/>
                </a:solidFill>
              </a:rPr>
              <a:t>normal or heavy congestion; drivers start at shift start or just in time</a:t>
            </a:r>
            <a:endParaRPr lang="en-US" sz="1400" dirty="0"/>
          </a:p>
        </p:txBody>
      </p:sp>
      <p:sp>
        <p:nvSpPr>
          <p:cNvPr id="6" name="break-even card"/>
          <p:cNvSpPr/>
          <p:nvPr/>
        </p:nvSpPr>
        <p:spPr>
          <a:xfrm>
            <a:off x="7772400" y="4206240"/>
            <a:ext cx="3870655" cy="1600200"/>
          </a:xfrm>
          <a:prstGeom prst="roundRect">
            <a:avLst>
              <a:gd name="adj" fmla="val 4571"/>
            </a:avLst>
          </a:prstGeom>
          <a:solidFill>
            <a:srgbClr val="E3EEFB"/>
          </a:solidFill>
          <a:ln w="12700">
            <a:solidFill>
              <a:srgbClr val="E3EEFB"/>
            </a:solidFill>
            <a:prstDash val="solid"/>
          </a:ln>
        </p:spPr>
      </p:sp>
      <p:sp>
        <p:nvSpPr>
          <p:cNvPr id="7" name="Text 4"/>
          <p:cNvSpPr txBox="1"/>
          <p:nvPr/>
        </p:nvSpPr>
        <p:spPr>
          <a:xfrm>
            <a:off x="8001000" y="4297680"/>
            <a:ext cx="3413455" cy="1463040"/>
          </a:xfrm>
          <a:prstGeom prst="rect">
            <a:avLst/>
          </a:prstGeom>
          <a:noFill/>
          <a:ln/>
        </p:spPr>
        <p:txBody>
          <a:bodyPr wrap="square" lIns="0" tIns="0" rIns="0" bIns="0" rtlCol="0" anchor="t"/>
          <a:lstStyle/>
          <a:p>
            <a:pPr indent="0" marL="0">
              <a:buNone/>
            </a:pPr>
            <a:r>
              <a:rPr lang="en-US" sz="3000" b="1" dirty="0">
                <a:solidFill>
                  <a:schemeClr val="accent1"/>
                </a:solidFill>
              </a:rPr>
              <a:t>$101</a:t>
            </a:r>
            <a:endParaRPr lang="en-US" sz="1300" dirty="0"/>
          </a:p>
          <a:p>
            <a:pPr indent="0" marL="0">
              <a:buNone/>
            </a:pPr>
            <a:r>
              <a:rPr lang="en-US" sz="1300" dirty="0">
                <a:solidFill>
                  <a:schemeClr val="tx1"/>
                </a:solidFill>
              </a:rPr>
              <a:t>is the break-even cost of a late event. Above it, the 20-min cushion beats fewest miles. At $75 they are within $15 a day.</a:t>
            </a:r>
            <a:endParaRPr lang="en-US" sz="1300" dirty="0"/>
          </a:p>
        </p:txBody>
      </p:sp>
      <p:sp>
        <p:nvSpPr>
          <p:cNvPr id="8" name="Text 5"/>
          <p:cNvSpPr txBox="1"/>
          <p:nvPr/>
        </p:nvSpPr>
        <p:spPr>
          <a:xfrm>
            <a:off x="7772400" y="5897880"/>
            <a:ext cx="3870655" cy="274320"/>
          </a:xfrm>
          <a:prstGeom prst="rect">
            <a:avLst/>
          </a:prstGeom>
          <a:noFill/>
          <a:ln/>
        </p:spPr>
        <p:txBody>
          <a:bodyPr wrap="square" lIns="0" tIns="0" rIns="0" bIns="0" rtlCol="0" anchor="t"/>
          <a:lstStyle/>
          <a:p>
            <a:pPr indent="0" marL="0">
              <a:buNone/>
            </a:pPr>
            <a:r>
              <a:rPr lang="en-US" sz="13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Open the explorer</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Recommendation</a:t>
            </a:r>
            <a:endParaRPr lang="en-US" sz="3200" dirty="0"/>
          </a:p>
        </p:txBody>
      </p:sp>
      <p:sp>
        <p:nvSpPr>
          <p:cNvPr id="3" name="Adopt our method circle"/>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4" name="Adopt our method icon" descr="Adopt our method">    </p:cNvPr>
          <p:cNvPicPr>
            <a:picLocks noChangeAspect="1"/>
          </p:cNvPicPr>
          <p:nvPr/>
        </p:nvPicPr>
        <p:blipFill>
          <a:blip r:embed="rId1"/>
          <a:stretch>
            <a:fillRect/>
          </a:stretch>
        </p:blipFill>
        <p:spPr>
          <a:xfrm>
            <a:off x="708660" y="1577340"/>
            <a:ext cx="320040" cy="320040"/>
          </a:xfrm>
          <a:prstGeom prst="rect">
            <a:avLst/>
          </a:prstGeom>
        </p:spPr>
      </p:pic>
      <p:sp>
        <p:nvSpPr>
          <p:cNvPr id="5" name="Text 2"/>
          <p:cNvSpPr txBox="1"/>
          <p:nvPr/>
        </p:nvSpPr>
        <p:spPr>
          <a:xfrm>
            <a:off x="1417320" y="1399032"/>
            <a:ext cx="4572000" cy="6858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Adopt our method</a:t>
            </a:r>
            <a:endParaRPr lang="en-US" sz="1800" dirty="0"/>
          </a:p>
        </p:txBody>
      </p:sp>
      <p:sp>
        <p:nvSpPr>
          <p:cNvPr id="6" name="Text 3"/>
          <p:cNvSpPr txBox="1"/>
          <p:nvPr/>
        </p:nvSpPr>
        <p:spPr>
          <a:xfrm>
            <a:off x="1417320" y="2148840"/>
            <a:ext cx="4572000" cy="1280160"/>
          </a:xfrm>
          <a:prstGeom prst="rect">
            <a:avLst/>
          </a:prstGeom>
          <a:noFill/>
          <a:ln/>
        </p:spPr>
        <p:txBody>
          <a:bodyPr wrap="square" lIns="0" tIns="0" rIns="0" bIns="0" rtlCol="0" anchor="t"/>
          <a:lstStyle/>
          <a:p>
            <a:pPr indent="0" marL="0">
              <a:buNone/>
            </a:pPr>
            <a:r>
              <a:rPr lang="en-US" sz="1400" dirty="0">
                <a:solidFill>
                  <a:schemeClr val="bg2"/>
                </a:solidFill>
              </a:rPr>
              <a:t>About 640 fewer travel minutes a day (−38%) and 3 fewer trucks on a 45-customer day. In simulated traffic: 690 fewer minutes on average, 19 vs 28 late starts.</a:t>
            </a:r>
            <a:endParaRPr lang="en-US" sz="1400" dirty="0"/>
          </a:p>
        </p:txBody>
      </p:sp>
      <p:sp>
        <p:nvSpPr>
          <p:cNvPr id="7" name="Plan with a 20-minute cushion if late deliveries are costly circle"/>
          <p:cNvSpPr/>
          <p:nvPr/>
        </p:nvSpPr>
        <p:spPr>
          <a:xfrm>
            <a:off x="6217920" y="1417320"/>
            <a:ext cx="640080" cy="640080"/>
          </a:xfrm>
          <a:prstGeom prst="ellipse">
            <a:avLst/>
          </a:prstGeom>
          <a:solidFill>
            <a:schemeClr val="accent1"/>
          </a:solidFill>
          <a:ln w="12700">
            <a:solidFill>
              <a:schemeClr val="accent1"/>
            </a:solidFill>
            <a:prstDash val="solid"/>
          </a:ln>
        </p:spPr>
      </p:sp>
      <p:pic>
        <p:nvPicPr>
          <p:cNvPr id="8" name="Plan with a 20-minute cushion if late deliveries are costly icon" descr="Plan with a 20-minute cushion if late deliveries are costly">    </p:cNvPr>
          <p:cNvPicPr>
            <a:picLocks noChangeAspect="1"/>
          </p:cNvPicPr>
          <p:nvPr/>
        </p:nvPicPr>
        <p:blipFill>
          <a:blip r:embed="rId2"/>
          <a:stretch>
            <a:fillRect/>
          </a:stretch>
        </p:blipFill>
        <p:spPr>
          <a:xfrm>
            <a:off x="6377940" y="1577340"/>
            <a:ext cx="320040" cy="320040"/>
          </a:xfrm>
          <a:prstGeom prst="rect">
            <a:avLst/>
          </a:prstGeom>
        </p:spPr>
      </p:pic>
      <p:sp>
        <p:nvSpPr>
          <p:cNvPr id="9" name="Text 5"/>
          <p:cNvSpPr txBox="1"/>
          <p:nvPr/>
        </p:nvSpPr>
        <p:spPr>
          <a:xfrm>
            <a:off x="7086600" y="1399032"/>
            <a:ext cx="4572000" cy="6858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Plan with a 20-minute cushion if late deliveries are costly</a:t>
            </a:r>
            <a:endParaRPr lang="en-US" sz="1800" dirty="0"/>
          </a:p>
        </p:txBody>
      </p:sp>
      <p:sp>
        <p:nvSpPr>
          <p:cNvPr id="10" name="Text 6"/>
          <p:cNvSpPr txBox="1"/>
          <p:nvPr/>
        </p:nvSpPr>
        <p:spPr>
          <a:xfrm>
            <a:off x="7086600" y="2148840"/>
            <a:ext cx="4572000" cy="1280160"/>
          </a:xfrm>
          <a:prstGeom prst="rect">
            <a:avLst/>
          </a:prstGeom>
          <a:noFill/>
          <a:ln/>
        </p:spPr>
        <p:txBody>
          <a:bodyPr wrap="square" lIns="0" tIns="0" rIns="0" bIns="0" rtlCol="0" anchor="t"/>
          <a:lstStyle/>
          <a:p>
            <a:pPr indent="0" marL="0">
              <a:buNone/>
            </a:pPr>
            <a:r>
              <a:rPr lang="en-US" sz="1400" dirty="0">
                <a:solidFill>
                  <a:schemeClr val="bg2"/>
                </a:solidFill>
              </a:rPr>
              <a:t>+20 planned minutes a day (+1.9%), the same 8 trucks, and late events fall from 20 to 4 over 30 days.</a:t>
            </a:r>
            <a:endParaRPr lang="en-US" sz="1400" dirty="0"/>
          </a:p>
        </p:txBody>
      </p:sp>
      <p:sp>
        <p:nvSpPr>
          <p:cNvPr id="11" name="Tradeoff we accept circle"/>
          <p:cNvSpPr/>
          <p:nvPr/>
        </p:nvSpPr>
        <p:spPr>
          <a:xfrm>
            <a:off x="548640" y="3794760"/>
            <a:ext cx="640080" cy="640080"/>
          </a:xfrm>
          <a:prstGeom prst="ellipse">
            <a:avLst/>
          </a:prstGeom>
          <a:solidFill>
            <a:schemeClr val="accent1"/>
          </a:solidFill>
          <a:ln w="12700">
            <a:solidFill>
              <a:schemeClr val="accent1"/>
            </a:solidFill>
            <a:prstDash val="solid"/>
          </a:ln>
        </p:spPr>
      </p:sp>
      <p:pic>
        <p:nvPicPr>
          <p:cNvPr id="12" name="Tradeoff we accept icon" descr="Tradeoff we accept">    </p:cNvPr>
          <p:cNvPicPr>
            <a:picLocks noChangeAspect="1"/>
          </p:cNvPicPr>
          <p:nvPr/>
        </p:nvPicPr>
        <p:blipFill>
          <a:blip r:embed="rId3"/>
          <a:stretch>
            <a:fillRect/>
          </a:stretch>
        </p:blipFill>
        <p:spPr>
          <a:xfrm>
            <a:off x="708660" y="3954780"/>
            <a:ext cx="320040" cy="320040"/>
          </a:xfrm>
          <a:prstGeom prst="rect">
            <a:avLst/>
          </a:prstGeom>
        </p:spPr>
      </p:pic>
      <p:sp>
        <p:nvSpPr>
          <p:cNvPr id="13" name="Text 8"/>
          <p:cNvSpPr txBox="1"/>
          <p:nvPr/>
        </p:nvSpPr>
        <p:spPr>
          <a:xfrm>
            <a:off x="1417320" y="3776472"/>
            <a:ext cx="4572000" cy="6858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Tradeoff we accept</a:t>
            </a:r>
            <a:endParaRPr lang="en-US" sz="1800" dirty="0"/>
          </a:p>
        </p:txBody>
      </p:sp>
      <p:sp>
        <p:nvSpPr>
          <p:cNvPr id="14" name="Text 9"/>
          <p:cNvSpPr txBox="1"/>
          <p:nvPr/>
        </p:nvSpPr>
        <p:spPr>
          <a:xfrm>
            <a:off x="1417320" y="4526280"/>
            <a:ext cx="4572000" cy="1280160"/>
          </a:xfrm>
          <a:prstGeom prst="rect">
            <a:avLst/>
          </a:prstGeom>
          <a:noFill/>
          <a:ln/>
        </p:spPr>
        <p:txBody>
          <a:bodyPr wrap="square" lIns="0" tIns="0" rIns="0" bIns="0" rtlCol="0" anchor="t"/>
          <a:lstStyle/>
          <a:p>
            <a:pPr indent="0" marL="0">
              <a:buNone/>
            </a:pPr>
            <a:r>
              <a:rPr lang="en-US" sz="1400" dirty="0">
                <a:solidFill>
                  <a:schemeClr val="bg2"/>
                </a:solidFill>
              </a:rPr>
              <a:t>5 to 35 seconds of computing per plan instead of an instant answer. Fuller trucks mean a breakdown affects more customers.</a:t>
            </a:r>
            <a:endParaRPr lang="en-US" sz="1400" dirty="0"/>
          </a:p>
        </p:txBody>
      </p:sp>
      <p:sp>
        <p:nvSpPr>
          <p:cNvPr id="15" name="When this would change circle"/>
          <p:cNvSpPr/>
          <p:nvPr/>
        </p:nvSpPr>
        <p:spPr>
          <a:xfrm>
            <a:off x="6217920" y="3794760"/>
            <a:ext cx="640080" cy="640080"/>
          </a:xfrm>
          <a:prstGeom prst="ellipse">
            <a:avLst/>
          </a:prstGeom>
          <a:solidFill>
            <a:schemeClr val="accent2"/>
          </a:solidFill>
          <a:ln w="12700">
            <a:solidFill>
              <a:schemeClr val="accent2"/>
            </a:solidFill>
            <a:prstDash val="solid"/>
          </a:ln>
        </p:spPr>
      </p:sp>
      <p:pic>
        <p:nvPicPr>
          <p:cNvPr id="16" name="When this would change icon" descr="When this would change">    </p:cNvPr>
          <p:cNvPicPr>
            <a:picLocks noChangeAspect="1"/>
          </p:cNvPicPr>
          <p:nvPr/>
        </p:nvPicPr>
        <p:blipFill>
          <a:blip r:embed="rId4"/>
          <a:stretch>
            <a:fillRect/>
          </a:stretch>
        </p:blipFill>
        <p:spPr>
          <a:xfrm>
            <a:off x="6377940" y="3954780"/>
            <a:ext cx="320040" cy="320040"/>
          </a:xfrm>
          <a:prstGeom prst="rect">
            <a:avLst/>
          </a:prstGeom>
        </p:spPr>
      </p:pic>
      <p:sp>
        <p:nvSpPr>
          <p:cNvPr id="17" name="Text 11"/>
          <p:cNvSpPr txBox="1"/>
          <p:nvPr/>
        </p:nvSpPr>
        <p:spPr>
          <a:xfrm>
            <a:off x="7086600" y="3776472"/>
            <a:ext cx="4572000" cy="6858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When this would change</a:t>
            </a:r>
            <a:endParaRPr lang="en-US" sz="1800" dirty="0"/>
          </a:p>
        </p:txBody>
      </p:sp>
      <p:sp>
        <p:nvSpPr>
          <p:cNvPr id="18" name="Text 12"/>
          <p:cNvSpPr txBox="1"/>
          <p:nvPr/>
        </p:nvSpPr>
        <p:spPr>
          <a:xfrm>
            <a:off x="7086600" y="4526280"/>
            <a:ext cx="4572000" cy="1280160"/>
          </a:xfrm>
          <a:prstGeom prst="rect">
            <a:avLst/>
          </a:prstGeom>
          <a:noFill/>
          <a:ln/>
        </p:spPr>
        <p:txBody>
          <a:bodyPr wrap="square" lIns="0" tIns="0" rIns="0" bIns="0" rtlCol="0" anchor="t"/>
          <a:lstStyle/>
          <a:p>
            <a:pPr indent="0" marL="0">
              <a:buNone/>
            </a:pPr>
            <a:r>
              <a:rPr lang="en-US" sz="1400" dirty="0">
                <a:solidFill>
                  <a:schemeClr val="bg2"/>
                </a:solidFill>
              </a:rPr>
              <a:t>If traffic routinely runs more than about 25% above the travel table, any fixed morning plan fails often. The tool would then need to re-plan during the day.</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Next steps before the final submission</a:t>
            </a:r>
            <a:endParaRPr lang="en-US" sz="3200" dirty="0"/>
          </a:p>
        </p:txBody>
      </p:sp>
      <p:sp>
        <p:nvSpPr>
          <p:cNvPr id="3" name="Documentation card"/>
          <p:cNvSpPr/>
          <p:nvPr/>
        </p:nvSpPr>
        <p:spPr>
          <a:xfrm>
            <a:off x="548640" y="1325880"/>
            <a:ext cx="3484778" cy="3566160"/>
          </a:xfrm>
          <a:prstGeom prst="roundRect">
            <a:avLst>
              <a:gd name="adj" fmla="val 2099"/>
            </a:avLst>
          </a:prstGeom>
          <a:solidFill>
            <a:schemeClr val="bg2"/>
          </a:solidFill>
          <a:ln w="12700">
            <a:solidFill>
              <a:schemeClr val="bg2"/>
            </a:solidFill>
            <a:prstDash val="solid"/>
          </a:ln>
        </p:spPr>
      </p:sp>
      <p:sp>
        <p:nvSpPr>
          <p:cNvPr id="4" name="Documentation circle"/>
          <p:cNvSpPr/>
          <p:nvPr/>
        </p:nvSpPr>
        <p:spPr>
          <a:xfrm>
            <a:off x="822960" y="1554480"/>
            <a:ext cx="566928" cy="566928"/>
          </a:xfrm>
          <a:prstGeom prst="ellipse">
            <a:avLst/>
          </a:prstGeom>
          <a:solidFill>
            <a:schemeClr val="accent1"/>
          </a:solidFill>
          <a:ln w="12700">
            <a:solidFill>
              <a:schemeClr val="accent1"/>
            </a:solidFill>
            <a:prstDash val="solid"/>
          </a:ln>
        </p:spPr>
      </p:sp>
      <p:pic>
        <p:nvPicPr>
          <p:cNvPr id="5" name="Documentation icon" descr="Documentation">    </p:cNvPr>
          <p:cNvPicPr>
            <a:picLocks noChangeAspect="1"/>
          </p:cNvPicPr>
          <p:nvPr/>
        </p:nvPicPr>
        <p:blipFill>
          <a:blip r:embed="rId1"/>
          <a:stretch>
            <a:fillRect/>
          </a:stretch>
        </p:blipFill>
        <p:spPr>
          <a:xfrm>
            <a:off x="964692" y="1696212"/>
            <a:ext cx="283464" cy="283464"/>
          </a:xfrm>
          <a:prstGeom prst="rect">
            <a:avLst/>
          </a:prstGeom>
        </p:spPr>
      </p:pic>
      <p:sp>
        <p:nvSpPr>
          <p:cNvPr id="6" name="Text 3"/>
          <p:cNvSpPr txBox="1"/>
          <p:nvPr/>
        </p:nvSpPr>
        <p:spPr>
          <a:xfrm>
            <a:off x="1554480" y="1572768"/>
            <a:ext cx="2296058" cy="5486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Documentation</a:t>
            </a:r>
            <a:endParaRPr lang="en-US" sz="1800" dirty="0"/>
          </a:p>
        </p:txBody>
      </p:sp>
      <p:sp>
        <p:nvSpPr>
          <p:cNvPr id="7" name="Text 4"/>
          <p:cNvSpPr txBox="1"/>
          <p:nvPr/>
        </p:nvSpPr>
        <p:spPr>
          <a:xfrm>
            <a:off x="822960" y="2377440"/>
            <a:ext cx="2981858"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Rewrite the README's opening paragraph in our own words</a:t>
            </a:r>
            <a:endParaRPr lang="en-US" sz="1400" dirty="0"/>
          </a:p>
          <a:p>
            <a:pPr marL="342900" indent="-342900">
              <a:spcAft>
                <a:spcPts val="800"/>
              </a:spcAft>
              <a:buSzPct val="100000"/>
              <a:buChar char="•"/>
            </a:pPr>
            <a:r>
              <a:rPr lang="en-US" sz="1400" dirty="0">
                <a:solidFill>
                  <a:schemeClr val="tx1"/>
                </a:solidFill>
              </a:rPr>
              <a:t>Confirm the 'every component reviewed' sentence</a:t>
            </a:r>
            <a:endParaRPr lang="en-US" sz="1400" dirty="0"/>
          </a:p>
          <a:p>
            <a:pPr marL="342900" indent="-342900">
              <a:spcAft>
                <a:spcPts val="800"/>
              </a:spcAft>
              <a:buSzPct val="100000"/>
              <a:buChar char="•"/>
            </a:pPr>
            <a:r>
              <a:rPr lang="en-US" sz="1400" dirty="0">
                <a:solidFill>
                  <a:schemeClr val="tx1"/>
                </a:solidFill>
              </a:rPr>
              <a:t>If a method changed after the prototype, say why in the README</a:t>
            </a:r>
            <a:endParaRPr lang="en-US" sz="1400" dirty="0"/>
          </a:p>
        </p:txBody>
      </p:sp>
      <p:sp>
        <p:nvSpPr>
          <p:cNvPr id="8" name="Final video (≤ 15 min) card"/>
          <p:cNvSpPr/>
          <p:nvPr/>
        </p:nvSpPr>
        <p:spPr>
          <a:xfrm>
            <a:off x="4353458" y="1325880"/>
            <a:ext cx="3484778" cy="3566160"/>
          </a:xfrm>
          <a:prstGeom prst="roundRect">
            <a:avLst>
              <a:gd name="adj" fmla="val 2099"/>
            </a:avLst>
          </a:prstGeom>
          <a:solidFill>
            <a:schemeClr val="bg2"/>
          </a:solidFill>
          <a:ln w="12700">
            <a:solidFill>
              <a:schemeClr val="bg2"/>
            </a:solidFill>
            <a:prstDash val="solid"/>
          </a:ln>
        </p:spPr>
      </p:sp>
      <p:sp>
        <p:nvSpPr>
          <p:cNvPr id="9" name="Final video (≤ 15 min) circle"/>
          <p:cNvSpPr/>
          <p:nvPr/>
        </p:nvSpPr>
        <p:spPr>
          <a:xfrm>
            <a:off x="4627778" y="1554480"/>
            <a:ext cx="566928" cy="566928"/>
          </a:xfrm>
          <a:prstGeom prst="ellipse">
            <a:avLst/>
          </a:prstGeom>
          <a:solidFill>
            <a:schemeClr val="accent1"/>
          </a:solidFill>
          <a:ln w="12700">
            <a:solidFill>
              <a:schemeClr val="accent1"/>
            </a:solidFill>
            <a:prstDash val="solid"/>
          </a:ln>
        </p:spPr>
      </p:sp>
      <p:pic>
        <p:nvPicPr>
          <p:cNvPr id="10" name="Final video (≤ 15 min) icon" descr="Final video (≤ 15 min)">    </p:cNvPr>
          <p:cNvPicPr>
            <a:picLocks noChangeAspect="1"/>
          </p:cNvPicPr>
          <p:nvPr/>
        </p:nvPicPr>
        <p:blipFill>
          <a:blip r:embed="rId2"/>
          <a:stretch>
            <a:fillRect/>
          </a:stretch>
        </p:blipFill>
        <p:spPr>
          <a:xfrm>
            <a:off x="4769510" y="1696212"/>
            <a:ext cx="283464" cy="283464"/>
          </a:xfrm>
          <a:prstGeom prst="rect">
            <a:avLst/>
          </a:prstGeom>
        </p:spPr>
      </p:pic>
      <p:sp>
        <p:nvSpPr>
          <p:cNvPr id="11" name="Text 7"/>
          <p:cNvSpPr txBox="1"/>
          <p:nvPr/>
        </p:nvSpPr>
        <p:spPr>
          <a:xfrm>
            <a:off x="5359298" y="1572768"/>
            <a:ext cx="2296058" cy="5486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Final video (≤ 15 min)</a:t>
            </a:r>
            <a:endParaRPr lang="en-US" sz="1800" dirty="0"/>
          </a:p>
        </p:txBody>
      </p:sp>
      <p:sp>
        <p:nvSpPr>
          <p:cNvPr id="12" name="Text 8"/>
          <p:cNvSpPr txBox="1"/>
          <p:nvPr/>
        </p:nvSpPr>
        <p:spPr>
          <a:xfrm>
            <a:off x="4627778" y="2377440"/>
            <a:ext cx="2981858"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Fresh instance, both methods, checker, comparison, stress test, recommendation</a:t>
            </a:r>
            <a:endParaRPr lang="en-US" sz="1400" dirty="0"/>
          </a:p>
          <a:p>
            <a:pPr marL="342900" indent="-342900">
              <a:spcAft>
                <a:spcPts val="800"/>
              </a:spcAft>
              <a:buSzPct val="100000"/>
              <a:buChar char="•"/>
            </a:pPr>
            <a:r>
              <a:rPr lang="en-US" sz="1400" dirty="0">
                <a:solidFill>
                  <a:schemeClr val="tx1"/>
                </a:solidFill>
              </a:rPr>
              <a:t>Each member walks a different agent-drafted component (AGENT_LOG.md rows 1–11)</a:t>
            </a:r>
            <a:endParaRPr lang="en-US" sz="1400" dirty="0"/>
          </a:p>
        </p:txBody>
      </p:sp>
      <p:sp>
        <p:nvSpPr>
          <p:cNvPr id="13" name="Submit card"/>
          <p:cNvSpPr/>
          <p:nvPr/>
        </p:nvSpPr>
        <p:spPr>
          <a:xfrm>
            <a:off x="8158277" y="1325880"/>
            <a:ext cx="3484778" cy="3566160"/>
          </a:xfrm>
          <a:prstGeom prst="roundRect">
            <a:avLst>
              <a:gd name="adj" fmla="val 2099"/>
            </a:avLst>
          </a:prstGeom>
          <a:solidFill>
            <a:schemeClr val="bg2"/>
          </a:solidFill>
          <a:ln w="12700">
            <a:solidFill>
              <a:schemeClr val="bg2"/>
            </a:solidFill>
            <a:prstDash val="solid"/>
          </a:ln>
        </p:spPr>
      </p:sp>
      <p:sp>
        <p:nvSpPr>
          <p:cNvPr id="14" name="Submit circle"/>
          <p:cNvSpPr/>
          <p:nvPr/>
        </p:nvSpPr>
        <p:spPr>
          <a:xfrm>
            <a:off x="8432597" y="1554480"/>
            <a:ext cx="566928" cy="566928"/>
          </a:xfrm>
          <a:prstGeom prst="ellipse">
            <a:avLst/>
          </a:prstGeom>
          <a:solidFill>
            <a:schemeClr val="accent1"/>
          </a:solidFill>
          <a:ln w="12700">
            <a:solidFill>
              <a:schemeClr val="accent1"/>
            </a:solidFill>
            <a:prstDash val="solid"/>
          </a:ln>
        </p:spPr>
      </p:sp>
      <p:pic>
        <p:nvPicPr>
          <p:cNvPr id="15" name="Submit icon" descr="Submit">    </p:cNvPr>
          <p:cNvPicPr>
            <a:picLocks noChangeAspect="1"/>
          </p:cNvPicPr>
          <p:nvPr/>
        </p:nvPicPr>
        <p:blipFill>
          <a:blip r:embed="rId3"/>
          <a:stretch>
            <a:fillRect/>
          </a:stretch>
        </p:blipFill>
        <p:spPr>
          <a:xfrm>
            <a:off x="8574329" y="1696212"/>
            <a:ext cx="283464" cy="283464"/>
          </a:xfrm>
          <a:prstGeom prst="rect">
            <a:avLst/>
          </a:prstGeom>
        </p:spPr>
      </p:pic>
      <p:sp>
        <p:nvSpPr>
          <p:cNvPr id="16" name="Text 11"/>
          <p:cNvSpPr txBox="1"/>
          <p:nvPr/>
        </p:nvSpPr>
        <p:spPr>
          <a:xfrm>
            <a:off x="9164117" y="1572768"/>
            <a:ext cx="2296058" cy="5486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Submit</a:t>
            </a:r>
            <a:endParaRPr lang="en-US" sz="1800" dirty="0"/>
          </a:p>
        </p:txBody>
      </p:sp>
      <p:sp>
        <p:nvSpPr>
          <p:cNvPr id="17" name="Text 12"/>
          <p:cNvSpPr txBox="1"/>
          <p:nvPr/>
        </p:nvSpPr>
        <p:spPr>
          <a:xfrm>
            <a:off x="8432597" y="2377440"/>
            <a:ext cx="2981858"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Run pixi run test and pixi run compare on the final commit</a:t>
            </a:r>
            <a:endParaRPr lang="en-US" sz="1400" dirty="0"/>
          </a:p>
          <a:p>
            <a:pPr marL="342900" indent="-342900">
              <a:spcAft>
                <a:spcPts val="800"/>
              </a:spcAft>
              <a:buSzPct val="100000"/>
              <a:buChar char="•"/>
            </a:pPr>
            <a:r>
              <a:rPr lang="en-US" sz="1400" dirty="0">
                <a:solidFill>
                  <a:schemeClr val="tx1"/>
                </a:solidFill>
              </a:rPr>
              <a:t>Push to GitHub and submit the repo link, commit hash and video link</a:t>
            </a:r>
            <a:endParaRPr lang="en-US" sz="1400" dirty="0"/>
          </a:p>
        </p:txBody>
      </p:sp>
      <p:sp>
        <p:nvSpPr>
          <p:cNvPr id="18" name="Text 13"/>
          <p:cNvSpPr txBox="1"/>
          <p:nvPr/>
        </p:nvSpPr>
        <p:spPr>
          <a:xfrm>
            <a:off x="548640" y="5120640"/>
            <a:ext cx="11094415" cy="457200"/>
          </a:xfrm>
          <a:prstGeom prst="rect">
            <a:avLst/>
          </a:prstGeom>
          <a:noFill/>
          <a:ln/>
        </p:spPr>
        <p:txBody>
          <a:bodyPr wrap="square" lIns="0" tIns="0" rIns="0" bIns="0" rtlCol="0" anchor="t"/>
          <a:lstStyle/>
          <a:p>
            <a:pPr indent="0" marL="0">
              <a:buNone/>
            </a:pPr>
            <a:r>
              <a:rPr lang="en-US" sz="1300" dirty="0">
                <a:solidFill>
                  <a:schemeClr val="tx2"/>
                </a:solidFill>
              </a:rPr>
              <a:t>Optional: add a --cushion option to solve so a dispatcher can run the cushion plan directly. The default settings that the instructor runs would stay unchanged.</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Dispatch">
  <a:themeElements>
    <a:clrScheme name="Dispatch">
      <a:dk1>
        <a:srgbClr val="16212C"/>
      </a:dk1>
      <a:lt1>
        <a:srgbClr val="FFFFFF"/>
      </a:lt1>
      <a:dk2>
        <a:srgbClr val="3C4A59"/>
      </a:dk2>
      <a:lt2>
        <a:srgbClr val="EEF2F6"/>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Dispa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Delivery Routes: Progress Report</dc:title>
  <dc:subject>PptxGenJS Presentation</dc:subject>
  <dc:creator>OM 522 Team, Option 3</dc:creator>
  <cp:lastModifiedBy>OM 522 Team, Option 3</cp:lastModifiedBy>
  <cp:revision>1</cp:revision>
  <dcterms:created xsi:type="dcterms:W3CDTF">2026-10-27T01:12:57Z</dcterms:created>
  <dcterms:modified xsi:type="dcterms:W3CDTF">2026-10-27T01:12:57Z</dcterms:modified>
</cp:coreProperties>
</file>