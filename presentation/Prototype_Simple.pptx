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693ba98-4975-a238-f55d-fc3a25608283}">
          <p14:sldIdLst>
            <p14:sldId id="256"/>
            <p14:sldId id="257"/>
          </p14:sldIdLst>
        </p14:section>
        <p14:section name="Components" id="{d1928531-c0a0-4045-7c7f-bf4064b046ff}">
          <p14:sldIdLst>
            <p14:sldId id="258"/>
            <p14:sldId id="259"/>
            <p14:sldId id="260"/>
            <p14:sldId id="261"/>
          </p14:sldIdLst>
        </p14:section>
        <p14:section name="Results" id="{08eed7ad-d988-d98a-4a94-89a61554f416}">
          <p14:sldIdLst>
            <p14:sldId id="262"/>
            <p14:sldId id="263"/>
            <p14:sldId id="264"/>
          </p14:sldIdLst>
        </p14:section>
        <p14:section name="Next" id="{78e56d08-ab5b-bded-3ded-b67873a4cf9b}">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4213D"/>
                </a:solidFill>
                <a:latin typeface="+mn-lt"/>
              </a:defRPr>
            </a:pPr>
            <a:r>
              <a:rPr sz="1200" b="0" i="0" u="none" strike="noStrike">
                <a:solidFill>
                  <a:srgbClr val="14213D"/>
                </a:solidFill>
                <a:latin typeface="+mn-lt"/>
              </a:rPr>
              <a:t>Travel saved by LNS (%)</a:t>
            </a:r>
          </a:p>
        </c:rich>
      </c:tx>
      <c:layout/>
      <c:overlay val="0"/>
    </c:title>
    <c:autoTitleDeleted val="0"/>
    <c:plotArea>
      <c:layout/>
      <c:barChart>
        <c:barDir val="bar"/>
        <c:grouping val="clustered"/>
        <c:varyColors val="0"/>
        <c:ser>
          <c:idx val="0"/>
          <c:order val="0"/>
          <c:tx>
            <c:strRef>
              <c:f>Sheet1!$B$1</c:f>
              <c:strCache>
                <c:ptCount val="1"/>
                <c:pt idx="0">
                  <c:v>Travel saved</c:v>
                </c:pt>
              </c:strCache>
            </c:strRef>
          </c:tx>
          <c:spPr>
            <a:solidFill>
              <a:srgbClr val="0E7C86"/>
            </a:solidFill>
            <a:effectLst/>
          </c:spPr>
          <c:invertIfNegative val="0"/>
          <c:dLbls>
            <c:numFmt formatCode="0.0" sourceLinked="0"/>
            <c:txPr>
              <a:bodyPr/>
              <a:lstStyle/>
              <a:p>
                <a:pPr>
                  <a:defRPr b="0" i="0" strike="noStrike" sz="1100" u="none">
                    <a:solidFill>
                      <a:srgbClr val="14213D"/>
                    </a:solidFill>
                    <a:latin typeface="+mn-lt"/>
                  </a:defRPr>
                </a:pPr>
              </a:p>
            </c:txPr>
            <c:showLegendKey val="0"/>
            <c:showVal val="1"/>
            <c:showCatName val="0"/>
            <c:showSerName val="0"/>
            <c:showPercent val="0"/>
            <c:showBubbleSize val="0"/>
            <c:showLeaderLines val="0"/>
          </c:dLbls>
          <c:cat>
            <c:multiLvlStrRef>
              <c:f>Sheet1!$A$2:$A$5</c:f>
              <c:multiLvlStrCache>
                <c:ptCount val="4"/>
                <c:lvl>
                  <c:pt idx="0">
                    <c:v>Hand</c:v>
                  </c:pt>
                  <c:pt idx="1">
                    <c:v>Small</c:v>
                  </c:pt>
                  <c:pt idx="2">
                    <c:v>Medium</c:v>
                  </c:pt>
                  <c:pt idx="3">
                    <c:v>Large</c:v>
                  </c:pt>
                </c:lvl>
              </c:multiLvlStrCache>
            </c:multiLvlStrRef>
          </c:cat>
          <c:val>
            <c:numRef>
              <c:f>Sheet1!$B$2:$B$5</c:f>
              <c:numCache>
                <c:formatCode>General</c:formatCode>
                <c:ptCount val="4"/>
                <c:pt idx="0">
                  <c:v>6.5</c:v>
                </c:pt>
                <c:pt idx="1">
                  <c:v>26</c:v>
                </c:pt>
                <c:pt idx="2">
                  <c:v>38.2</c:v>
                </c:pt>
                <c:pt idx="3">
                  <c:v>39.4</c:v>
                </c:pt>
              </c:numCache>
            </c:numRef>
          </c:val>
        </c:ser>
        <c:dLbls>
          <c:numFmt formatCode="0.0" sourceLinked="0"/>
          <c:txPr>
            <a:bodyPr/>
            <a:lstStyle/>
            <a:p>
              <a:pPr>
                <a:defRPr b="0" i="0" strike="noStrike" sz="1100" u="none">
                  <a:solidFill>
                    <a:srgbClr val="14213D"/>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4A5868"/>
                </a:solidFill>
                <a:latin typeface="+mn-lt"/>
              </a:defRPr>
            </a:pPr>
            <a:endParaRPr lang="en-US"/>
          </a:p>
        </c:txPr>
        <c:crossAx val="2094734552"/>
        <c:crosses val="autoZero"/>
        <c:auto val="1"/>
        <c:lblAlgn val="ctr"/>
        <c:noMultiLvlLbl val="1"/>
      </c:catAx>
      <c:valAx>
        <c:axId val="2094734552"/>
        <c:scaling>
          <c:orientation val="minMax"/>
          <c:max val="5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A | 0:10
ON SCREEN: Title slide. Replace A, B, and C with your names before recording.
SAY, IN YOUR OWN WORDS:
We are [names], and this is our prototype for option 3: planning delivery routes. The map on the right is an actual plan our tool produced.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A | 0:35
ON SCREEN: The decision slide. Say this in your own words; do not read every line.
SAY, IN YOUR OWN WORDS:
Every morning, a dispatcher assigns customers to delivery trucks and chooses the stop order. Our tool reads the day's files and produces a feasible plan with low total travel time. Every customer must be served once, and service must start inside the customer's time window; arriving early means waiting. Trucks have capacity limits and shifts and must return to the depot. We compare two methods on the same data. Travel minutes are the main measure; we also report trucks used and computation time. Travel does not include waiting or service. The map shows one real day's plan: each color is one truck.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A | 1:05
ON SCREEN: Read each orange line out loud as you point to the code above it. The bad-file output is shown again in the live demo.
SAY, IN YOUR OWN WORDS:
My component is the input reader. It reads four CSV files: the depot, customers, vehicles, and travel times. Before solving, it checks required files and columns, value types, that every ID exists, and that service times are positive. Line 73 reads the file but keeps every value as plain text. Line 77 asks whether a column we need is missing, and line 78 stops the program and names the exact file and column. The AI's first draft let Polars guess the types, so a bad input crashed with an unhelpful message. We checked this with a copied file with window_end deleted. The tool names customers.csv and window_end, exits with a nonzero code, and writes no decision.json. The instructor's original files are never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B | 1:10
ON SCREEN: Read each orange line out loud as you point to the code above it. If asked: T[current][c] is the travel time from where the truck is now to customer c.
SAY, IN YOUR OWN WORDS:
My component is the next-stop choice in the required rule. It takes trucks in ID order. For each truck, it looks at every customer not yet served. Lines 25 and 26 skip a customer who will not fit in the truck; a few lines below, the code skips customers the same way if the truck would miss their time window or could not get back before its shift ends. Line 33 ranks the customers that are left by travel time from where the truck is now, and a tie goes to the lower customer ID. The unclear point was what "nearest" means: travel time, not arrival time including waiting. We checked against the instructor's six-customer worked example. Our rule reproduces the visit order and 352.417 travel minutes with two trucks, and that is a required automated test. The rule is fast, but its early choices leave poor leftovers for the last trucks.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B | 1:00
ON SCREEN: Walk left to right through the four cards, then point to the orange band. No formulas are needed.
SAY, IN YOUR OWN WORDS:
Our second method is large neighborhood search, or LNS, adapted from published research by Ropke and Pisinger. A route is just an ordered list of customers for one truck. First, build two starting plans, the rule's plan and an insertion plan that places the hardest-to-fit customers first, and keep the better one. Then improve it with small moves that cut travel without breaking any window. Next, remove a few customers, insert them again where they fit best, and tidy up. Occasionally accept a worse draft to escape a dead end, but always keep the best feasible plan seen. Steps three and four repeat 8,000 times: that iteration count is our stopping rule, with seed 522 so every run gives the same answer, and a 480-second cap only as a safety net. It is a heuristic, so it does not guarantee the best possible answer on every new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C | 1:05
ON SCREEN: Read each orange line out loud as you point to the code above it. If asked: TOL is a tiny allowance (0.00000001 minutes) so rounding in the last decimal place is not counted as late; the instructor's checker uses the same allowance.
SAY, IN YOUR OWN WORDS:
My component is the independent checker. It reads only the input files and the exported list of visits, and recalculates every route itself. It does not import either solver. Line 62 works out the arrival time: the time we left plus the drive. Line 63 says if we arrive early, we wait until the window opens. Line 65 records a violation if service starts after the window closes. It also checks that every customer appears exactly once, capacity, and the return time. The unclear point was whether to trust the arrival times the solver writes. We do not. We tested the checker by reversing one worked-example route and dropping customer C006: it reports the late service and the missing customer, as shown at the bottom. All 37 project tests pass. Passing tests is evidence, not a promise that no bug is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A, then C | 1:45
ON SCREEN: Switch to a large-font terminal in om522-vrptw. Run "pixi run prototype-demo", then "pixi run prototype-demo --checks-only". The slide's terminal is a summary of what you will see; the real output has more lines. Point, do not read JSON aloud. Do not quote a runtime unless the run actually shows it.
SAY, IN YOUR OWN WORDS:
A: I am running our documented demo command. It makes a new copy of the supplied medium input and runs the same solver command as pixi run solve. This new path is the fresh input. The rule gives about 1,683.4 travel minutes and 11 trucks. While the LNS runs, remember its steps: build, improve, remove and reinsert, keep the best.
C: The independent checker confirms both decisions: feasible is true and all 45 customers are served. The LNS result is about 1,040.7 minutes and eight trucks; its actual runtime and stopping status are here. This folder holds the real decision.json and summary.json, and this line previews an actual truck route. Now the checks-only command shows the missing-column rejection, the infeasible edge case, the 352.417 worked example, the checker catching our broken plan, and the automated tests passing.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B | 0:30
ON SCREEN: Point at the left map's long criss-crossing lines, then at the right map's compact loops.
SAY, IN YOUR OWN WORDS:
Here are both plans on the same 45 customers. Each color is one truck. The rule fills one truck at a time, so the last trucks pick up scattered leftovers: you can see the long lines crossing the map. The LNS plan uses tighter loops: 642.7 fewer travel minutes, 38 percent less, and three fewer trucks. Both plans pass the independent checker.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B | 0:40
ON SCREEN: You already explained the medium row on the map slide; here point to the overall pattern and the timing column.
SAY, IN YOUR OWN WORDS:
This is our initial comparison on the four supplied cases, using the same files and measures for both methods. We report travel, trucks, and runtime, and every one of these eight plans passes the independent checker. The LNS saves between 6.5 percent on the six-customer case and about 39 percent on the 120-customer case, and uses fewer trucks on the three larger cases. The cost is seconds of planning instead of an almost instant rule, at most about 28 seconds here. These timings are from saved runs on the listed laptop. These are synthetic cases, so we do not claim the savings always grow with size or apply to every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C | 0:45
ON SCREEN: Name travel times clearly. Do not add the full stress-test results or the experimental hybrid here.
SAY, IN YOUR OWN WORDS:
For the prototype, the LNS is our method: it saves substantial travel and trucks on the supplied cases, at the cost of a short planning run. For the final, our uncertain input is travel times. We will generate 30 traffic scenarios from a fixed seed and save them first, then run both medium plans unchanged on the same scenarios. We will report travel, trucks, and late service or late returns. Our limitation is that a plan that is on time with today's travel table can become late in traffic, and we will test that before making a stronger recommendation. Our README names the AI tools we used.
OPTIONAL CHANGE EXPLANATION (about 25 seconds; only if time permits):
Claude drafted the original routing tool. Codex independently reviewed it, tested alternative methods, and simplified our demonstration. One alternative saved more travel but caused more lateness in simulated traffic, so we kept the existing solver for the prototype.
BEFORE SUBMITTING (not for the video): submit the repository URL, the exact commit hash shown, and an unlisted YouTube link viewable without an access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4572000" cy="137160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6949440" cy="566928"/>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6949440" cy="566928"/>
          </a:xfrm>
          <a:prstGeom prst="rect">
            <a:avLst/>
          </a:prstGeom>
          <a:noFill/>
          <a:ln/>
        </p:spPr>
        <p:txBody>
          <a:bodyPr wrap="square" rtlCol="0"/>
          <a:lstStyle>
            <a:lvl1pPr algn="l" indent="0" marL="0">
              <a:buNone/>
              <a:defRPr lang="en-US" sz="2800" b="1" dirty="0">
                <a:solidFill>
                  <a:schemeClr val="bg1"/>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icker"/>
          <p:cNvSpPr txBox="1"/>
          <p:nvPr/>
        </p:nvSpPr>
        <p:spPr>
          <a:xfrm>
            <a:off x="548640" y="1005840"/>
            <a:ext cx="4572000" cy="274320"/>
          </a:xfrm>
          <a:prstGeom prst="rect">
            <a:avLst/>
          </a:prstGeom>
          <a:noFill/>
          <a:ln/>
        </p:spPr>
        <p:txBody>
          <a:bodyPr wrap="square" lIns="0" tIns="0" rIns="0" bIns="0" rtlCol="0" anchor="ctr"/>
          <a:lstStyle/>
          <a:p>
            <a:pPr indent="0" marL="0">
              <a:buNone/>
            </a:pPr>
            <a:r>
              <a:rPr lang="en-US" sz="1300" b="1" spc="200" kern="0" dirty="0">
                <a:solidFill>
                  <a:schemeClr val="accent2"/>
                </a:solidFill>
              </a:rPr>
              <a:t>OM 522  ·  OPTION 3  ·  PROTOTYPE</a:t>
            </a:r>
            <a:endParaRPr lang="en-US" sz="1300" dirty="0"/>
          </a:p>
        </p:txBody>
      </p:sp>
      <p:sp>
        <p:nvSpPr>
          <p:cNvPr id="3" name="Text 0"/>
          <p:cNvSpPr/>
          <p:nvPr>
            <p:ph idx="100" type="title" hasCustomPrompt="1"/>
          </p:nvPr>
        </p:nvSpPr>
        <p:spPr>
          <a:xfrm>
            <a:off x="548640" y="1417320"/>
            <a:ext cx="4572000" cy="1371600"/>
          </a:xfrm>
          <a:prstGeom prst="rect">
            <a:avLst/>
          </a:prstGeom>
          <a:noFill/>
          <a:ln/>
        </p:spPr>
        <p:txBody>
          <a:bodyPr wrap="square" lIns="0" tIns="0" rIns="0" bIns="0" rtlCol="0" anchor="t"/>
          <a:lstStyle/>
          <a:p>
            <a:pPr algn="l" indent="0" marL="0">
              <a:buNone/>
            </a:pPr>
            <a:r>
              <a:rPr lang="en-US" sz="4400" b="1" dirty="0">
                <a:solidFill>
                  <a:schemeClr val="bg1"/>
                </a:solidFill>
              </a:rPr>
              <a:t>Planning delivery routes</a:t>
            </a:r>
            <a:endParaRPr lang="en-US" sz="4400" dirty="0"/>
          </a:p>
        </p:txBody>
      </p:sp>
      <p:sp>
        <p:nvSpPr>
          <p:cNvPr id="4" name="Subtitle"/>
          <p:cNvSpPr txBox="1"/>
          <p:nvPr/>
        </p:nvSpPr>
        <p:spPr>
          <a:xfrm>
            <a:off x="548640" y="3017520"/>
            <a:ext cx="4480560" cy="640080"/>
          </a:xfrm>
          <a:prstGeom prst="rect">
            <a:avLst/>
          </a:prstGeom>
          <a:noFill/>
          <a:ln/>
        </p:spPr>
        <p:txBody>
          <a:bodyPr wrap="square" lIns="0" tIns="0" rIns="0" bIns="0" rtlCol="0" anchor="t"/>
          <a:lstStyle/>
          <a:p>
            <a:pPr indent="0" marL="0">
              <a:buNone/>
            </a:pPr>
            <a:r>
              <a:rPr lang="en-US" sz="1800" dirty="0">
                <a:solidFill>
                  <a:schemeClr val="bg2"/>
                </a:solidFill>
              </a:rPr>
              <a:t>Which truck serves which customers, and in what order</a:t>
            </a:r>
            <a:endParaRPr lang="en-US" sz="1800" dirty="0"/>
          </a:p>
        </p:txBody>
      </p:sp>
      <p:sp>
        <p:nvSpPr>
          <p:cNvPr id="5" name="Presenters"/>
          <p:cNvSpPr txBox="1"/>
          <p:nvPr/>
        </p:nvSpPr>
        <p:spPr>
          <a:xfrm>
            <a:off x="548640" y="4069080"/>
            <a:ext cx="4480560" cy="320040"/>
          </a:xfrm>
          <a:prstGeom prst="rect">
            <a:avLst/>
          </a:prstGeom>
          <a:noFill/>
          <a:ln/>
        </p:spPr>
        <p:txBody>
          <a:bodyPr wrap="square" lIns="0" tIns="0" rIns="0" bIns="0" rtlCol="0" anchor="ctr"/>
          <a:lstStyle/>
          <a:p>
            <a:pPr indent="0" marL="0">
              <a:buNone/>
            </a:pPr>
            <a:r>
              <a:rPr lang="en-US" sz="1400" dirty="0">
                <a:solidFill>
                  <a:schemeClr val="accent6"/>
                </a:solidFill>
              </a:rPr>
              <a:t>Presenters: A  ·  B  ·  C</a:t>
            </a:r>
            <a:endParaRPr lang="en-US" sz="1400" dirty="0"/>
          </a:p>
        </p:txBody>
      </p:sp>
      <p:pic>
        <p:nvPicPr>
          <p:cNvPr id="6" name="Title route map" descr="Route map: the LNS plan for 45 customers using 8 trucks">    </p:cNvPr>
          <p:cNvPicPr>
            <a:picLocks noChangeAspect="1"/>
          </p:cNvPicPr>
          <p:nvPr/>
        </p:nvPicPr>
        <p:blipFill>
          <a:blip r:embed="rId1"/>
          <a:srcRect l="0" r="0" t="0" b="0"/>
          <a:stretch/>
        </p:blipFill>
        <p:spPr>
          <a:xfrm>
            <a:off x="5074920" y="411480"/>
            <a:ext cx="3657600" cy="3657600"/>
          </a:xfrm>
          <a:prstGeom prst="rect">
            <a:avLst/>
          </a:prstGeom>
        </p:spPr>
      </p:pic>
      <p:sp>
        <p:nvSpPr>
          <p:cNvPr id="7" name="Map caption"/>
          <p:cNvSpPr txBox="1"/>
          <p:nvPr/>
        </p:nvSpPr>
        <p:spPr>
          <a:xfrm>
            <a:off x="5074920" y="4206240"/>
            <a:ext cx="3657600" cy="274320"/>
          </a:xfrm>
          <a:prstGeom prst="rect">
            <a:avLst/>
          </a:prstGeom>
          <a:noFill/>
          <a:ln/>
        </p:spPr>
        <p:txBody>
          <a:bodyPr wrap="square" lIns="0" tIns="0" rIns="0" bIns="0" rtlCol="0" anchor="ctr"/>
          <a:lstStyle/>
          <a:p>
            <a:pPr algn="ctr" indent="0" marL="0">
              <a:buNone/>
            </a:pPr>
            <a:r>
              <a:rPr lang="en-US" sz="1100" i="1" dirty="0">
                <a:solidFill>
                  <a:schemeClr val="accent6"/>
                </a:solidFill>
              </a:rPr>
              <a:t>A real plan from our tool: 45 customers, 8 trucks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6949440" cy="566928"/>
          </a:xfrm>
          <a:prstGeom prst="rect">
            <a:avLst/>
          </a:prstGeom>
          <a:noFill/>
          <a:ln/>
        </p:spPr>
        <p:txBody>
          <a:bodyPr wrap="square" lIns="0" tIns="0" rIns="0" bIns="0" rtlCol="0" anchor="ctr"/>
          <a:lstStyle/>
          <a:p>
            <a:pPr algn="l" indent="0" marL="0">
              <a:buNone/>
            </a:pPr>
            <a:r>
              <a:rPr lang="en-US" sz="2800" b="1" dirty="0">
                <a:solidFill>
                  <a:schemeClr val="tx1"/>
                </a:solidFill>
              </a:rPr>
              <a:t>The decision we automate</a:t>
            </a:r>
            <a:endParaRPr lang="en-US" sz="2800" dirty="0"/>
          </a:p>
        </p:txBody>
      </p:sp>
      <p:sp>
        <p:nvSpPr>
          <p:cNvPr id="3" name="Presenter tag"/>
          <p:cNvSpPr txBox="1"/>
          <p:nvPr/>
        </p:nvSpPr>
        <p:spPr>
          <a:xfrm>
            <a:off x="7452360" y="411480"/>
            <a:ext cx="1234440" cy="329184"/>
          </a:xfrm>
          <a:prstGeom prst="roundRect">
            <a:avLst>
              <a:gd name="adj" fmla="val 50000"/>
            </a:avLst>
          </a:prstGeom>
          <a:solidFill>
            <a:schemeClr val="accent2"/>
          </a:solidFill>
          <a:ln/>
        </p:spPr>
        <p:txBody>
          <a:bodyPr wrap="square" lIns="0" tIns="0" rIns="0" bIns="0" rtlCol="0" anchor="ctr"/>
          <a:lstStyle/>
          <a:p>
            <a:pPr algn="ctr" indent="0" marL="0">
              <a:buNone/>
            </a:pPr>
            <a:r>
              <a:rPr lang="en-US" sz="1100" b="1" dirty="0">
                <a:solidFill>
                  <a:schemeClr val="tx1"/>
                </a:solidFill>
              </a:rPr>
              <a:t>Presenter A</a:t>
            </a:r>
            <a:endParaRPr lang="en-US" sz="1100" dirty="0"/>
          </a:p>
        </p:txBody>
      </p:sp>
      <p:sp>
        <p:nvSpPr>
          <p:cNvPr id="4" name="Lead"/>
          <p:cNvSpPr txBox="1"/>
          <p:nvPr/>
        </p:nvSpPr>
        <p:spPr>
          <a:xfrm>
            <a:off x="457200" y="1024128"/>
            <a:ext cx="4572000" cy="566928"/>
          </a:xfrm>
          <a:prstGeom prst="rect">
            <a:avLst/>
          </a:prstGeom>
          <a:noFill/>
          <a:ln/>
        </p:spPr>
        <p:txBody>
          <a:bodyPr wrap="square" lIns="0" tIns="0" rIns="0" bIns="0" rtlCol="0" anchor="t"/>
          <a:lstStyle/>
          <a:p>
            <a:pPr indent="0" marL="0">
              <a:buNone/>
            </a:pPr>
            <a:r>
              <a:rPr lang="en-US" sz="1600" dirty="0">
                <a:solidFill>
                  <a:schemeClr val="tx2"/>
                </a:solidFill>
              </a:rPr>
              <a:t>Every morning a dispatcher turns four data files into the day's delivery routes.</a:t>
            </a:r>
            <a:endParaRPr lang="en-US" sz="1600" dirty="0"/>
          </a:p>
        </p:txBody>
      </p:sp>
      <p:sp>
        <p:nvSpPr>
          <p:cNvPr id="5" name="Point 1 badge"/>
          <p:cNvSpPr txBox="1"/>
          <p:nvPr/>
        </p:nvSpPr>
        <p:spPr>
          <a:xfrm>
            <a:off x="457200" y="1783080"/>
            <a:ext cx="457200" cy="45720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Point 1 heading"/>
          <p:cNvSpPr txBox="1"/>
          <p:nvPr/>
        </p:nvSpPr>
        <p:spPr>
          <a:xfrm>
            <a:off x="1097280" y="1764792"/>
            <a:ext cx="3931920" cy="310896"/>
          </a:xfrm>
          <a:prstGeom prst="rect">
            <a:avLst/>
          </a:prstGeom>
          <a:noFill/>
          <a:ln/>
        </p:spPr>
        <p:txBody>
          <a:bodyPr wrap="square" lIns="0" tIns="0" rIns="0" bIns="0" rtlCol="0" anchor="ctr"/>
          <a:lstStyle/>
          <a:p>
            <a:pPr indent="0" marL="0">
              <a:buNone/>
            </a:pPr>
            <a:r>
              <a:rPr lang="en-US" sz="1700" b="1" dirty="0">
                <a:solidFill>
                  <a:schemeClr val="tx1"/>
                </a:solidFill>
              </a:rPr>
              <a:t>Serve every customer once</a:t>
            </a:r>
            <a:endParaRPr lang="en-US" sz="1700" dirty="0"/>
          </a:p>
        </p:txBody>
      </p:sp>
      <p:sp>
        <p:nvSpPr>
          <p:cNvPr id="7" name="Point 1 text"/>
          <p:cNvSpPr txBox="1"/>
          <p:nvPr/>
        </p:nvSpPr>
        <p:spPr>
          <a:xfrm>
            <a:off x="1097280" y="2093976"/>
            <a:ext cx="3931920" cy="502920"/>
          </a:xfrm>
          <a:prstGeom prst="rect">
            <a:avLst/>
          </a:prstGeom>
          <a:noFill/>
          <a:ln/>
        </p:spPr>
        <p:txBody>
          <a:bodyPr wrap="square" lIns="0" tIns="0" rIns="0" bIns="0" rtlCol="0" anchor="t"/>
          <a:lstStyle/>
          <a:p>
            <a:pPr indent="0" marL="0">
              <a:buNone/>
            </a:pPr>
            <a:r>
              <a:rPr lang="en-US" sz="1400" dirty="0">
                <a:solidFill>
                  <a:schemeClr val="tx2"/>
                </a:solidFill>
              </a:rPr>
              <a:t>Service must start inside the customer's time window. Arriving early means waiting.</a:t>
            </a:r>
            <a:endParaRPr lang="en-US" sz="1400" dirty="0"/>
          </a:p>
        </p:txBody>
      </p:sp>
      <p:sp>
        <p:nvSpPr>
          <p:cNvPr id="8" name="Point 2 badge"/>
          <p:cNvSpPr txBox="1"/>
          <p:nvPr/>
        </p:nvSpPr>
        <p:spPr>
          <a:xfrm>
            <a:off x="457200" y="2743200"/>
            <a:ext cx="457200" cy="45720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9" name="Point 2 heading"/>
          <p:cNvSpPr txBox="1"/>
          <p:nvPr/>
        </p:nvSpPr>
        <p:spPr>
          <a:xfrm>
            <a:off x="1097280" y="2724912"/>
            <a:ext cx="3931920" cy="310896"/>
          </a:xfrm>
          <a:prstGeom prst="rect">
            <a:avLst/>
          </a:prstGeom>
          <a:noFill/>
          <a:ln/>
        </p:spPr>
        <p:txBody>
          <a:bodyPr wrap="square" lIns="0" tIns="0" rIns="0" bIns="0" rtlCol="0" anchor="ctr"/>
          <a:lstStyle/>
          <a:p>
            <a:pPr indent="0" marL="0">
              <a:buNone/>
            </a:pPr>
            <a:r>
              <a:rPr lang="en-US" sz="1700" b="1" dirty="0">
                <a:solidFill>
                  <a:schemeClr val="tx1"/>
                </a:solidFill>
              </a:rPr>
              <a:t>Respect every truck</a:t>
            </a:r>
            <a:endParaRPr lang="en-US" sz="1700" dirty="0"/>
          </a:p>
        </p:txBody>
      </p:sp>
      <p:sp>
        <p:nvSpPr>
          <p:cNvPr id="10" name="Point 2 text"/>
          <p:cNvSpPr txBox="1"/>
          <p:nvPr/>
        </p:nvSpPr>
        <p:spPr>
          <a:xfrm>
            <a:off x="1097280" y="3054096"/>
            <a:ext cx="3931920" cy="502920"/>
          </a:xfrm>
          <a:prstGeom prst="rect">
            <a:avLst/>
          </a:prstGeom>
          <a:noFill/>
          <a:ln/>
        </p:spPr>
        <p:txBody>
          <a:bodyPr wrap="square" lIns="0" tIns="0" rIns="0" bIns="0" rtlCol="0" anchor="t"/>
          <a:lstStyle/>
          <a:p>
            <a:pPr indent="0" marL="0">
              <a:buNone/>
            </a:pPr>
            <a:r>
              <a:rPr lang="en-US" sz="1400" dirty="0">
                <a:solidFill>
                  <a:schemeClr val="tx2"/>
                </a:solidFill>
              </a:rPr>
              <a:t>Load capacity and shift end; each route starts and ends at the depot.</a:t>
            </a:r>
            <a:endParaRPr lang="en-US" sz="1400" dirty="0"/>
          </a:p>
        </p:txBody>
      </p:sp>
      <p:sp>
        <p:nvSpPr>
          <p:cNvPr id="11" name="Point 3 badge"/>
          <p:cNvSpPr txBox="1"/>
          <p:nvPr/>
        </p:nvSpPr>
        <p:spPr>
          <a:xfrm>
            <a:off x="457200" y="3703320"/>
            <a:ext cx="457200" cy="457200"/>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12" name="Point 3 heading"/>
          <p:cNvSpPr txBox="1"/>
          <p:nvPr/>
        </p:nvSpPr>
        <p:spPr>
          <a:xfrm>
            <a:off x="1097280" y="3685032"/>
            <a:ext cx="3931920" cy="310896"/>
          </a:xfrm>
          <a:prstGeom prst="rect">
            <a:avLst/>
          </a:prstGeom>
          <a:noFill/>
          <a:ln/>
        </p:spPr>
        <p:txBody>
          <a:bodyPr wrap="square" lIns="0" tIns="0" rIns="0" bIns="0" rtlCol="0" anchor="ctr"/>
          <a:lstStyle/>
          <a:p>
            <a:pPr indent="0" marL="0">
              <a:buNone/>
            </a:pPr>
            <a:r>
              <a:rPr lang="en-US" sz="1700" b="1" dirty="0">
                <a:solidFill>
                  <a:schemeClr val="tx1"/>
                </a:solidFill>
              </a:rPr>
              <a:t>Minimize total travel minutes</a:t>
            </a:r>
            <a:endParaRPr lang="en-US" sz="1700" dirty="0"/>
          </a:p>
        </p:txBody>
      </p:sp>
      <p:sp>
        <p:nvSpPr>
          <p:cNvPr id="13" name="Point 3 text"/>
          <p:cNvSpPr txBox="1"/>
          <p:nvPr/>
        </p:nvSpPr>
        <p:spPr>
          <a:xfrm>
            <a:off x="1097280" y="4014216"/>
            <a:ext cx="3931920" cy="502920"/>
          </a:xfrm>
          <a:prstGeom prst="rect">
            <a:avLst/>
          </a:prstGeom>
          <a:noFill/>
          <a:ln/>
        </p:spPr>
        <p:txBody>
          <a:bodyPr wrap="square" lIns="0" tIns="0" rIns="0" bIns="0" rtlCol="0" anchor="t"/>
          <a:lstStyle/>
          <a:p>
            <a:pPr indent="0" marL="0">
              <a:buNone/>
            </a:pPr>
            <a:r>
              <a:rPr lang="en-US" sz="1400" dirty="0">
                <a:solidFill>
                  <a:schemeClr val="tx2"/>
                </a:solidFill>
              </a:rPr>
              <a:t>We also report trucks used and computation time.</a:t>
            </a:r>
            <a:endParaRPr lang="en-US" sz="1400" dirty="0"/>
          </a:p>
        </p:txBody>
      </p:sp>
      <p:sp>
        <p:nvSpPr>
          <p:cNvPr id="14" name="Map frame"/>
          <p:cNvSpPr/>
          <p:nvPr/>
        </p:nvSpPr>
        <p:spPr>
          <a:xfrm>
            <a:off x="5349240" y="1024128"/>
            <a:ext cx="3337560" cy="3611880"/>
          </a:xfrm>
          <a:prstGeom prst="roundRect">
            <a:avLst>
              <a:gd name="adj" fmla="val 2192"/>
            </a:avLst>
          </a:prstGeom>
          <a:solidFill>
            <a:schemeClr val="bg1"/>
          </a:solidFill>
          <a:ln w="12700">
            <a:solidFill>
              <a:schemeClr val="bg2"/>
            </a:solidFill>
            <a:prstDash val="solid"/>
          </a:ln>
          <a:effectLst>
            <a:outerShdw sx="100000" sy="100000" kx="0" ky="0" algn="bl" rotWithShape="0" blurRad="76200" dist="25400" dir="5400000">
              <a:srgbClr val="14213D">
                <a:alpha val="12000"/>
              </a:srgbClr>
            </a:outerShdw>
          </a:effectLst>
        </p:spPr>
      </p:sp>
      <p:pic>
        <p:nvPicPr>
          <p:cNvPr id="15" name="Decision route map" descr="Route map of one day's plan: depot in the middle, 45 customers, 8 colored truck routes">    </p:cNvPr>
          <p:cNvPicPr>
            <a:picLocks noChangeAspect="1"/>
          </p:cNvPicPr>
          <p:nvPr/>
        </p:nvPicPr>
        <p:blipFill>
          <a:blip r:embed="rId1"/>
          <a:srcRect l="0" r="0" t="0" b="0"/>
          <a:stretch/>
        </p:blipFill>
        <p:spPr>
          <a:xfrm>
            <a:off x="5486400" y="1115568"/>
            <a:ext cx="3063240" cy="3063240"/>
          </a:xfrm>
          <a:prstGeom prst="rect">
            <a:avLst/>
          </a:prstGeom>
        </p:spPr>
      </p:pic>
      <p:sp>
        <p:nvSpPr>
          <p:cNvPr id="16" name="Map legend"/>
          <p:cNvSpPr txBox="1"/>
          <p:nvPr/>
        </p:nvSpPr>
        <p:spPr>
          <a:xfrm>
            <a:off x="5486400" y="4224528"/>
            <a:ext cx="3063240" cy="274320"/>
          </a:xfrm>
          <a:prstGeom prst="rect">
            <a:avLst/>
          </a:prstGeom>
          <a:noFill/>
          <a:ln/>
        </p:spPr>
        <p:txBody>
          <a:bodyPr wrap="square" lIns="0" tIns="0" rIns="0" bIns="0" rtlCol="0" anchor="ctr"/>
          <a:lstStyle/>
          <a:p>
            <a:pPr algn="ctr" indent="0" marL="0">
              <a:buNone/>
            </a:pPr>
            <a:r>
              <a:rPr lang="en-US" sz="1100" dirty="0">
                <a:solidFill>
                  <a:schemeClr val="tx2"/>
                </a:solidFill>
              </a:rPr>
              <a:t>■ depot   ● customer   each color = one truck</a:t>
            </a:r>
            <a:endParaRPr lang="en-US" sz="11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6949440" cy="566928"/>
          </a:xfrm>
          <a:prstGeom prst="rect">
            <a:avLst/>
          </a:prstGeom>
          <a:noFill/>
          <a:ln/>
        </p:spPr>
        <p:txBody>
          <a:bodyPr wrap="square" lIns="0" tIns="0" rIns="0" bIns="0" rtlCol="0" anchor="ctr"/>
          <a:lstStyle/>
          <a:p>
            <a:pPr algn="l" indent="0" marL="0">
              <a:buNone/>
            </a:pPr>
            <a:r>
              <a:rPr lang="en-US" sz="2800" b="1" dirty="0">
                <a:solidFill>
                  <a:schemeClr val="tx1"/>
                </a:solidFill>
              </a:rPr>
              <a:t>Reject bad files before planning</a:t>
            </a:r>
            <a:endParaRPr lang="en-US" sz="2800" dirty="0"/>
          </a:p>
        </p:txBody>
      </p:sp>
      <p:sp>
        <p:nvSpPr>
          <p:cNvPr id="3" name="Presenter tag"/>
          <p:cNvSpPr txBox="1"/>
          <p:nvPr/>
        </p:nvSpPr>
        <p:spPr>
          <a:xfrm>
            <a:off x="7452360" y="411480"/>
            <a:ext cx="1234440" cy="329184"/>
          </a:xfrm>
          <a:prstGeom prst="roundRect">
            <a:avLst>
              <a:gd name="adj" fmla="val 50000"/>
            </a:avLst>
          </a:prstGeom>
          <a:solidFill>
            <a:schemeClr val="accent2"/>
          </a:solidFill>
          <a:ln/>
        </p:spPr>
        <p:txBody>
          <a:bodyPr wrap="square" lIns="0" tIns="0" rIns="0" bIns="0" rtlCol="0" anchor="ctr"/>
          <a:lstStyle/>
          <a:p>
            <a:pPr algn="ctr" indent="0" marL="0">
              <a:buNone/>
            </a:pPr>
            <a:r>
              <a:rPr lang="en-US" sz="1100" b="1" dirty="0">
                <a:solidFill>
                  <a:schemeClr val="tx1"/>
                </a:solidFill>
              </a:rPr>
              <a:t>Presenter A</a:t>
            </a:r>
            <a:endParaRPr lang="en-US" sz="1100" dirty="0"/>
          </a:p>
        </p:txBody>
      </p:sp>
      <p:sp>
        <p:nvSpPr>
          <p:cNvPr id="4" name="Code background"/>
          <p:cNvSpPr/>
          <p:nvPr/>
        </p:nvSpPr>
        <p:spPr>
          <a:xfrm>
            <a:off x="457200" y="1024128"/>
            <a:ext cx="8229600" cy="1572768"/>
          </a:xfrm>
          <a:prstGeom prst="roundRect">
            <a:avLst>
              <a:gd name="adj" fmla="val 4651"/>
            </a:avLst>
          </a:prstGeom>
          <a:solidFill>
            <a:schemeClr val="tx1"/>
          </a:solidFill>
          <a:ln w="12700">
            <a:solidFill>
              <a:schemeClr val="tx1"/>
            </a:solidFill>
            <a:prstDash val="solid"/>
          </a:ln>
        </p:spPr>
      </p:sp>
      <p:sp>
        <p:nvSpPr>
          <p:cNvPr id="5" name="Code excerpt"/>
          <p:cNvSpPr txBox="1"/>
          <p:nvPr/>
        </p:nvSpPr>
        <p:spPr>
          <a:xfrm>
            <a:off x="640080" y="1133856"/>
            <a:ext cx="7863840" cy="1353312"/>
          </a:xfrm>
          <a:prstGeom prst="rect">
            <a:avLst/>
          </a:prstGeom>
          <a:noFill/>
          <a:ln/>
        </p:spPr>
        <p:txBody>
          <a:bodyPr wrap="square" lIns="0" tIns="0" rIns="0" bIns="0" rtlCol="0" anchor="ctr"/>
          <a:lstStyle/>
          <a:p>
            <a:pPr indent="0" marL="0">
              <a:buNone/>
            </a:pPr>
            <a:r>
              <a:rPr lang="en-US" sz="1300" dirty="0">
                <a:solidFill>
                  <a:schemeClr val="accent6"/>
                </a:solidFill>
                <a:latin typeface="Consolas" pitchFamily="34" charset="0"/>
                <a:ea typeface="Consolas" pitchFamily="34" charset="-122"/>
                <a:cs typeface="Consolas" pitchFamily="34" charset="-120"/>
              </a:rPr>
              <a:t> 73  </a:t>
            </a:r>
            <a:pPr indent="0" marL="0">
              <a:buNone/>
            </a:pPr>
            <a:r>
              <a:rPr lang="en-US" sz="1300" dirty="0">
                <a:solidFill>
                  <a:schemeClr val="bg1"/>
                </a:solidFill>
                <a:latin typeface="Consolas" pitchFamily="34" charset="0"/>
                <a:ea typeface="Consolas" pitchFamily="34" charset="-122"/>
                <a:cs typeface="Consolas" pitchFamily="34" charset="-120"/>
              </a:rPr>
              <a:t>raw = pl.read_csv(file, infer_schema=False)</a:t>
            </a:r>
            <a:endParaRPr lang="en-US" sz="1300" dirty="0"/>
          </a:p>
          <a:p>
            <a:pPr indent="0" marL="0">
              <a:buNone/>
            </a:pPr>
            <a:r>
              <a:rPr lang="en-US" sz="1300" dirty="0">
                <a:solidFill>
                  <a:srgbClr val="000000"/>
                </a:solidFill>
                <a:latin typeface="Consolas" pitchFamily="34" charset="0"/>
                <a:ea typeface="Consolas" pitchFamily="34" charset="-122"/>
                <a:cs typeface="Consolas" pitchFamily="34" charset="-120"/>
              </a:rPr>
              <a:t>     </a:t>
            </a:r>
            <a:pPr indent="0" marL="0">
              <a:spcAft>
                <a:spcPts val="600"/>
              </a:spcAft>
              <a:buNone/>
            </a:pPr>
            <a:r>
              <a:rPr lang="en-US" sz="1300" i="1" dirty="0">
                <a:solidFill>
                  <a:schemeClr val="accent2"/>
                </a:solidFill>
              </a:rPr>
              <a:t>→ Read the file, but keep every value as plain text for now.</a:t>
            </a:r>
            <a:endParaRPr lang="en-US" sz="1300" dirty="0"/>
          </a:p>
          <a:p>
            <a:pPr indent="0" marL="0">
              <a:buNone/>
            </a:pPr>
            <a:r>
              <a:rPr lang="en-US" sz="1300" dirty="0">
                <a:solidFill>
                  <a:schemeClr val="accent6"/>
                </a:solidFill>
                <a:latin typeface="Consolas" pitchFamily="34" charset="0"/>
                <a:ea typeface="Consolas" pitchFamily="34" charset="-122"/>
                <a:cs typeface="Consolas" pitchFamily="34" charset="-120"/>
              </a:rPr>
              <a:t> 77  </a:t>
            </a:r>
            <a:pPr indent="0" marL="0">
              <a:buNone/>
            </a:pPr>
            <a:r>
              <a:rPr lang="en-US" sz="1300" dirty="0">
                <a:solidFill>
                  <a:schemeClr val="bg1"/>
                </a:solidFill>
                <a:latin typeface="Consolas" pitchFamily="34" charset="0"/>
                <a:ea typeface="Consolas" pitchFamily="34" charset="-122"/>
                <a:cs typeface="Consolas" pitchFamily="34" charset="-120"/>
              </a:rPr>
              <a:t>if column not in raw.columns:</a:t>
            </a:r>
            <a:endParaRPr lang="en-US" sz="1300" dirty="0"/>
          </a:p>
          <a:p>
            <a:pPr indent="0" marL="0">
              <a:buNone/>
            </a:pPr>
            <a:r>
              <a:rPr lang="en-US" sz="1300" dirty="0">
                <a:solidFill>
                  <a:srgbClr val="000000"/>
                </a:solidFill>
                <a:latin typeface="Consolas" pitchFamily="34" charset="0"/>
                <a:ea typeface="Consolas" pitchFamily="34" charset="-122"/>
                <a:cs typeface="Consolas" pitchFamily="34" charset="-120"/>
              </a:rPr>
              <a:t>     </a:t>
            </a:r>
            <a:pPr indent="0" marL="0">
              <a:spcAft>
                <a:spcPts val="600"/>
              </a:spcAft>
              <a:buNone/>
            </a:pPr>
            <a:r>
              <a:rPr lang="en-US" sz="1300" i="1" dirty="0">
                <a:solidFill>
                  <a:schemeClr val="accent2"/>
                </a:solidFill>
              </a:rPr>
              <a:t>→ Is a column we need missing?</a:t>
            </a:r>
            <a:endParaRPr lang="en-US" sz="1300" dirty="0"/>
          </a:p>
          <a:p>
            <a:pPr indent="0" marL="0">
              <a:buNone/>
            </a:pPr>
            <a:r>
              <a:rPr lang="en-US" sz="1300" dirty="0">
                <a:solidFill>
                  <a:schemeClr val="accent6"/>
                </a:solidFill>
                <a:latin typeface="Consolas" pitchFamily="34" charset="0"/>
                <a:ea typeface="Consolas" pitchFamily="34" charset="-122"/>
                <a:cs typeface="Consolas" pitchFamily="34" charset="-120"/>
              </a:rPr>
              <a:t> 78  </a:t>
            </a:r>
            <a:pPr indent="0" marL="0">
              <a:buNone/>
            </a:pPr>
            <a:r>
              <a:rPr lang="en-US" sz="1300" dirty="0">
                <a:solidFill>
                  <a:schemeClr val="bg1"/>
                </a:solidFill>
                <a:latin typeface="Consolas" pitchFamily="34" charset="0"/>
                <a:ea typeface="Consolas" pitchFamily="34" charset="-122"/>
                <a:cs typeface="Consolas" pitchFamily="34" charset="-120"/>
              </a:rPr>
              <a:t>    raise InputError(f"{name}: required column '{column}' is missing")</a:t>
            </a:r>
            <a:endParaRPr lang="en-US" sz="1300" dirty="0"/>
          </a:p>
          <a:p>
            <a:pPr indent="0" marL="0">
              <a:buNone/>
            </a:pPr>
            <a:r>
              <a:rPr lang="en-US" sz="1300" dirty="0">
                <a:solidFill>
                  <a:srgbClr val="000000"/>
                </a:solidFill>
                <a:latin typeface="Consolas" pitchFamily="34" charset="0"/>
                <a:ea typeface="Consolas" pitchFamily="34" charset="-122"/>
                <a:cs typeface="Consolas" pitchFamily="34" charset="-120"/>
              </a:rPr>
              <a:t>     </a:t>
            </a:r>
            <a:pPr indent="0" marL="0">
              <a:buNone/>
            </a:pPr>
            <a:r>
              <a:rPr lang="en-US" sz="1300" i="1" dirty="0">
                <a:solidFill>
                  <a:schemeClr val="accent2"/>
                </a:solidFill>
              </a:rPr>
              <a:t>→ Then stop, and say exactly which file and column.</a:t>
            </a:r>
            <a:endParaRPr lang="en-US" sz="1300" dirty="0"/>
          </a:p>
        </p:txBody>
      </p:sp>
      <p:sp>
        <p:nvSpPr>
          <p:cNvPr id="6" name="Code caption"/>
          <p:cNvSpPr txBox="1"/>
          <p:nvPr/>
        </p:nvSpPr>
        <p:spPr>
          <a:xfrm>
            <a:off x="457200" y="2633472"/>
            <a:ext cx="8229600" cy="219456"/>
          </a:xfrm>
          <a:prstGeom prst="rect">
            <a:avLst/>
          </a:prstGeom>
          <a:noFill/>
          <a:ln/>
        </p:spPr>
        <p:txBody>
          <a:bodyPr wrap="square" lIns="0" tIns="0" rIns="0" bIns="0" rtlCol="0" anchor="ctr"/>
          <a:lstStyle/>
          <a:p>
            <a:pPr indent="0" marL="0">
              <a:buNone/>
            </a:pPr>
            <a:r>
              <a:rPr lang="en-US" sz="1000" i="1" dirty="0">
                <a:solidFill>
                  <a:schemeClr val="tx2"/>
                </a:solidFill>
              </a:rPr>
              <a:t>src/vrptw/instance.py, 3 of its lines. The same file also checks types, IDs, and service times.</a:t>
            </a:r>
            <a:endParaRPr lang="en-US" sz="1000" dirty="0"/>
          </a:p>
        </p:txBody>
      </p:sp>
      <p:sp>
        <p:nvSpPr>
          <p:cNvPr id="7" name="What was unclear in the AI draft card"/>
          <p:cNvSpPr/>
          <p:nvPr/>
        </p:nvSpPr>
        <p:spPr>
          <a:xfrm>
            <a:off x="457200" y="2926080"/>
            <a:ext cx="3977640" cy="1078992"/>
          </a:xfrm>
          <a:prstGeom prst="roundRect">
            <a:avLst>
              <a:gd name="adj" fmla="val 6780"/>
            </a:avLst>
          </a:prstGeom>
          <a:solidFill>
            <a:schemeClr val="bg2"/>
          </a:solidFill>
          <a:ln w="12700">
            <a:solidFill>
              <a:schemeClr val="bg2"/>
            </a:solidFill>
            <a:prstDash val="solid"/>
          </a:ln>
          <a:effectLst>
            <a:outerShdw sx="100000" sy="100000" kx="0" ky="0" algn="bl" rotWithShape="0" blurRad="76200" dist="25400" dir="5400000">
              <a:srgbClr val="14213D">
                <a:alpha val="12000"/>
              </a:srgbClr>
            </a:outerShdw>
          </a:effectLst>
        </p:spPr>
      </p:sp>
      <p:sp>
        <p:nvSpPr>
          <p:cNvPr id="8" name="What was unclear in the AI draft icon"/>
          <p:cNvSpPr txBox="1"/>
          <p:nvPr/>
        </p:nvSpPr>
        <p:spPr>
          <a:xfrm>
            <a:off x="621792" y="3072384"/>
            <a:ext cx="347472" cy="347472"/>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9" name="What was unclear in the AI draft heading"/>
          <p:cNvSpPr txBox="1"/>
          <p:nvPr/>
        </p:nvSpPr>
        <p:spPr>
          <a:xfrm>
            <a:off x="1078992" y="3054096"/>
            <a:ext cx="3191256" cy="384048"/>
          </a:xfrm>
          <a:prstGeom prst="rect">
            <a:avLst/>
          </a:prstGeom>
          <a:noFill/>
          <a:ln/>
        </p:spPr>
        <p:txBody>
          <a:bodyPr wrap="square" lIns="0" tIns="0" rIns="0" bIns="0" rtlCol="0" anchor="ctr"/>
          <a:lstStyle/>
          <a:p>
            <a:pPr indent="0" marL="0">
              <a:buNone/>
            </a:pPr>
            <a:r>
              <a:rPr lang="en-US" sz="1500" b="1" dirty="0">
                <a:solidFill>
                  <a:schemeClr val="tx1"/>
                </a:solidFill>
              </a:rPr>
              <a:t>What was unclear in the AI draft</a:t>
            </a:r>
            <a:endParaRPr lang="en-US" sz="1500" dirty="0"/>
          </a:p>
        </p:txBody>
      </p:sp>
      <p:sp>
        <p:nvSpPr>
          <p:cNvPr id="10" name="What was unclear in the AI draft text"/>
          <p:cNvSpPr txBox="1"/>
          <p:nvPr/>
        </p:nvSpPr>
        <p:spPr>
          <a:xfrm>
            <a:off x="640080" y="3493008"/>
            <a:ext cx="3611880" cy="438912"/>
          </a:xfrm>
          <a:prstGeom prst="rect">
            <a:avLst/>
          </a:prstGeom>
          <a:noFill/>
          <a:ln/>
        </p:spPr>
        <p:txBody>
          <a:bodyPr wrap="square" lIns="0" tIns="0" rIns="0" bIns="0" rtlCol="0" anchor="t"/>
          <a:lstStyle/>
          <a:p>
            <a:pPr indent="0" marL="0">
              <a:buNone/>
            </a:pPr>
            <a:r>
              <a:rPr lang="en-US" sz="1400" dirty="0">
                <a:solidFill>
                  <a:schemeClr val="tx1"/>
                </a:solidFill>
              </a:rPr>
              <a:t>The draft let Polars guess column types, so a bad value crashed without naming the file or column.</a:t>
            </a:r>
            <a:endParaRPr lang="en-US" sz="1400" dirty="0"/>
          </a:p>
        </p:txBody>
      </p:sp>
      <p:sp>
        <p:nvSpPr>
          <p:cNvPr id="11" name="How we checked it card"/>
          <p:cNvSpPr/>
          <p:nvPr/>
        </p:nvSpPr>
        <p:spPr>
          <a:xfrm>
            <a:off x="4709160" y="2926080"/>
            <a:ext cx="3977640" cy="1078992"/>
          </a:xfrm>
          <a:prstGeom prst="roundRect">
            <a:avLst>
              <a:gd name="adj" fmla="val 6780"/>
            </a:avLst>
          </a:prstGeom>
          <a:solidFill>
            <a:schemeClr val="bg2"/>
          </a:solidFill>
          <a:ln w="12700">
            <a:solidFill>
              <a:schemeClr val="bg2"/>
            </a:solidFill>
            <a:prstDash val="solid"/>
          </a:ln>
          <a:effectLst>
            <a:outerShdw sx="100000" sy="100000" kx="0" ky="0" algn="bl" rotWithShape="0" blurRad="76200" dist="25400" dir="5400000">
              <a:srgbClr val="14213D">
                <a:alpha val="12000"/>
              </a:srgbClr>
            </a:outerShdw>
          </a:effectLst>
        </p:spPr>
      </p:sp>
      <p:sp>
        <p:nvSpPr>
          <p:cNvPr id="12" name="How we checked it icon"/>
          <p:cNvSpPr txBox="1"/>
          <p:nvPr/>
        </p:nvSpPr>
        <p:spPr>
          <a:xfrm>
            <a:off x="4873752" y="3072384"/>
            <a:ext cx="347472" cy="347472"/>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13" name="How we checked it heading"/>
          <p:cNvSpPr txBox="1"/>
          <p:nvPr/>
        </p:nvSpPr>
        <p:spPr>
          <a:xfrm>
            <a:off x="5330952" y="3054096"/>
            <a:ext cx="3191256" cy="384048"/>
          </a:xfrm>
          <a:prstGeom prst="rect">
            <a:avLst/>
          </a:prstGeom>
          <a:noFill/>
          <a:ln/>
        </p:spPr>
        <p:txBody>
          <a:bodyPr wrap="square" lIns="0" tIns="0" rIns="0" bIns="0" rtlCol="0" anchor="ctr"/>
          <a:lstStyle/>
          <a:p>
            <a:pPr indent="0" marL="0">
              <a:buNone/>
            </a:pPr>
            <a:r>
              <a:rPr lang="en-US" sz="1500" b="1" dirty="0">
                <a:solidFill>
                  <a:schemeClr val="tx1"/>
                </a:solidFill>
              </a:rPr>
              <a:t>How we checked it</a:t>
            </a:r>
            <a:endParaRPr lang="en-US" sz="1500" dirty="0"/>
          </a:p>
        </p:txBody>
      </p:sp>
      <p:sp>
        <p:nvSpPr>
          <p:cNvPr id="14" name="How we checked it text"/>
          <p:cNvSpPr txBox="1"/>
          <p:nvPr/>
        </p:nvSpPr>
        <p:spPr>
          <a:xfrm>
            <a:off x="4892040" y="3493008"/>
            <a:ext cx="3611880" cy="438912"/>
          </a:xfrm>
          <a:prstGeom prst="rect">
            <a:avLst/>
          </a:prstGeom>
          <a:noFill/>
          <a:ln/>
        </p:spPr>
        <p:txBody>
          <a:bodyPr wrap="square" lIns="0" tIns="0" rIns="0" bIns="0" rtlCol="0" anchor="t"/>
          <a:lstStyle/>
          <a:p>
            <a:pPr indent="0" marL="0">
              <a:buNone/>
            </a:pPr>
            <a:r>
              <a:rPr lang="en-US" sz="1400" dirty="0">
                <a:solidFill>
                  <a:schemeClr val="tx1"/>
                </a:solidFill>
              </a:rPr>
              <a:t>Deleted window_end in a copy: the error names file and column, exit code 2, no plan written.</a:t>
            </a:r>
            <a:endParaRPr lang="en-US" sz="1400" dirty="0"/>
          </a:p>
        </p:txBody>
      </p:sp>
      <p:sp>
        <p:nvSpPr>
          <p:cNvPr id="15" name="Output box"/>
          <p:cNvSpPr/>
          <p:nvPr/>
        </p:nvSpPr>
        <p:spPr>
          <a:xfrm>
            <a:off x="457200" y="4133088"/>
            <a:ext cx="8229600" cy="457200"/>
          </a:xfrm>
          <a:prstGeom prst="roundRect">
            <a:avLst>
              <a:gd name="adj" fmla="val 12000"/>
            </a:avLst>
          </a:prstGeom>
          <a:solidFill>
            <a:srgbClr val="FFFFFF"/>
          </a:solidFill>
          <a:ln w="15875">
            <a:solidFill>
              <a:schemeClr val="accent1"/>
            </a:solidFill>
            <a:prstDash val="solid"/>
          </a:ln>
        </p:spPr>
      </p:sp>
      <p:sp>
        <p:nvSpPr>
          <p:cNvPr id="16" name="Output label"/>
          <p:cNvSpPr txBox="1"/>
          <p:nvPr/>
        </p:nvSpPr>
        <p:spPr>
          <a:xfrm>
            <a:off x="640080" y="4187952"/>
            <a:ext cx="1828800" cy="182880"/>
          </a:xfrm>
          <a:prstGeom prst="rect">
            <a:avLst/>
          </a:prstGeom>
          <a:noFill/>
          <a:ln/>
        </p:spPr>
        <p:txBody>
          <a:bodyPr wrap="square" lIns="0" tIns="0" rIns="0" bIns="0" rtlCol="0" anchor="ctr"/>
          <a:lstStyle/>
          <a:p>
            <a:pPr indent="0" marL="0">
              <a:buNone/>
            </a:pPr>
            <a:r>
              <a:rPr lang="en-US" sz="900" b="1" spc="100" kern="0" dirty="0">
                <a:solidFill>
                  <a:schemeClr val="accent1"/>
                </a:solidFill>
              </a:rPr>
              <a:t>ACTUAL OUTPUT</a:t>
            </a:r>
            <a:endParaRPr lang="en-US" sz="900" dirty="0"/>
          </a:p>
        </p:txBody>
      </p:sp>
      <p:sp>
        <p:nvSpPr>
          <p:cNvPr id="17" name="Output text"/>
          <p:cNvSpPr txBox="1"/>
          <p:nvPr/>
        </p:nvSpPr>
        <p:spPr>
          <a:xfrm>
            <a:off x="640080" y="4379976"/>
            <a:ext cx="7863840" cy="155448"/>
          </a:xfrm>
          <a:prstGeom prst="rect">
            <a:avLst/>
          </a:prstGeom>
          <a:noFill/>
          <a:ln/>
        </p:spPr>
        <p:txBody>
          <a:bodyPr wrap="square" lIns="0" tIns="0" rIns="0" bIns="0" rtlCol="0" anchor="t"/>
          <a:lstStyle/>
          <a:p>
            <a:pPr indent="0" marL="0">
              <a:buNone/>
            </a:pPr>
            <a:r>
              <a:rPr lang="en-US" sz="1150" dirty="0">
                <a:solidFill>
                  <a:schemeClr val="tx1"/>
                </a:solidFill>
                <a:latin typeface="Consolas" pitchFamily="34" charset="0"/>
                <a:ea typeface="Consolas" pitchFamily="34" charset="-122"/>
                <a:cs typeface="Consolas" pitchFamily="34" charset="-120"/>
              </a:rPr>
              <a:t>Input error: customers.csv: required column 'window_end' is missing</a:t>
            </a:r>
            <a:endParaRPr lang="en-US" sz="115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6949440" cy="566928"/>
          </a:xfrm>
          <a:prstGeom prst="rect">
            <a:avLst/>
          </a:prstGeom>
          <a:noFill/>
          <a:ln/>
        </p:spPr>
        <p:txBody>
          <a:bodyPr wrap="square" lIns="0" tIns="0" rIns="0" bIns="0" rtlCol="0" anchor="ctr"/>
          <a:lstStyle/>
          <a:p>
            <a:pPr algn="l" indent="0" marL="0">
              <a:buNone/>
            </a:pPr>
            <a:r>
              <a:rPr lang="en-US" sz="2800" b="1" dirty="0">
                <a:solidFill>
                  <a:schemeClr val="tx1"/>
                </a:solidFill>
              </a:rPr>
              <a:t>The rule: go to the nearest stop that still fits</a:t>
            </a:r>
            <a:endParaRPr lang="en-US" sz="2800" dirty="0"/>
          </a:p>
        </p:txBody>
      </p:sp>
      <p:sp>
        <p:nvSpPr>
          <p:cNvPr id="3" name="Presenter tag"/>
          <p:cNvSpPr txBox="1"/>
          <p:nvPr/>
        </p:nvSpPr>
        <p:spPr>
          <a:xfrm>
            <a:off x="7452360" y="411480"/>
            <a:ext cx="1234440" cy="329184"/>
          </a:xfrm>
          <a:prstGeom prst="roundRect">
            <a:avLst>
              <a:gd name="adj" fmla="val 50000"/>
            </a:avLst>
          </a:prstGeom>
          <a:solidFill>
            <a:schemeClr val="accent2"/>
          </a:solidFill>
          <a:ln/>
        </p:spPr>
        <p:txBody>
          <a:bodyPr wrap="square" lIns="0" tIns="0" rIns="0" bIns="0" rtlCol="0" anchor="ctr"/>
          <a:lstStyle/>
          <a:p>
            <a:pPr algn="ctr" indent="0" marL="0">
              <a:buNone/>
            </a:pPr>
            <a:r>
              <a:rPr lang="en-US" sz="1100" b="1" dirty="0">
                <a:solidFill>
                  <a:schemeClr val="tx1"/>
                </a:solidFill>
              </a:rPr>
              <a:t>Presenter B</a:t>
            </a:r>
            <a:endParaRPr lang="en-US" sz="1100" dirty="0"/>
          </a:p>
        </p:txBody>
      </p:sp>
      <p:sp>
        <p:nvSpPr>
          <p:cNvPr id="4" name="Code background"/>
          <p:cNvSpPr/>
          <p:nvPr/>
        </p:nvSpPr>
        <p:spPr>
          <a:xfrm>
            <a:off x="457200" y="1024128"/>
            <a:ext cx="8229600" cy="1481328"/>
          </a:xfrm>
          <a:prstGeom prst="roundRect">
            <a:avLst>
              <a:gd name="adj" fmla="val 4938"/>
            </a:avLst>
          </a:prstGeom>
          <a:solidFill>
            <a:schemeClr val="tx1"/>
          </a:solidFill>
          <a:ln w="12700">
            <a:solidFill>
              <a:schemeClr val="tx1"/>
            </a:solidFill>
            <a:prstDash val="solid"/>
          </a:ln>
        </p:spPr>
      </p:sp>
      <p:sp>
        <p:nvSpPr>
          <p:cNvPr id="5" name="Code excerpt"/>
          <p:cNvSpPr txBox="1"/>
          <p:nvPr/>
        </p:nvSpPr>
        <p:spPr>
          <a:xfrm>
            <a:off x="640080" y="1133856"/>
            <a:ext cx="7863840" cy="1261872"/>
          </a:xfrm>
          <a:prstGeom prst="rect">
            <a:avLst/>
          </a:prstGeom>
          <a:noFill/>
          <a:ln/>
        </p:spPr>
        <p:txBody>
          <a:bodyPr wrap="square" lIns="0" tIns="0" rIns="0" bIns="0" rtlCol="0" anchor="ctr"/>
          <a:lstStyle/>
          <a:p>
            <a:pPr indent="0" marL="0">
              <a:buNone/>
            </a:pPr>
            <a:r>
              <a:rPr lang="en-US" sz="1300" dirty="0">
                <a:solidFill>
                  <a:schemeClr val="accent6"/>
                </a:solidFill>
                <a:latin typeface="Consolas" pitchFamily="34" charset="0"/>
                <a:ea typeface="Consolas" pitchFamily="34" charset="-122"/>
                <a:cs typeface="Consolas" pitchFamily="34" charset="-120"/>
              </a:rPr>
              <a:t> 25  </a:t>
            </a:r>
            <a:pPr indent="0" marL="0">
              <a:buNone/>
            </a:pPr>
            <a:r>
              <a:rPr lang="en-US" sz="1300" dirty="0">
                <a:solidFill>
                  <a:schemeClr val="bg1"/>
                </a:solidFill>
                <a:latin typeface="Consolas" pitchFamily="34" charset="0"/>
                <a:ea typeface="Consolas" pitchFamily="34" charset="-122"/>
                <a:cs typeface="Consolas" pitchFamily="34" charset="-120"/>
              </a:rPr>
              <a:t>if load + demand[c] &gt; inst.cap[v]:</a:t>
            </a:r>
            <a:endParaRPr lang="en-US" sz="1300" dirty="0"/>
          </a:p>
          <a:p>
            <a:pPr indent="0" marL="0">
              <a:buNone/>
            </a:pPr>
            <a:r>
              <a:rPr lang="en-US" sz="1300" dirty="0">
                <a:solidFill>
                  <a:schemeClr val="accent6"/>
                </a:solidFill>
                <a:latin typeface="Consolas" pitchFamily="34" charset="0"/>
                <a:ea typeface="Consolas" pitchFamily="34" charset="-122"/>
                <a:cs typeface="Consolas" pitchFamily="34" charset="-120"/>
              </a:rPr>
              <a:t> 26  </a:t>
            </a:r>
            <a:pPr indent="0" marL="0">
              <a:buNone/>
            </a:pPr>
            <a:r>
              <a:rPr lang="en-US" sz="1300" dirty="0">
                <a:solidFill>
                  <a:schemeClr val="bg1"/>
                </a:solidFill>
                <a:latin typeface="Consolas" pitchFamily="34" charset="0"/>
                <a:ea typeface="Consolas" pitchFamily="34" charset="-122"/>
                <a:cs typeface="Consolas" pitchFamily="34" charset="-120"/>
              </a:rPr>
              <a:t>    continue</a:t>
            </a:r>
            <a:endParaRPr lang="en-US" sz="1300" dirty="0"/>
          </a:p>
          <a:p>
            <a:pPr indent="0" marL="0">
              <a:buNone/>
            </a:pPr>
            <a:r>
              <a:rPr lang="en-US" sz="1300" dirty="0">
                <a:solidFill>
                  <a:srgbClr val="000000"/>
                </a:solidFill>
                <a:latin typeface="Consolas" pitchFamily="34" charset="0"/>
                <a:ea typeface="Consolas" pitchFamily="34" charset="-122"/>
                <a:cs typeface="Consolas" pitchFamily="34" charset="-120"/>
              </a:rPr>
              <a:t>     </a:t>
            </a:r>
            <a:pPr indent="0" marL="0">
              <a:spcAft>
                <a:spcPts val="600"/>
              </a:spcAft>
              <a:buNone/>
            </a:pPr>
            <a:r>
              <a:rPr lang="en-US" sz="1300" i="1" dirty="0">
                <a:solidFill>
                  <a:schemeClr val="accent2"/>
                </a:solidFill>
              </a:rPr>
              <a:t>→ Customer c won't fit in the truck? Skip them.</a:t>
            </a:r>
            <a:endParaRPr lang="en-US" sz="1300" dirty="0"/>
          </a:p>
          <a:p>
            <a:pPr indent="0" marL="0">
              <a:buNone/>
            </a:pPr>
            <a:r>
              <a:rPr lang="en-US" sz="1300" dirty="0">
                <a:solidFill>
                  <a:schemeClr val="accent6"/>
                </a:solidFill>
                <a:latin typeface="Consolas" pitchFamily="34" charset="0"/>
                <a:ea typeface="Consolas" pitchFamily="34" charset="-122"/>
                <a:cs typeface="Consolas" pitchFamily="34" charset="-120"/>
              </a:rPr>
              <a:t> 33  </a:t>
            </a:r>
            <a:pPr indent="0" marL="0">
              <a:buNone/>
            </a:pPr>
            <a:r>
              <a:rPr lang="en-US" sz="1300" dirty="0">
                <a:solidFill>
                  <a:schemeClr val="bg1"/>
                </a:solidFill>
                <a:latin typeface="Consolas" pitchFamily="34" charset="0"/>
                <a:ea typeface="Consolas" pitchFamily="34" charset="-122"/>
                <a:cs typeface="Consolas" pitchFamily="34" charset="-120"/>
              </a:rPr>
              <a:t>key = (T[current][c], ids[c])</a:t>
            </a:r>
            <a:endParaRPr lang="en-US" sz="1300" dirty="0"/>
          </a:p>
          <a:p>
            <a:pPr indent="0" marL="0">
              <a:buNone/>
            </a:pPr>
            <a:r>
              <a:rPr lang="en-US" sz="1300" dirty="0">
                <a:solidFill>
                  <a:srgbClr val="000000"/>
                </a:solidFill>
                <a:latin typeface="Consolas" pitchFamily="34" charset="0"/>
                <a:ea typeface="Consolas" pitchFamily="34" charset="-122"/>
                <a:cs typeface="Consolas" pitchFamily="34" charset="-120"/>
              </a:rPr>
              <a:t>     </a:t>
            </a:r>
            <a:pPr indent="0" marL="0">
              <a:buNone/>
            </a:pPr>
            <a:r>
              <a:rPr lang="en-US" sz="1300" i="1" dirty="0">
                <a:solidFill>
                  <a:schemeClr val="accent2"/>
                </a:solidFill>
              </a:rPr>
              <a:t>→ Rank the rest by travel time from here; a tie goes to the lower customer ID.</a:t>
            </a:r>
            <a:endParaRPr lang="en-US" sz="1300" dirty="0"/>
          </a:p>
        </p:txBody>
      </p:sp>
      <p:sp>
        <p:nvSpPr>
          <p:cNvPr id="6" name="Code caption"/>
          <p:cNvSpPr txBox="1"/>
          <p:nvPr/>
        </p:nvSpPr>
        <p:spPr>
          <a:xfrm>
            <a:off x="457200" y="2542032"/>
            <a:ext cx="8229600" cy="219456"/>
          </a:xfrm>
          <a:prstGeom prst="rect">
            <a:avLst/>
          </a:prstGeom>
          <a:noFill/>
          <a:ln/>
        </p:spPr>
        <p:txBody>
          <a:bodyPr wrap="square" lIns="0" tIns="0" rIns="0" bIns="0" rtlCol="0" anchor="ctr"/>
          <a:lstStyle/>
          <a:p>
            <a:pPr indent="0" marL="0">
              <a:buNone/>
            </a:pPr>
            <a:r>
              <a:rPr lang="en-US" sz="1000" i="1" dirty="0">
                <a:solidFill>
                  <a:schemeClr val="tx2"/>
                </a:solidFill>
              </a:rPr>
              <a:t>src/vrptw/rule.py, 3 of its lines. Lines 27–32 skip a customer the same way if the window or shift end would be missed.</a:t>
            </a:r>
            <a:endParaRPr lang="en-US" sz="1000" dirty="0"/>
          </a:p>
        </p:txBody>
      </p:sp>
      <p:sp>
        <p:nvSpPr>
          <p:cNvPr id="7" name="What was unclear in the AI draft card"/>
          <p:cNvSpPr/>
          <p:nvPr/>
        </p:nvSpPr>
        <p:spPr>
          <a:xfrm>
            <a:off x="457200" y="2834640"/>
            <a:ext cx="3977640" cy="1078992"/>
          </a:xfrm>
          <a:prstGeom prst="roundRect">
            <a:avLst>
              <a:gd name="adj" fmla="val 6780"/>
            </a:avLst>
          </a:prstGeom>
          <a:solidFill>
            <a:schemeClr val="bg2"/>
          </a:solidFill>
          <a:ln w="12700">
            <a:solidFill>
              <a:schemeClr val="bg2"/>
            </a:solidFill>
            <a:prstDash val="solid"/>
          </a:ln>
          <a:effectLst>
            <a:outerShdw sx="100000" sy="100000" kx="0" ky="0" algn="bl" rotWithShape="0" blurRad="76200" dist="25400" dir="5400000">
              <a:srgbClr val="14213D">
                <a:alpha val="12000"/>
              </a:srgbClr>
            </a:outerShdw>
          </a:effectLst>
        </p:spPr>
      </p:sp>
      <p:sp>
        <p:nvSpPr>
          <p:cNvPr id="8" name="What was unclear in the AI draft icon"/>
          <p:cNvSpPr txBox="1"/>
          <p:nvPr/>
        </p:nvSpPr>
        <p:spPr>
          <a:xfrm>
            <a:off x="621792" y="2980944"/>
            <a:ext cx="347472" cy="347472"/>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9" name="What was unclear in the AI draft heading"/>
          <p:cNvSpPr txBox="1"/>
          <p:nvPr/>
        </p:nvSpPr>
        <p:spPr>
          <a:xfrm>
            <a:off x="1078992" y="2962656"/>
            <a:ext cx="3191256" cy="384048"/>
          </a:xfrm>
          <a:prstGeom prst="rect">
            <a:avLst/>
          </a:prstGeom>
          <a:noFill/>
          <a:ln/>
        </p:spPr>
        <p:txBody>
          <a:bodyPr wrap="square" lIns="0" tIns="0" rIns="0" bIns="0" rtlCol="0" anchor="ctr"/>
          <a:lstStyle/>
          <a:p>
            <a:pPr indent="0" marL="0">
              <a:buNone/>
            </a:pPr>
            <a:r>
              <a:rPr lang="en-US" sz="1500" b="1" dirty="0">
                <a:solidFill>
                  <a:schemeClr val="tx1"/>
                </a:solidFill>
              </a:rPr>
              <a:t>What was unclear in the AI draft</a:t>
            </a:r>
            <a:endParaRPr lang="en-US" sz="1500" dirty="0"/>
          </a:p>
        </p:txBody>
      </p:sp>
      <p:sp>
        <p:nvSpPr>
          <p:cNvPr id="10" name="What was unclear in the AI draft text"/>
          <p:cNvSpPr txBox="1"/>
          <p:nvPr/>
        </p:nvSpPr>
        <p:spPr>
          <a:xfrm>
            <a:off x="640080" y="3401568"/>
            <a:ext cx="3611880" cy="438912"/>
          </a:xfrm>
          <a:prstGeom prst="rect">
            <a:avLst/>
          </a:prstGeom>
          <a:noFill/>
          <a:ln/>
        </p:spPr>
        <p:txBody>
          <a:bodyPr wrap="square" lIns="0" tIns="0" rIns="0" bIns="0" rtlCol="0" anchor="t"/>
          <a:lstStyle/>
          <a:p>
            <a:pPr indent="0" marL="0">
              <a:buNone/>
            </a:pPr>
            <a:r>
              <a:rPr lang="en-US" sz="1400" dirty="0">
                <a:solidFill>
                  <a:schemeClr val="tx1"/>
                </a:solidFill>
              </a:rPr>
              <a:t>Does “nearest” include waiting? The brief says travel time only, ties broken by customer ID.</a:t>
            </a:r>
            <a:endParaRPr lang="en-US" sz="1400" dirty="0"/>
          </a:p>
        </p:txBody>
      </p:sp>
      <p:sp>
        <p:nvSpPr>
          <p:cNvPr id="11" name="How we checked it card"/>
          <p:cNvSpPr/>
          <p:nvPr/>
        </p:nvSpPr>
        <p:spPr>
          <a:xfrm>
            <a:off x="4709160" y="2834640"/>
            <a:ext cx="3977640" cy="1078992"/>
          </a:xfrm>
          <a:prstGeom prst="roundRect">
            <a:avLst>
              <a:gd name="adj" fmla="val 6780"/>
            </a:avLst>
          </a:prstGeom>
          <a:solidFill>
            <a:schemeClr val="bg2"/>
          </a:solidFill>
          <a:ln w="12700">
            <a:solidFill>
              <a:schemeClr val="bg2"/>
            </a:solidFill>
            <a:prstDash val="solid"/>
          </a:ln>
          <a:effectLst>
            <a:outerShdw sx="100000" sy="100000" kx="0" ky="0" algn="bl" rotWithShape="0" blurRad="76200" dist="25400" dir="5400000">
              <a:srgbClr val="14213D">
                <a:alpha val="12000"/>
              </a:srgbClr>
            </a:outerShdw>
          </a:effectLst>
        </p:spPr>
      </p:sp>
      <p:sp>
        <p:nvSpPr>
          <p:cNvPr id="12" name="How we checked it icon"/>
          <p:cNvSpPr txBox="1"/>
          <p:nvPr/>
        </p:nvSpPr>
        <p:spPr>
          <a:xfrm>
            <a:off x="4873752" y="2980944"/>
            <a:ext cx="347472" cy="347472"/>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13" name="How we checked it heading"/>
          <p:cNvSpPr txBox="1"/>
          <p:nvPr/>
        </p:nvSpPr>
        <p:spPr>
          <a:xfrm>
            <a:off x="5330952" y="2962656"/>
            <a:ext cx="3191256" cy="384048"/>
          </a:xfrm>
          <a:prstGeom prst="rect">
            <a:avLst/>
          </a:prstGeom>
          <a:noFill/>
          <a:ln/>
        </p:spPr>
        <p:txBody>
          <a:bodyPr wrap="square" lIns="0" tIns="0" rIns="0" bIns="0" rtlCol="0" anchor="ctr"/>
          <a:lstStyle/>
          <a:p>
            <a:pPr indent="0" marL="0">
              <a:buNone/>
            </a:pPr>
            <a:r>
              <a:rPr lang="en-US" sz="1500" b="1" dirty="0">
                <a:solidFill>
                  <a:schemeClr val="tx1"/>
                </a:solidFill>
              </a:rPr>
              <a:t>How we checked it</a:t>
            </a:r>
            <a:endParaRPr lang="en-US" sz="1500" dirty="0"/>
          </a:p>
        </p:txBody>
      </p:sp>
      <p:sp>
        <p:nvSpPr>
          <p:cNvPr id="14" name="How we checked it text"/>
          <p:cNvSpPr txBox="1"/>
          <p:nvPr/>
        </p:nvSpPr>
        <p:spPr>
          <a:xfrm>
            <a:off x="4892040" y="3401568"/>
            <a:ext cx="3611880" cy="438912"/>
          </a:xfrm>
          <a:prstGeom prst="rect">
            <a:avLst/>
          </a:prstGeom>
          <a:noFill/>
          <a:ln/>
        </p:spPr>
        <p:txBody>
          <a:bodyPr wrap="square" lIns="0" tIns="0" rIns="0" bIns="0" rtlCol="0" anchor="t"/>
          <a:lstStyle/>
          <a:p>
            <a:pPr indent="0" marL="0">
              <a:buNone/>
            </a:pPr>
            <a:r>
              <a:rPr lang="en-US" sz="1400" dirty="0">
                <a:solidFill>
                  <a:schemeClr val="tx1"/>
                </a:solidFill>
              </a:rPr>
              <a:t>Matches the instructor's worked example exactly: same visits, 352.417 travel minutes, 2 trucks.</a:t>
            </a:r>
            <a:endParaRPr lang="en-US" sz="1400" dirty="0"/>
          </a:p>
        </p:txBody>
      </p:sp>
      <p:sp>
        <p:nvSpPr>
          <p:cNvPr id="15" name="Output box"/>
          <p:cNvSpPr/>
          <p:nvPr/>
        </p:nvSpPr>
        <p:spPr>
          <a:xfrm>
            <a:off x="457200" y="4041648"/>
            <a:ext cx="8229600" cy="457200"/>
          </a:xfrm>
          <a:prstGeom prst="roundRect">
            <a:avLst>
              <a:gd name="adj" fmla="val 12000"/>
            </a:avLst>
          </a:prstGeom>
          <a:solidFill>
            <a:srgbClr val="FFFFFF"/>
          </a:solidFill>
          <a:ln w="15875">
            <a:solidFill>
              <a:schemeClr val="accent1"/>
            </a:solidFill>
            <a:prstDash val="solid"/>
          </a:ln>
        </p:spPr>
      </p:sp>
      <p:sp>
        <p:nvSpPr>
          <p:cNvPr id="16" name="Output label"/>
          <p:cNvSpPr txBox="1"/>
          <p:nvPr/>
        </p:nvSpPr>
        <p:spPr>
          <a:xfrm>
            <a:off x="640080" y="4096512"/>
            <a:ext cx="1828800" cy="182880"/>
          </a:xfrm>
          <a:prstGeom prst="rect">
            <a:avLst/>
          </a:prstGeom>
          <a:noFill/>
          <a:ln/>
        </p:spPr>
        <p:txBody>
          <a:bodyPr wrap="square" lIns="0" tIns="0" rIns="0" bIns="0" rtlCol="0" anchor="ctr"/>
          <a:lstStyle/>
          <a:p>
            <a:pPr indent="0" marL="0">
              <a:buNone/>
            </a:pPr>
            <a:r>
              <a:rPr lang="en-US" sz="900" b="1" spc="100" kern="0" dirty="0">
                <a:solidFill>
                  <a:schemeClr val="accent1"/>
                </a:solidFill>
              </a:rPr>
              <a:t>ACTUAL OUTPUT</a:t>
            </a:r>
            <a:endParaRPr lang="en-US" sz="900" dirty="0"/>
          </a:p>
        </p:txBody>
      </p:sp>
      <p:sp>
        <p:nvSpPr>
          <p:cNvPr id="17" name="Output text"/>
          <p:cNvSpPr txBox="1"/>
          <p:nvPr/>
        </p:nvSpPr>
        <p:spPr>
          <a:xfrm>
            <a:off x="640080" y="4288536"/>
            <a:ext cx="7863840" cy="155448"/>
          </a:xfrm>
          <a:prstGeom prst="rect">
            <a:avLst/>
          </a:prstGeom>
          <a:noFill/>
          <a:ln/>
        </p:spPr>
        <p:txBody>
          <a:bodyPr wrap="square" lIns="0" tIns="0" rIns="0" bIns="0" rtlCol="0" anchor="t"/>
          <a:lstStyle/>
          <a:p>
            <a:pPr indent="0" marL="0">
              <a:buNone/>
            </a:pPr>
            <a:r>
              <a:rPr lang="en-US" sz="1150" dirty="0">
                <a:solidFill>
                  <a:schemeClr val="tx1"/>
                </a:solidFill>
                <a:latin typeface="Consolas" pitchFamily="34" charset="0"/>
                <a:ea typeface="Consolas" pitchFamily="34" charset="-122"/>
                <a:cs typeface="Consolas" pitchFamily="34" charset="-120"/>
              </a:rPr>
              <a:t>WORKED EXAMPLE: rule travel=352.417; independent checker passed</a:t>
            </a:r>
            <a:endParaRPr lang="en-US" sz="115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6949440" cy="566928"/>
          </a:xfrm>
          <a:prstGeom prst="rect">
            <a:avLst/>
          </a:prstGeom>
          <a:noFill/>
          <a:ln/>
        </p:spPr>
        <p:txBody>
          <a:bodyPr wrap="square" lIns="0" tIns="0" rIns="0" bIns="0" rtlCol="0" anchor="ctr"/>
          <a:lstStyle/>
          <a:p>
            <a:pPr algn="l" indent="0" marL="0">
              <a:buNone/>
            </a:pPr>
            <a:r>
              <a:rPr lang="en-US" sz="2800" b="1" dirty="0">
                <a:solidFill>
                  <a:schemeClr val="tx1"/>
                </a:solidFill>
              </a:rPr>
              <a:t>Researched method: tear down and rebuild</a:t>
            </a:r>
            <a:endParaRPr lang="en-US" sz="2800" dirty="0"/>
          </a:p>
        </p:txBody>
      </p:sp>
      <p:sp>
        <p:nvSpPr>
          <p:cNvPr id="3" name="Presenter tag"/>
          <p:cNvSpPr txBox="1"/>
          <p:nvPr/>
        </p:nvSpPr>
        <p:spPr>
          <a:xfrm>
            <a:off x="7452360" y="411480"/>
            <a:ext cx="1234440" cy="329184"/>
          </a:xfrm>
          <a:prstGeom prst="roundRect">
            <a:avLst>
              <a:gd name="adj" fmla="val 50000"/>
            </a:avLst>
          </a:prstGeom>
          <a:solidFill>
            <a:schemeClr val="accent2"/>
          </a:solidFill>
          <a:ln/>
        </p:spPr>
        <p:txBody>
          <a:bodyPr wrap="square" lIns="0" tIns="0" rIns="0" bIns="0" rtlCol="0" anchor="ctr"/>
          <a:lstStyle/>
          <a:p>
            <a:pPr algn="ctr" indent="0" marL="0">
              <a:buNone/>
            </a:pPr>
            <a:r>
              <a:rPr lang="en-US" sz="1100" b="1" dirty="0">
                <a:solidFill>
                  <a:schemeClr val="tx1"/>
                </a:solidFill>
              </a:rPr>
              <a:t>Presenter B</a:t>
            </a:r>
            <a:endParaRPr lang="en-US" sz="1100" dirty="0"/>
          </a:p>
        </p:txBody>
      </p:sp>
      <p:sp>
        <p:nvSpPr>
          <p:cNvPr id="4" name="Step 1 card"/>
          <p:cNvSpPr/>
          <p:nvPr/>
        </p:nvSpPr>
        <p:spPr>
          <a:xfrm>
            <a:off x="457200" y="1097280"/>
            <a:ext cx="1920240" cy="1965960"/>
          </a:xfrm>
          <a:prstGeom prst="roundRect">
            <a:avLst>
              <a:gd name="adj" fmla="val 3810"/>
            </a:avLst>
          </a:prstGeom>
          <a:solidFill>
            <a:schemeClr val="bg2"/>
          </a:solidFill>
          <a:ln w="12700">
            <a:solidFill>
              <a:schemeClr val="bg2"/>
            </a:solidFill>
            <a:prstDash val="solid"/>
          </a:ln>
          <a:effectLst>
            <a:outerShdw sx="100000" sy="100000" kx="0" ky="0" algn="bl" rotWithShape="0" blurRad="76200" dist="25400" dir="5400000">
              <a:srgbClr val="14213D">
                <a:alpha val="12000"/>
              </a:srgbClr>
            </a:outerShdw>
          </a:effectLst>
        </p:spPr>
      </p:sp>
      <p:sp>
        <p:nvSpPr>
          <p:cNvPr id="5" name="Step 1 badge"/>
          <p:cNvSpPr txBox="1"/>
          <p:nvPr/>
        </p:nvSpPr>
        <p:spPr>
          <a:xfrm>
            <a:off x="640080" y="1261872"/>
            <a:ext cx="457200" cy="45720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Step 1 heading"/>
          <p:cNvSpPr txBox="1"/>
          <p:nvPr/>
        </p:nvSpPr>
        <p:spPr>
          <a:xfrm>
            <a:off x="640080" y="1828800"/>
            <a:ext cx="1554480" cy="329184"/>
          </a:xfrm>
          <a:prstGeom prst="rect">
            <a:avLst/>
          </a:prstGeom>
          <a:noFill/>
          <a:ln/>
        </p:spPr>
        <p:txBody>
          <a:bodyPr wrap="square" lIns="0" tIns="0" rIns="0" bIns="0" rtlCol="0" anchor="ctr"/>
          <a:lstStyle/>
          <a:p>
            <a:pPr indent="0" marL="0">
              <a:buNone/>
            </a:pPr>
            <a:r>
              <a:rPr lang="en-US" sz="1600" b="1" dirty="0">
                <a:solidFill>
                  <a:schemeClr val="tx1"/>
                </a:solidFill>
              </a:rPr>
              <a:t>Build</a:t>
            </a:r>
            <a:endParaRPr lang="en-US" sz="1600" dirty="0"/>
          </a:p>
        </p:txBody>
      </p:sp>
      <p:sp>
        <p:nvSpPr>
          <p:cNvPr id="7" name="Step 1 text"/>
          <p:cNvSpPr txBox="1"/>
          <p:nvPr/>
        </p:nvSpPr>
        <p:spPr>
          <a:xfrm>
            <a:off x="640080" y="2176272"/>
            <a:ext cx="1554480" cy="822960"/>
          </a:xfrm>
          <a:prstGeom prst="rect">
            <a:avLst/>
          </a:prstGeom>
          <a:noFill/>
          <a:ln/>
        </p:spPr>
        <p:txBody>
          <a:bodyPr wrap="square" lIns="0" tIns="0" rIns="0" bIns="0" rtlCol="0" anchor="t"/>
          <a:lstStyle/>
          <a:p>
            <a:pPr indent="0" marL="0">
              <a:buNone/>
            </a:pPr>
            <a:r>
              <a:rPr lang="en-US" sz="1300" dirty="0">
                <a:solidFill>
                  <a:schemeClr val="tx2"/>
                </a:solidFill>
              </a:rPr>
              <a:t>Start from the rule's plan and an insertion plan; keep the better one.</a:t>
            </a:r>
            <a:endParaRPr lang="en-US" sz="1300" dirty="0"/>
          </a:p>
        </p:txBody>
      </p:sp>
      <p:sp>
        <p:nvSpPr>
          <p:cNvPr id="8" name="Arrow 1"/>
          <p:cNvSpPr txBox="1"/>
          <p:nvPr/>
        </p:nvSpPr>
        <p:spPr>
          <a:xfrm>
            <a:off x="2359152" y="1874520"/>
            <a:ext cx="219456" cy="365760"/>
          </a:xfrm>
          <a:prstGeom prst="rect">
            <a:avLst/>
          </a:prstGeom>
          <a:noFill/>
          <a:ln/>
        </p:spPr>
        <p:txBody>
          <a:bodyPr wrap="square" lIns="0" tIns="0" rIns="0" bIns="0" rtlCol="0" anchor="ctr"/>
          <a:lstStyle/>
          <a:p>
            <a:pPr algn="ctr" indent="0" marL="0">
              <a:buNone/>
            </a:pPr>
            <a:r>
              <a:rPr lang="en-US" sz="2400" b="1" dirty="0">
                <a:solidFill>
                  <a:schemeClr val="accent6"/>
                </a:solidFill>
              </a:rPr>
              <a:t>›</a:t>
            </a:r>
            <a:endParaRPr lang="en-US" sz="2400" dirty="0"/>
          </a:p>
        </p:txBody>
      </p:sp>
      <p:sp>
        <p:nvSpPr>
          <p:cNvPr id="9" name="Step 2 card"/>
          <p:cNvSpPr/>
          <p:nvPr/>
        </p:nvSpPr>
        <p:spPr>
          <a:xfrm>
            <a:off x="2560320" y="1097280"/>
            <a:ext cx="1920240" cy="1965960"/>
          </a:xfrm>
          <a:prstGeom prst="roundRect">
            <a:avLst>
              <a:gd name="adj" fmla="val 3810"/>
            </a:avLst>
          </a:prstGeom>
          <a:solidFill>
            <a:schemeClr val="bg2"/>
          </a:solidFill>
          <a:ln w="12700">
            <a:solidFill>
              <a:schemeClr val="bg2"/>
            </a:solidFill>
            <a:prstDash val="solid"/>
          </a:ln>
          <a:effectLst>
            <a:outerShdw sx="100000" sy="100000" kx="0" ky="0" algn="bl" rotWithShape="0" blurRad="76200" dist="25400" dir="5400000">
              <a:srgbClr val="14213D">
                <a:alpha val="12000"/>
              </a:srgbClr>
            </a:outerShdw>
          </a:effectLst>
        </p:spPr>
      </p:sp>
      <p:sp>
        <p:nvSpPr>
          <p:cNvPr id="10" name="Step 2 badge"/>
          <p:cNvSpPr txBox="1"/>
          <p:nvPr/>
        </p:nvSpPr>
        <p:spPr>
          <a:xfrm>
            <a:off x="2743200" y="1261872"/>
            <a:ext cx="457200" cy="45720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Step 2 heading"/>
          <p:cNvSpPr txBox="1"/>
          <p:nvPr/>
        </p:nvSpPr>
        <p:spPr>
          <a:xfrm>
            <a:off x="2743200" y="1828800"/>
            <a:ext cx="1554480" cy="329184"/>
          </a:xfrm>
          <a:prstGeom prst="rect">
            <a:avLst/>
          </a:prstGeom>
          <a:noFill/>
          <a:ln/>
        </p:spPr>
        <p:txBody>
          <a:bodyPr wrap="square" lIns="0" tIns="0" rIns="0" bIns="0" rtlCol="0" anchor="ctr"/>
          <a:lstStyle/>
          <a:p>
            <a:pPr indent="0" marL="0">
              <a:buNone/>
            </a:pPr>
            <a:r>
              <a:rPr lang="en-US" sz="1600" b="1" dirty="0">
                <a:solidFill>
                  <a:schemeClr val="tx1"/>
                </a:solidFill>
              </a:rPr>
              <a:t>Improve</a:t>
            </a:r>
            <a:endParaRPr lang="en-US" sz="1600" dirty="0"/>
          </a:p>
        </p:txBody>
      </p:sp>
      <p:sp>
        <p:nvSpPr>
          <p:cNvPr id="12" name="Step 2 text"/>
          <p:cNvSpPr txBox="1"/>
          <p:nvPr/>
        </p:nvSpPr>
        <p:spPr>
          <a:xfrm>
            <a:off x="2743200" y="2176272"/>
            <a:ext cx="1554480" cy="822960"/>
          </a:xfrm>
          <a:prstGeom prst="rect">
            <a:avLst/>
          </a:prstGeom>
          <a:noFill/>
          <a:ln/>
        </p:spPr>
        <p:txBody>
          <a:bodyPr wrap="square" lIns="0" tIns="0" rIns="0" bIns="0" rtlCol="0" anchor="t"/>
          <a:lstStyle/>
          <a:p>
            <a:pPr indent="0" marL="0">
              <a:buNone/>
            </a:pPr>
            <a:r>
              <a:rPr lang="en-US" sz="1300" dirty="0">
                <a:solidFill>
                  <a:schemeClr val="tx2"/>
                </a:solidFill>
              </a:rPr>
              <a:t>Small moves that cut travel and keep every window.</a:t>
            </a:r>
            <a:endParaRPr lang="en-US" sz="1300" dirty="0"/>
          </a:p>
        </p:txBody>
      </p:sp>
      <p:sp>
        <p:nvSpPr>
          <p:cNvPr id="13" name="Arrow 2"/>
          <p:cNvSpPr txBox="1"/>
          <p:nvPr/>
        </p:nvSpPr>
        <p:spPr>
          <a:xfrm>
            <a:off x="4462272" y="1874520"/>
            <a:ext cx="219456" cy="365760"/>
          </a:xfrm>
          <a:prstGeom prst="rect">
            <a:avLst/>
          </a:prstGeom>
          <a:noFill/>
          <a:ln/>
        </p:spPr>
        <p:txBody>
          <a:bodyPr wrap="square" lIns="0" tIns="0" rIns="0" bIns="0" rtlCol="0" anchor="ctr"/>
          <a:lstStyle/>
          <a:p>
            <a:pPr algn="ctr" indent="0" marL="0">
              <a:buNone/>
            </a:pPr>
            <a:r>
              <a:rPr lang="en-US" sz="2400" b="1" dirty="0">
                <a:solidFill>
                  <a:schemeClr val="accent6"/>
                </a:solidFill>
              </a:rPr>
              <a:t>›</a:t>
            </a:r>
            <a:endParaRPr lang="en-US" sz="2400" dirty="0"/>
          </a:p>
        </p:txBody>
      </p:sp>
      <p:sp>
        <p:nvSpPr>
          <p:cNvPr id="14" name="Step 3 card"/>
          <p:cNvSpPr/>
          <p:nvPr/>
        </p:nvSpPr>
        <p:spPr>
          <a:xfrm>
            <a:off x="4663440" y="1097280"/>
            <a:ext cx="1920240" cy="1965960"/>
          </a:xfrm>
          <a:prstGeom prst="roundRect">
            <a:avLst>
              <a:gd name="adj" fmla="val 3810"/>
            </a:avLst>
          </a:prstGeom>
          <a:solidFill>
            <a:schemeClr val="bg2"/>
          </a:solidFill>
          <a:ln w="12700">
            <a:solidFill>
              <a:schemeClr val="bg2"/>
            </a:solidFill>
            <a:prstDash val="solid"/>
          </a:ln>
          <a:effectLst>
            <a:outerShdw sx="100000" sy="100000" kx="0" ky="0" algn="bl" rotWithShape="0" blurRad="76200" dist="25400" dir="5400000">
              <a:srgbClr val="14213D">
                <a:alpha val="12000"/>
              </a:srgbClr>
            </a:outerShdw>
          </a:effectLst>
        </p:spPr>
      </p:sp>
      <p:sp>
        <p:nvSpPr>
          <p:cNvPr id="15" name="Step 3 badge"/>
          <p:cNvSpPr txBox="1"/>
          <p:nvPr/>
        </p:nvSpPr>
        <p:spPr>
          <a:xfrm>
            <a:off x="4846320" y="1261872"/>
            <a:ext cx="457200" cy="457200"/>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16" name="Step 3 heading"/>
          <p:cNvSpPr txBox="1"/>
          <p:nvPr/>
        </p:nvSpPr>
        <p:spPr>
          <a:xfrm>
            <a:off x="4846320" y="1828800"/>
            <a:ext cx="1554480" cy="329184"/>
          </a:xfrm>
          <a:prstGeom prst="rect">
            <a:avLst/>
          </a:prstGeom>
          <a:noFill/>
          <a:ln/>
        </p:spPr>
        <p:txBody>
          <a:bodyPr wrap="square" lIns="0" tIns="0" rIns="0" bIns="0" rtlCol="0" anchor="ctr"/>
          <a:lstStyle/>
          <a:p>
            <a:pPr indent="0" marL="0">
              <a:buNone/>
            </a:pPr>
            <a:r>
              <a:rPr lang="en-US" sz="1600" b="1" dirty="0">
                <a:solidFill>
                  <a:schemeClr val="tx1"/>
                </a:solidFill>
              </a:rPr>
              <a:t>Rebuild</a:t>
            </a:r>
            <a:endParaRPr lang="en-US" sz="1600" dirty="0"/>
          </a:p>
        </p:txBody>
      </p:sp>
      <p:sp>
        <p:nvSpPr>
          <p:cNvPr id="17" name="Step 3 text"/>
          <p:cNvSpPr txBox="1"/>
          <p:nvPr/>
        </p:nvSpPr>
        <p:spPr>
          <a:xfrm>
            <a:off x="4846320" y="2176272"/>
            <a:ext cx="1554480" cy="822960"/>
          </a:xfrm>
          <a:prstGeom prst="rect">
            <a:avLst/>
          </a:prstGeom>
          <a:noFill/>
          <a:ln/>
        </p:spPr>
        <p:txBody>
          <a:bodyPr wrap="square" lIns="0" tIns="0" rIns="0" bIns="0" rtlCol="0" anchor="t"/>
          <a:lstStyle/>
          <a:p>
            <a:pPr indent="0" marL="0">
              <a:buNone/>
            </a:pPr>
            <a:r>
              <a:rPr lang="en-US" sz="1300" dirty="0">
                <a:solidFill>
                  <a:schemeClr val="tx2"/>
                </a:solidFill>
              </a:rPr>
              <a:t>Remove a few customers; reinsert each where it fits best.</a:t>
            </a:r>
            <a:endParaRPr lang="en-US" sz="1300" dirty="0"/>
          </a:p>
        </p:txBody>
      </p:sp>
      <p:sp>
        <p:nvSpPr>
          <p:cNvPr id="18" name="Arrow 3"/>
          <p:cNvSpPr txBox="1"/>
          <p:nvPr/>
        </p:nvSpPr>
        <p:spPr>
          <a:xfrm>
            <a:off x="6565392" y="1874520"/>
            <a:ext cx="219456" cy="365760"/>
          </a:xfrm>
          <a:prstGeom prst="rect">
            <a:avLst/>
          </a:prstGeom>
          <a:noFill/>
          <a:ln/>
        </p:spPr>
        <p:txBody>
          <a:bodyPr wrap="square" lIns="0" tIns="0" rIns="0" bIns="0" rtlCol="0" anchor="ctr"/>
          <a:lstStyle/>
          <a:p>
            <a:pPr algn="ctr" indent="0" marL="0">
              <a:buNone/>
            </a:pPr>
            <a:r>
              <a:rPr lang="en-US" sz="2400" b="1" dirty="0">
                <a:solidFill>
                  <a:schemeClr val="accent6"/>
                </a:solidFill>
              </a:rPr>
              <a:t>›</a:t>
            </a:r>
            <a:endParaRPr lang="en-US" sz="2400" dirty="0"/>
          </a:p>
        </p:txBody>
      </p:sp>
      <p:sp>
        <p:nvSpPr>
          <p:cNvPr id="19" name="Step 4 card"/>
          <p:cNvSpPr/>
          <p:nvPr/>
        </p:nvSpPr>
        <p:spPr>
          <a:xfrm>
            <a:off x="6766560" y="1097280"/>
            <a:ext cx="1920240" cy="1965960"/>
          </a:xfrm>
          <a:prstGeom prst="roundRect">
            <a:avLst>
              <a:gd name="adj" fmla="val 3810"/>
            </a:avLst>
          </a:prstGeom>
          <a:solidFill>
            <a:schemeClr val="bg2"/>
          </a:solidFill>
          <a:ln w="12700">
            <a:solidFill>
              <a:schemeClr val="bg2"/>
            </a:solidFill>
            <a:prstDash val="solid"/>
          </a:ln>
          <a:effectLst>
            <a:outerShdw sx="100000" sy="100000" kx="0" ky="0" algn="bl" rotWithShape="0" blurRad="76200" dist="25400" dir="5400000">
              <a:srgbClr val="14213D">
                <a:alpha val="12000"/>
              </a:srgbClr>
            </a:outerShdw>
          </a:effectLst>
        </p:spPr>
      </p:sp>
      <p:sp>
        <p:nvSpPr>
          <p:cNvPr id="20" name="Step 4 badge"/>
          <p:cNvSpPr txBox="1"/>
          <p:nvPr/>
        </p:nvSpPr>
        <p:spPr>
          <a:xfrm>
            <a:off x="6949440" y="1261872"/>
            <a:ext cx="457200" cy="457200"/>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tx1"/>
                </a:solidFill>
              </a:rPr>
              <a:t>4</a:t>
            </a:r>
            <a:endParaRPr lang="en-US" sz="1600" dirty="0"/>
          </a:p>
        </p:txBody>
      </p:sp>
      <p:sp>
        <p:nvSpPr>
          <p:cNvPr id="21" name="Step 4 heading"/>
          <p:cNvSpPr txBox="1"/>
          <p:nvPr/>
        </p:nvSpPr>
        <p:spPr>
          <a:xfrm>
            <a:off x="6949440" y="1828800"/>
            <a:ext cx="1554480" cy="329184"/>
          </a:xfrm>
          <a:prstGeom prst="rect">
            <a:avLst/>
          </a:prstGeom>
          <a:noFill/>
          <a:ln/>
        </p:spPr>
        <p:txBody>
          <a:bodyPr wrap="square" lIns="0" tIns="0" rIns="0" bIns="0" rtlCol="0" anchor="ctr"/>
          <a:lstStyle/>
          <a:p>
            <a:pPr indent="0" marL="0">
              <a:buNone/>
            </a:pPr>
            <a:r>
              <a:rPr lang="en-US" sz="1600" b="1" dirty="0">
                <a:solidFill>
                  <a:schemeClr val="tx1"/>
                </a:solidFill>
              </a:rPr>
              <a:t>Keep the best</a:t>
            </a:r>
            <a:endParaRPr lang="en-US" sz="1600" dirty="0"/>
          </a:p>
        </p:txBody>
      </p:sp>
      <p:sp>
        <p:nvSpPr>
          <p:cNvPr id="22" name="Step 4 text"/>
          <p:cNvSpPr txBox="1"/>
          <p:nvPr/>
        </p:nvSpPr>
        <p:spPr>
          <a:xfrm>
            <a:off x="6949440" y="2176272"/>
            <a:ext cx="1554480" cy="822960"/>
          </a:xfrm>
          <a:prstGeom prst="rect">
            <a:avLst/>
          </a:prstGeom>
          <a:noFill/>
          <a:ln/>
        </p:spPr>
        <p:txBody>
          <a:bodyPr wrap="square" lIns="0" tIns="0" rIns="0" bIns="0" rtlCol="0" anchor="t"/>
          <a:lstStyle/>
          <a:p>
            <a:pPr indent="0" marL="0">
              <a:buNone/>
            </a:pPr>
            <a:r>
              <a:rPr lang="en-US" sz="1300" dirty="0">
                <a:solidFill>
                  <a:schemeClr val="tx2"/>
                </a:solidFill>
              </a:rPr>
              <a:t>Sometimes accept a worse draft to escape a dead end; never lose the best plan.</a:t>
            </a:r>
            <a:endParaRPr lang="en-US" sz="1300" dirty="0"/>
          </a:p>
        </p:txBody>
      </p:sp>
      <p:sp>
        <p:nvSpPr>
          <p:cNvPr id="23" name="Repeat band"/>
          <p:cNvSpPr txBox="1"/>
          <p:nvPr/>
        </p:nvSpPr>
        <p:spPr>
          <a:xfrm>
            <a:off x="4663440" y="3172968"/>
            <a:ext cx="4023360" cy="365760"/>
          </a:xfrm>
          <a:prstGeom prst="roundRect">
            <a:avLst>
              <a:gd name="adj" fmla="val 20000"/>
            </a:avLst>
          </a:prstGeom>
          <a:solidFill>
            <a:schemeClr val="accent2"/>
          </a:solidFill>
          <a:ln/>
        </p:spPr>
        <p:txBody>
          <a:bodyPr wrap="square" lIns="0" tIns="0" rIns="0" bIns="0" rtlCol="0" anchor="ctr"/>
          <a:lstStyle/>
          <a:p>
            <a:pPr algn="ctr" indent="0" marL="0">
              <a:buNone/>
            </a:pPr>
            <a:r>
              <a:rPr lang="en-US" sz="1400" b="1" dirty="0">
                <a:solidFill>
                  <a:schemeClr val="tx1"/>
                </a:solidFill>
              </a:rPr>
              <a:t>↻  Steps 3 and 4 repeat 8,000 times</a:t>
            </a:r>
            <a:endParaRPr lang="en-US" sz="1400" dirty="0"/>
          </a:p>
        </p:txBody>
      </p:sp>
      <p:sp>
        <p:nvSpPr>
          <p:cNvPr id="24" name="Stat 1 value"/>
          <p:cNvSpPr txBox="1"/>
          <p:nvPr/>
        </p:nvSpPr>
        <p:spPr>
          <a:xfrm>
            <a:off x="457200" y="3703320"/>
            <a:ext cx="2011680" cy="502920"/>
          </a:xfrm>
          <a:prstGeom prst="rect">
            <a:avLst/>
          </a:prstGeom>
          <a:noFill/>
          <a:ln/>
        </p:spPr>
        <p:txBody>
          <a:bodyPr wrap="square" lIns="0" tIns="0" rIns="0" bIns="0" rtlCol="0" anchor="ctr"/>
          <a:lstStyle/>
          <a:p>
            <a:pPr indent="0" marL="0">
              <a:buNone/>
            </a:pPr>
            <a:r>
              <a:rPr lang="en-US" sz="3000" b="1" dirty="0">
                <a:solidFill>
                  <a:schemeClr val="accent1"/>
                </a:solidFill>
              </a:rPr>
              <a:t>522</a:t>
            </a:r>
            <a:endParaRPr lang="en-US" sz="3000" dirty="0"/>
          </a:p>
        </p:txBody>
      </p:sp>
      <p:sp>
        <p:nvSpPr>
          <p:cNvPr id="25" name="Stat 1 label"/>
          <p:cNvSpPr txBox="1"/>
          <p:nvPr/>
        </p:nvSpPr>
        <p:spPr>
          <a:xfrm>
            <a:off x="457200" y="4206240"/>
            <a:ext cx="2011680" cy="256032"/>
          </a:xfrm>
          <a:prstGeom prst="rect">
            <a:avLst/>
          </a:prstGeom>
          <a:noFill/>
          <a:ln/>
        </p:spPr>
        <p:txBody>
          <a:bodyPr wrap="square" lIns="0" tIns="0" rIns="0" bIns="0" rtlCol="0" anchor="ctr"/>
          <a:lstStyle/>
          <a:p>
            <a:pPr indent="0" marL="0">
              <a:buNone/>
            </a:pPr>
            <a:r>
              <a:rPr lang="en-US" sz="1200" dirty="0">
                <a:solidFill>
                  <a:schemeClr val="tx2"/>
                </a:solidFill>
              </a:rPr>
              <a:t>fixed random seed</a:t>
            </a:r>
            <a:endParaRPr lang="en-US" sz="1200" dirty="0"/>
          </a:p>
        </p:txBody>
      </p:sp>
      <p:sp>
        <p:nvSpPr>
          <p:cNvPr id="26" name="Stat 2 value"/>
          <p:cNvSpPr txBox="1"/>
          <p:nvPr/>
        </p:nvSpPr>
        <p:spPr>
          <a:xfrm>
            <a:off x="2606040" y="3703320"/>
            <a:ext cx="2011680" cy="502920"/>
          </a:xfrm>
          <a:prstGeom prst="rect">
            <a:avLst/>
          </a:prstGeom>
          <a:noFill/>
          <a:ln/>
        </p:spPr>
        <p:txBody>
          <a:bodyPr wrap="square" lIns="0" tIns="0" rIns="0" bIns="0" rtlCol="0" anchor="ctr"/>
          <a:lstStyle/>
          <a:p>
            <a:pPr indent="0" marL="0">
              <a:buNone/>
            </a:pPr>
            <a:r>
              <a:rPr lang="en-US" sz="3000" b="1" dirty="0">
                <a:solidFill>
                  <a:schemeClr val="accent1"/>
                </a:solidFill>
              </a:rPr>
              <a:t>8,000</a:t>
            </a:r>
            <a:endParaRPr lang="en-US" sz="3000" dirty="0"/>
          </a:p>
        </p:txBody>
      </p:sp>
      <p:sp>
        <p:nvSpPr>
          <p:cNvPr id="27" name="Stat 2 label"/>
          <p:cNvSpPr txBox="1"/>
          <p:nvPr/>
        </p:nvSpPr>
        <p:spPr>
          <a:xfrm>
            <a:off x="2606040" y="4206240"/>
            <a:ext cx="2011680" cy="256032"/>
          </a:xfrm>
          <a:prstGeom prst="rect">
            <a:avLst/>
          </a:prstGeom>
          <a:noFill/>
          <a:ln/>
        </p:spPr>
        <p:txBody>
          <a:bodyPr wrap="square" lIns="0" tIns="0" rIns="0" bIns="0" rtlCol="0" anchor="ctr"/>
          <a:lstStyle/>
          <a:p>
            <a:pPr indent="0" marL="0">
              <a:buNone/>
            </a:pPr>
            <a:r>
              <a:rPr lang="en-US" sz="1200" dirty="0">
                <a:solidFill>
                  <a:schemeClr val="tx2"/>
                </a:solidFill>
              </a:rPr>
              <a:t>iterations = stopping rule</a:t>
            </a:r>
            <a:endParaRPr lang="en-US" sz="1200" dirty="0"/>
          </a:p>
        </p:txBody>
      </p:sp>
      <p:sp>
        <p:nvSpPr>
          <p:cNvPr id="28" name="Stat 3 value"/>
          <p:cNvSpPr txBox="1"/>
          <p:nvPr/>
        </p:nvSpPr>
        <p:spPr>
          <a:xfrm>
            <a:off x="4754880" y="3703320"/>
            <a:ext cx="2011680" cy="502920"/>
          </a:xfrm>
          <a:prstGeom prst="rect">
            <a:avLst/>
          </a:prstGeom>
          <a:noFill/>
          <a:ln/>
        </p:spPr>
        <p:txBody>
          <a:bodyPr wrap="square" lIns="0" tIns="0" rIns="0" bIns="0" rtlCol="0" anchor="ctr"/>
          <a:lstStyle/>
          <a:p>
            <a:pPr indent="0" marL="0">
              <a:buNone/>
            </a:pPr>
            <a:r>
              <a:rPr lang="en-US" sz="3000" b="1" dirty="0">
                <a:solidFill>
                  <a:schemeClr val="accent1"/>
                </a:solidFill>
              </a:rPr>
              <a:t>480 s</a:t>
            </a:r>
            <a:endParaRPr lang="en-US" sz="3000" dirty="0"/>
          </a:p>
        </p:txBody>
      </p:sp>
      <p:sp>
        <p:nvSpPr>
          <p:cNvPr id="29" name="Stat 3 label"/>
          <p:cNvSpPr txBox="1"/>
          <p:nvPr/>
        </p:nvSpPr>
        <p:spPr>
          <a:xfrm>
            <a:off x="4754880" y="4206240"/>
            <a:ext cx="2011680" cy="256032"/>
          </a:xfrm>
          <a:prstGeom prst="rect">
            <a:avLst/>
          </a:prstGeom>
          <a:noFill/>
          <a:ln/>
        </p:spPr>
        <p:txBody>
          <a:bodyPr wrap="square" lIns="0" tIns="0" rIns="0" bIns="0" rtlCol="0" anchor="ctr"/>
          <a:lstStyle/>
          <a:p>
            <a:pPr indent="0" marL="0">
              <a:buNone/>
            </a:pPr>
            <a:r>
              <a:rPr lang="en-US" sz="1200" dirty="0">
                <a:solidFill>
                  <a:schemeClr val="tx2"/>
                </a:solidFill>
              </a:rPr>
              <a:t>safety cap only</a:t>
            </a:r>
            <a:endParaRPr lang="en-US" sz="1200" dirty="0"/>
          </a:p>
        </p:txBody>
      </p:sp>
      <p:sp>
        <p:nvSpPr>
          <p:cNvPr id="30" name="Source note"/>
          <p:cNvSpPr txBox="1"/>
          <p:nvPr/>
        </p:nvSpPr>
        <p:spPr>
          <a:xfrm>
            <a:off x="6903720" y="3703320"/>
            <a:ext cx="1783080" cy="960120"/>
          </a:xfrm>
          <a:prstGeom prst="rect">
            <a:avLst/>
          </a:prstGeom>
          <a:noFill/>
          <a:ln/>
        </p:spPr>
        <p:txBody>
          <a:bodyPr wrap="square" lIns="0" tIns="0" rIns="0" bIns="0" rtlCol="0" anchor="t"/>
          <a:lstStyle/>
          <a:p>
            <a:pPr indent="0" marL="0">
              <a:buNone/>
            </a:pPr>
            <a:r>
              <a:rPr lang="en-US" sz="1000" b="1" dirty="0">
                <a:solidFill>
                  <a:schemeClr val="tx2"/>
                </a:solidFill>
              </a:rPr>
              <a:t>Source: </a:t>
            </a:r>
            <a:pPr indent="0" marL="0">
              <a:buNone/>
            </a:pPr>
            <a:r>
              <a:rPr lang="en-US" sz="1000" dirty="0">
                <a:solidFill>
                  <a:schemeClr val="tx2"/>
                </a:solidFill>
              </a:rPr>
              <a:t>Ropke &amp; Pisinger (2006), Transportation Science 40(4), 455–472. A heuristic: it does not guarantee the best possible plan.</a:t>
            </a:r>
            <a:endParaRPr lang="en-US" sz="10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6949440" cy="566928"/>
          </a:xfrm>
          <a:prstGeom prst="rect">
            <a:avLst/>
          </a:prstGeom>
          <a:noFill/>
          <a:ln/>
        </p:spPr>
        <p:txBody>
          <a:bodyPr wrap="square" lIns="0" tIns="0" rIns="0" bIns="0" rtlCol="0" anchor="ctr"/>
          <a:lstStyle/>
          <a:p>
            <a:pPr algn="l" indent="0" marL="0">
              <a:buNone/>
            </a:pPr>
            <a:r>
              <a:rPr lang="en-US" sz="2800" b="1" dirty="0">
                <a:solidFill>
                  <a:schemeClr val="tx1"/>
                </a:solidFill>
              </a:rPr>
              <a:t>Check every plan independently</a:t>
            </a:r>
            <a:endParaRPr lang="en-US" sz="2800" dirty="0"/>
          </a:p>
        </p:txBody>
      </p:sp>
      <p:sp>
        <p:nvSpPr>
          <p:cNvPr id="3" name="Presenter tag"/>
          <p:cNvSpPr txBox="1"/>
          <p:nvPr/>
        </p:nvSpPr>
        <p:spPr>
          <a:xfrm>
            <a:off x="7452360" y="411480"/>
            <a:ext cx="1234440" cy="329184"/>
          </a:xfrm>
          <a:prstGeom prst="roundRect">
            <a:avLst>
              <a:gd name="adj" fmla="val 50000"/>
            </a:avLst>
          </a:prstGeom>
          <a:solidFill>
            <a:schemeClr val="accent2"/>
          </a:solidFill>
          <a:ln/>
        </p:spPr>
        <p:txBody>
          <a:bodyPr wrap="square" lIns="0" tIns="0" rIns="0" bIns="0" rtlCol="0" anchor="ctr"/>
          <a:lstStyle/>
          <a:p>
            <a:pPr algn="ctr" indent="0" marL="0">
              <a:buNone/>
            </a:pPr>
            <a:r>
              <a:rPr lang="en-US" sz="1100" b="1" dirty="0">
                <a:solidFill>
                  <a:schemeClr val="tx1"/>
                </a:solidFill>
              </a:rPr>
              <a:t>Presenter C</a:t>
            </a:r>
            <a:endParaRPr lang="en-US" sz="1100" dirty="0"/>
          </a:p>
        </p:txBody>
      </p:sp>
      <p:sp>
        <p:nvSpPr>
          <p:cNvPr id="4" name="Code background"/>
          <p:cNvSpPr/>
          <p:nvPr/>
        </p:nvSpPr>
        <p:spPr>
          <a:xfrm>
            <a:off x="457200" y="1024128"/>
            <a:ext cx="8229600" cy="1572768"/>
          </a:xfrm>
          <a:prstGeom prst="roundRect">
            <a:avLst>
              <a:gd name="adj" fmla="val 4651"/>
            </a:avLst>
          </a:prstGeom>
          <a:solidFill>
            <a:schemeClr val="tx1"/>
          </a:solidFill>
          <a:ln w="12700">
            <a:solidFill>
              <a:schemeClr val="tx1"/>
            </a:solidFill>
            <a:prstDash val="solid"/>
          </a:ln>
        </p:spPr>
      </p:sp>
      <p:sp>
        <p:nvSpPr>
          <p:cNvPr id="5" name="Code excerpt"/>
          <p:cNvSpPr txBox="1"/>
          <p:nvPr/>
        </p:nvSpPr>
        <p:spPr>
          <a:xfrm>
            <a:off x="640080" y="1133856"/>
            <a:ext cx="7863840" cy="1353312"/>
          </a:xfrm>
          <a:prstGeom prst="rect">
            <a:avLst/>
          </a:prstGeom>
          <a:noFill/>
          <a:ln/>
        </p:spPr>
        <p:txBody>
          <a:bodyPr wrap="square" lIns="0" tIns="0" rIns="0" bIns="0" rtlCol="0" anchor="ctr"/>
          <a:lstStyle/>
          <a:p>
            <a:pPr indent="0" marL="0">
              <a:buNone/>
            </a:pPr>
            <a:r>
              <a:rPr lang="en-US" sz="1300" dirty="0">
                <a:solidFill>
                  <a:schemeClr val="accent6"/>
                </a:solidFill>
                <a:latin typeface="Consolas" pitchFamily="34" charset="0"/>
                <a:ea typeface="Consolas" pitchFamily="34" charset="-122"/>
                <a:cs typeface="Consolas" pitchFamily="34" charset="-120"/>
              </a:rPr>
              <a:t> 62  </a:t>
            </a:r>
            <a:pPr indent="0" marL="0">
              <a:buNone/>
            </a:pPr>
            <a:r>
              <a:rPr lang="en-US" sz="1300" dirty="0">
                <a:solidFill>
                  <a:schemeClr val="bg1"/>
                </a:solidFill>
                <a:latin typeface="Consolas" pitchFamily="34" charset="0"/>
                <a:ea typeface="Consolas" pitchFamily="34" charset="-122"/>
                <a:cs typeface="Consolas" pitchFamily="34" charset="-120"/>
              </a:rPr>
              <a:t>arrival = clock + leg</a:t>
            </a:r>
            <a:endParaRPr lang="en-US" sz="1300" dirty="0"/>
          </a:p>
          <a:p>
            <a:pPr indent="0" marL="0">
              <a:buNone/>
            </a:pPr>
            <a:r>
              <a:rPr lang="en-US" sz="1300" dirty="0">
                <a:solidFill>
                  <a:srgbClr val="000000"/>
                </a:solidFill>
                <a:latin typeface="Consolas" pitchFamily="34" charset="0"/>
                <a:ea typeface="Consolas" pitchFamily="34" charset="-122"/>
                <a:cs typeface="Consolas" pitchFamily="34" charset="-120"/>
              </a:rPr>
              <a:t>     </a:t>
            </a:r>
            <a:pPr indent="0" marL="0">
              <a:spcAft>
                <a:spcPts val="600"/>
              </a:spcAft>
              <a:buNone/>
            </a:pPr>
            <a:r>
              <a:rPr lang="en-US" sz="1300" i="1" dirty="0">
                <a:solidFill>
                  <a:schemeClr val="accent2"/>
                </a:solidFill>
              </a:rPr>
              <a:t>→ Arrival time = the time we left + the drive.</a:t>
            </a:r>
            <a:endParaRPr lang="en-US" sz="1300" dirty="0"/>
          </a:p>
          <a:p>
            <a:pPr indent="0" marL="0">
              <a:buNone/>
            </a:pPr>
            <a:r>
              <a:rPr lang="en-US" sz="1300" dirty="0">
                <a:solidFill>
                  <a:schemeClr val="accent6"/>
                </a:solidFill>
                <a:latin typeface="Consolas" pitchFamily="34" charset="0"/>
                <a:ea typeface="Consolas" pitchFamily="34" charset="-122"/>
                <a:cs typeface="Consolas" pitchFamily="34" charset="-120"/>
              </a:rPr>
              <a:t> 63  </a:t>
            </a:r>
            <a:pPr indent="0" marL="0">
              <a:buNone/>
            </a:pPr>
            <a:r>
              <a:rPr lang="en-US" sz="1300" dirty="0">
                <a:solidFill>
                  <a:schemeClr val="bg1"/>
                </a:solidFill>
                <a:latin typeface="Consolas" pitchFamily="34" charset="0"/>
                <a:ea typeface="Consolas" pitchFamily="34" charset="-122"/>
                <a:cs typeface="Consolas" pitchFamily="34" charset="-120"/>
              </a:rPr>
              <a:t>start = max(arrival, float(customer["window_start"]))</a:t>
            </a:r>
            <a:endParaRPr lang="en-US" sz="1300" dirty="0"/>
          </a:p>
          <a:p>
            <a:pPr indent="0" marL="0">
              <a:buNone/>
            </a:pPr>
            <a:r>
              <a:rPr lang="en-US" sz="1300" dirty="0">
                <a:solidFill>
                  <a:srgbClr val="000000"/>
                </a:solidFill>
                <a:latin typeface="Consolas" pitchFamily="34" charset="0"/>
                <a:ea typeface="Consolas" pitchFamily="34" charset="-122"/>
                <a:cs typeface="Consolas" pitchFamily="34" charset="-120"/>
              </a:rPr>
              <a:t>     </a:t>
            </a:r>
            <a:pPr indent="0" marL="0">
              <a:spcAft>
                <a:spcPts val="600"/>
              </a:spcAft>
              <a:buNone/>
            </a:pPr>
            <a:r>
              <a:rPr lang="en-US" sz="1300" i="1" dirty="0">
                <a:solidFill>
                  <a:schemeClr val="accent2"/>
                </a:solidFill>
              </a:rPr>
              <a:t>→ Arrived early? Wait until the customer's window opens.</a:t>
            </a:r>
            <a:endParaRPr lang="en-US" sz="1300" dirty="0"/>
          </a:p>
          <a:p>
            <a:pPr indent="0" marL="0">
              <a:buNone/>
            </a:pPr>
            <a:r>
              <a:rPr lang="en-US" sz="1300" dirty="0">
                <a:solidFill>
                  <a:schemeClr val="accent6"/>
                </a:solidFill>
                <a:latin typeface="Consolas" pitchFamily="34" charset="0"/>
                <a:ea typeface="Consolas" pitchFamily="34" charset="-122"/>
                <a:cs typeface="Consolas" pitchFamily="34" charset="-120"/>
              </a:rPr>
              <a:t> 65  </a:t>
            </a:r>
            <a:pPr indent="0" marL="0">
              <a:buNone/>
            </a:pPr>
            <a:r>
              <a:rPr lang="en-US" sz="1300" dirty="0">
                <a:solidFill>
                  <a:schemeClr val="bg1"/>
                </a:solidFill>
                <a:latin typeface="Consolas" pitchFamily="34" charset="0"/>
                <a:ea typeface="Consolas" pitchFamily="34" charset="-122"/>
                <a:cs typeface="Consolas" pitchFamily="34" charset="-120"/>
              </a:rPr>
              <a:t>if start &gt; float(customer["window_end"]) + TOL:</a:t>
            </a:r>
            <a:endParaRPr lang="en-US" sz="1300" dirty="0"/>
          </a:p>
          <a:p>
            <a:pPr indent="0" marL="0">
              <a:buNone/>
            </a:pPr>
            <a:r>
              <a:rPr lang="en-US" sz="1300" dirty="0">
                <a:solidFill>
                  <a:srgbClr val="000000"/>
                </a:solidFill>
                <a:latin typeface="Consolas" pitchFamily="34" charset="0"/>
                <a:ea typeface="Consolas" pitchFamily="34" charset="-122"/>
                <a:cs typeface="Consolas" pitchFamily="34" charset="-120"/>
              </a:rPr>
              <a:t>     </a:t>
            </a:r>
            <a:pPr indent="0" marL="0">
              <a:buNone/>
            </a:pPr>
            <a:r>
              <a:rPr lang="en-US" sz="1300" i="1" dirty="0">
                <a:solidFill>
                  <a:schemeClr val="accent2"/>
                </a:solidFill>
              </a:rPr>
              <a:t>→ Started after the window closed? Record a violation.</a:t>
            </a:r>
            <a:endParaRPr lang="en-US" sz="1300" dirty="0"/>
          </a:p>
        </p:txBody>
      </p:sp>
      <p:sp>
        <p:nvSpPr>
          <p:cNvPr id="6" name="Code caption"/>
          <p:cNvSpPr txBox="1"/>
          <p:nvPr/>
        </p:nvSpPr>
        <p:spPr>
          <a:xfrm>
            <a:off x="457200" y="2633472"/>
            <a:ext cx="8229600" cy="219456"/>
          </a:xfrm>
          <a:prstGeom prst="rect">
            <a:avLst/>
          </a:prstGeom>
          <a:noFill/>
          <a:ln/>
        </p:spPr>
        <p:txBody>
          <a:bodyPr wrap="square" lIns="0" tIns="0" rIns="0" bIns="0" rtlCol="0" anchor="ctr"/>
          <a:lstStyle/>
          <a:p>
            <a:pPr indent="0" marL="0">
              <a:buNone/>
            </a:pPr>
            <a:r>
              <a:rPr lang="en-US" sz="1000" i="1" dirty="0">
                <a:solidFill>
                  <a:schemeClr val="tx2"/>
                </a:solidFill>
              </a:rPr>
              <a:t>src/vrptw/checker.py, 3 of its lines. It uses no code from either solver.</a:t>
            </a:r>
            <a:endParaRPr lang="en-US" sz="1000" dirty="0"/>
          </a:p>
        </p:txBody>
      </p:sp>
      <p:sp>
        <p:nvSpPr>
          <p:cNvPr id="7" name="What was unclear in the AI draft card"/>
          <p:cNvSpPr/>
          <p:nvPr/>
        </p:nvSpPr>
        <p:spPr>
          <a:xfrm>
            <a:off x="457200" y="2926080"/>
            <a:ext cx="3977640" cy="1078992"/>
          </a:xfrm>
          <a:prstGeom prst="roundRect">
            <a:avLst>
              <a:gd name="adj" fmla="val 6780"/>
            </a:avLst>
          </a:prstGeom>
          <a:solidFill>
            <a:schemeClr val="bg2"/>
          </a:solidFill>
          <a:ln w="12700">
            <a:solidFill>
              <a:schemeClr val="bg2"/>
            </a:solidFill>
            <a:prstDash val="solid"/>
          </a:ln>
          <a:effectLst>
            <a:outerShdw sx="100000" sy="100000" kx="0" ky="0" algn="bl" rotWithShape="0" blurRad="76200" dist="25400" dir="5400000">
              <a:srgbClr val="14213D">
                <a:alpha val="12000"/>
              </a:srgbClr>
            </a:outerShdw>
          </a:effectLst>
        </p:spPr>
      </p:sp>
      <p:sp>
        <p:nvSpPr>
          <p:cNvPr id="8" name="What was unclear in the AI draft icon"/>
          <p:cNvSpPr txBox="1"/>
          <p:nvPr/>
        </p:nvSpPr>
        <p:spPr>
          <a:xfrm>
            <a:off x="621792" y="3072384"/>
            <a:ext cx="347472" cy="347472"/>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9" name="What was unclear in the AI draft heading"/>
          <p:cNvSpPr txBox="1"/>
          <p:nvPr/>
        </p:nvSpPr>
        <p:spPr>
          <a:xfrm>
            <a:off x="1078992" y="3054096"/>
            <a:ext cx="3191256" cy="384048"/>
          </a:xfrm>
          <a:prstGeom prst="rect">
            <a:avLst/>
          </a:prstGeom>
          <a:noFill/>
          <a:ln/>
        </p:spPr>
        <p:txBody>
          <a:bodyPr wrap="square" lIns="0" tIns="0" rIns="0" bIns="0" rtlCol="0" anchor="ctr"/>
          <a:lstStyle/>
          <a:p>
            <a:pPr indent="0" marL="0">
              <a:buNone/>
            </a:pPr>
            <a:r>
              <a:rPr lang="en-US" sz="1500" b="1" dirty="0">
                <a:solidFill>
                  <a:schemeClr val="tx1"/>
                </a:solidFill>
              </a:rPr>
              <a:t>What was unclear in the AI draft</a:t>
            </a:r>
            <a:endParaRPr lang="en-US" sz="1500" dirty="0"/>
          </a:p>
        </p:txBody>
      </p:sp>
      <p:sp>
        <p:nvSpPr>
          <p:cNvPr id="10" name="What was unclear in the AI draft text"/>
          <p:cNvSpPr txBox="1"/>
          <p:nvPr/>
        </p:nvSpPr>
        <p:spPr>
          <a:xfrm>
            <a:off x="640080" y="3493008"/>
            <a:ext cx="3611880" cy="438912"/>
          </a:xfrm>
          <a:prstGeom prst="rect">
            <a:avLst/>
          </a:prstGeom>
          <a:noFill/>
          <a:ln/>
        </p:spPr>
        <p:txBody>
          <a:bodyPr wrap="square" lIns="0" tIns="0" rIns="0" bIns="0" rtlCol="0" anchor="t"/>
          <a:lstStyle/>
          <a:p>
            <a:pPr indent="0" marL="0">
              <a:buNone/>
            </a:pPr>
            <a:r>
              <a:rPr lang="en-US" sz="1400" dirty="0">
                <a:solidFill>
                  <a:schemeClr val="tx1"/>
                </a:solidFill>
              </a:rPr>
              <a:t>Trust the solver's reported arrival times? No: the checker recomputes every time from the visits.</a:t>
            </a:r>
            <a:endParaRPr lang="en-US" sz="1400" dirty="0"/>
          </a:p>
        </p:txBody>
      </p:sp>
      <p:sp>
        <p:nvSpPr>
          <p:cNvPr id="11" name="How we checked it card"/>
          <p:cNvSpPr/>
          <p:nvPr/>
        </p:nvSpPr>
        <p:spPr>
          <a:xfrm>
            <a:off x="4709160" y="2926080"/>
            <a:ext cx="3977640" cy="1078992"/>
          </a:xfrm>
          <a:prstGeom prst="roundRect">
            <a:avLst>
              <a:gd name="adj" fmla="val 6780"/>
            </a:avLst>
          </a:prstGeom>
          <a:solidFill>
            <a:schemeClr val="bg2"/>
          </a:solidFill>
          <a:ln w="12700">
            <a:solidFill>
              <a:schemeClr val="bg2"/>
            </a:solidFill>
            <a:prstDash val="solid"/>
          </a:ln>
          <a:effectLst>
            <a:outerShdw sx="100000" sy="100000" kx="0" ky="0" algn="bl" rotWithShape="0" blurRad="76200" dist="25400" dir="5400000">
              <a:srgbClr val="14213D">
                <a:alpha val="12000"/>
              </a:srgbClr>
            </a:outerShdw>
          </a:effectLst>
        </p:spPr>
      </p:sp>
      <p:sp>
        <p:nvSpPr>
          <p:cNvPr id="12" name="How we checked it icon"/>
          <p:cNvSpPr txBox="1"/>
          <p:nvPr/>
        </p:nvSpPr>
        <p:spPr>
          <a:xfrm>
            <a:off x="4873752" y="3072384"/>
            <a:ext cx="347472" cy="347472"/>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13" name="How we checked it heading"/>
          <p:cNvSpPr txBox="1"/>
          <p:nvPr/>
        </p:nvSpPr>
        <p:spPr>
          <a:xfrm>
            <a:off x="5330952" y="3054096"/>
            <a:ext cx="3191256" cy="384048"/>
          </a:xfrm>
          <a:prstGeom prst="rect">
            <a:avLst/>
          </a:prstGeom>
          <a:noFill/>
          <a:ln/>
        </p:spPr>
        <p:txBody>
          <a:bodyPr wrap="square" lIns="0" tIns="0" rIns="0" bIns="0" rtlCol="0" anchor="ctr"/>
          <a:lstStyle/>
          <a:p>
            <a:pPr indent="0" marL="0">
              <a:buNone/>
            </a:pPr>
            <a:r>
              <a:rPr lang="en-US" sz="1500" b="1" dirty="0">
                <a:solidFill>
                  <a:schemeClr val="tx1"/>
                </a:solidFill>
              </a:rPr>
              <a:t>How we checked it</a:t>
            </a:r>
            <a:endParaRPr lang="en-US" sz="1500" dirty="0"/>
          </a:p>
        </p:txBody>
      </p:sp>
      <p:sp>
        <p:nvSpPr>
          <p:cNvPr id="14" name="How we checked it text"/>
          <p:cNvSpPr txBox="1"/>
          <p:nvPr/>
        </p:nvSpPr>
        <p:spPr>
          <a:xfrm>
            <a:off x="4892040" y="3493008"/>
            <a:ext cx="3611880" cy="438912"/>
          </a:xfrm>
          <a:prstGeom prst="rect">
            <a:avLst/>
          </a:prstGeom>
          <a:noFill/>
          <a:ln/>
        </p:spPr>
        <p:txBody>
          <a:bodyPr wrap="square" lIns="0" tIns="0" rIns="0" bIns="0" rtlCol="0" anchor="t"/>
          <a:lstStyle/>
          <a:p>
            <a:pPr indent="0" marL="0">
              <a:buNone/>
            </a:pPr>
            <a:r>
              <a:rPr lang="en-US" sz="1400" dirty="0">
                <a:solidFill>
                  <a:schemeClr val="tx1"/>
                </a:solidFill>
              </a:rPr>
              <a:t>Broke a plan on purpose (reversed a route, dropped C006): both errors caught. 37 tests pass.</a:t>
            </a:r>
            <a:endParaRPr lang="en-US" sz="1400" dirty="0"/>
          </a:p>
        </p:txBody>
      </p:sp>
      <p:sp>
        <p:nvSpPr>
          <p:cNvPr id="15" name="Output box"/>
          <p:cNvSpPr/>
          <p:nvPr/>
        </p:nvSpPr>
        <p:spPr>
          <a:xfrm>
            <a:off x="457200" y="4133088"/>
            <a:ext cx="8229600" cy="640080"/>
          </a:xfrm>
          <a:prstGeom prst="roundRect">
            <a:avLst>
              <a:gd name="adj" fmla="val 8571"/>
            </a:avLst>
          </a:prstGeom>
          <a:solidFill>
            <a:srgbClr val="FFFFFF"/>
          </a:solidFill>
          <a:ln w="15875">
            <a:solidFill>
              <a:schemeClr val="accent1"/>
            </a:solidFill>
            <a:prstDash val="solid"/>
          </a:ln>
        </p:spPr>
      </p:sp>
      <p:sp>
        <p:nvSpPr>
          <p:cNvPr id="16" name="Output label"/>
          <p:cNvSpPr txBox="1"/>
          <p:nvPr/>
        </p:nvSpPr>
        <p:spPr>
          <a:xfrm>
            <a:off x="640080" y="4187952"/>
            <a:ext cx="1828800" cy="182880"/>
          </a:xfrm>
          <a:prstGeom prst="rect">
            <a:avLst/>
          </a:prstGeom>
          <a:noFill/>
          <a:ln/>
        </p:spPr>
        <p:txBody>
          <a:bodyPr wrap="square" lIns="0" tIns="0" rIns="0" bIns="0" rtlCol="0" anchor="ctr"/>
          <a:lstStyle/>
          <a:p>
            <a:pPr indent="0" marL="0">
              <a:buNone/>
            </a:pPr>
            <a:r>
              <a:rPr lang="en-US" sz="900" b="1" spc="100" kern="0" dirty="0">
                <a:solidFill>
                  <a:schemeClr val="accent1"/>
                </a:solidFill>
              </a:rPr>
              <a:t>ACTUAL OUTPUT</a:t>
            </a:r>
            <a:endParaRPr lang="en-US" sz="900" dirty="0"/>
          </a:p>
        </p:txBody>
      </p:sp>
      <p:sp>
        <p:nvSpPr>
          <p:cNvPr id="17" name="Output text"/>
          <p:cNvSpPr txBox="1"/>
          <p:nvPr/>
        </p:nvSpPr>
        <p:spPr>
          <a:xfrm>
            <a:off x="640080" y="4379976"/>
            <a:ext cx="7863840" cy="338328"/>
          </a:xfrm>
          <a:prstGeom prst="rect">
            <a:avLst/>
          </a:prstGeom>
          <a:noFill/>
          <a:ln/>
        </p:spPr>
        <p:txBody>
          <a:bodyPr wrap="square" lIns="0" tIns="0" rIns="0" bIns="0" rtlCol="0" anchor="t"/>
          <a:lstStyle/>
          <a:p>
            <a:pPr indent="0" marL="0">
              <a:buNone/>
            </a:pPr>
            <a:r>
              <a:rPr lang="en-US" sz="1150" dirty="0">
                <a:solidFill>
                  <a:schemeClr val="tx1"/>
                </a:solidFill>
                <a:latin typeface="Consolas" pitchFamily="34" charset="0"/>
                <a:ea typeface="Consolas" pitchFamily="34" charset="-122"/>
                <a:cs typeface="Consolas" pitchFamily="34" charset="-120"/>
              </a:rPr>
              <a:t>V01: service at C002 starts at 381.686000, after its window end 204</a:t>
            </a:r>
            <a:endParaRPr lang="en-US" sz="1150" dirty="0"/>
          </a:p>
          <a:p>
            <a:pPr indent="0" marL="0">
              <a:buNone/>
            </a:pPr>
            <a:r>
              <a:rPr lang="en-US" sz="1150" dirty="0">
                <a:solidFill>
                  <a:schemeClr val="tx1"/>
                </a:solidFill>
                <a:latin typeface="Consolas" pitchFamily="34" charset="0"/>
                <a:ea typeface="Consolas" pitchFamily="34" charset="-122"/>
                <a:cs typeface="Consolas" pitchFamily="34" charset="-120"/>
              </a:rPr>
              <a:t>customers not served: ['C006']</a:t>
            </a:r>
            <a:endParaRPr lang="en-US" sz="115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6949440" cy="566928"/>
          </a:xfrm>
          <a:prstGeom prst="rect">
            <a:avLst/>
          </a:prstGeom>
          <a:noFill/>
          <a:ln/>
        </p:spPr>
        <p:txBody>
          <a:bodyPr wrap="square" lIns="0" tIns="0" rIns="0" bIns="0" rtlCol="0" anchor="ctr"/>
          <a:lstStyle/>
          <a:p>
            <a:pPr algn="l" indent="0" marL="0">
              <a:buNone/>
            </a:pPr>
            <a:r>
              <a:rPr lang="en-US" sz="2800" b="1" dirty="0">
                <a:solidFill>
                  <a:schemeClr val="bg1"/>
                </a:solidFill>
              </a:rPr>
              <a:t>Live: the real tool on a fresh copy</a:t>
            </a:r>
            <a:endParaRPr lang="en-US" sz="2800" dirty="0"/>
          </a:p>
        </p:txBody>
      </p:sp>
      <p:sp>
        <p:nvSpPr>
          <p:cNvPr id="3" name="Presenter tag"/>
          <p:cNvSpPr txBox="1"/>
          <p:nvPr/>
        </p:nvSpPr>
        <p:spPr>
          <a:xfrm>
            <a:off x="7452360" y="411480"/>
            <a:ext cx="1234440" cy="329184"/>
          </a:xfrm>
          <a:prstGeom prst="roundRect">
            <a:avLst>
              <a:gd name="adj" fmla="val 50000"/>
            </a:avLst>
          </a:prstGeom>
          <a:solidFill>
            <a:schemeClr val="accent2"/>
          </a:solidFill>
          <a:ln/>
        </p:spPr>
        <p:txBody>
          <a:bodyPr wrap="square" lIns="0" tIns="0" rIns="0" bIns="0" rtlCol="0" anchor="ctr"/>
          <a:lstStyle/>
          <a:p>
            <a:pPr algn="ctr" indent="0" marL="0">
              <a:buNone/>
            </a:pPr>
            <a:r>
              <a:rPr lang="en-US" sz="1100" b="1" dirty="0">
                <a:solidFill>
                  <a:schemeClr val="tx1"/>
                </a:solidFill>
              </a:rPr>
              <a:t>Presenter A → C</a:t>
            </a:r>
            <a:endParaRPr lang="en-US" sz="1100" dirty="0"/>
          </a:p>
        </p:txBody>
      </p:sp>
      <p:sp>
        <p:nvSpPr>
          <p:cNvPr id="4" name="Terminal window"/>
          <p:cNvSpPr/>
          <p:nvPr/>
        </p:nvSpPr>
        <p:spPr>
          <a:xfrm>
            <a:off x="457200" y="1051560"/>
            <a:ext cx="5120640" cy="3200400"/>
          </a:xfrm>
          <a:prstGeom prst="roundRect">
            <a:avLst>
              <a:gd name="adj" fmla="val 2286"/>
            </a:avLst>
          </a:prstGeom>
          <a:solidFill>
            <a:srgbClr val="0B1426"/>
          </a:solidFill>
          <a:ln w="12700">
            <a:solidFill>
              <a:srgbClr val="4A5868"/>
            </a:solidFill>
            <a:prstDash val="solid"/>
          </a:ln>
        </p:spPr>
      </p:sp>
      <p:sp>
        <p:nvSpPr>
          <p:cNvPr id="5" name="Terminal dot 1"/>
          <p:cNvSpPr/>
          <p:nvPr/>
        </p:nvSpPr>
        <p:spPr>
          <a:xfrm>
            <a:off x="640080" y="1188720"/>
            <a:ext cx="109728" cy="109728"/>
          </a:xfrm>
          <a:prstGeom prst="ellipse">
            <a:avLst/>
          </a:prstGeom>
          <a:solidFill>
            <a:srgbClr val="D1495B"/>
          </a:solidFill>
          <a:ln w="12700">
            <a:solidFill>
              <a:srgbClr val="D1495B"/>
            </a:solidFill>
            <a:prstDash val="solid"/>
          </a:ln>
        </p:spPr>
      </p:sp>
      <p:sp>
        <p:nvSpPr>
          <p:cNvPr id="6" name="Terminal dot 2"/>
          <p:cNvSpPr/>
          <p:nvPr/>
        </p:nvSpPr>
        <p:spPr>
          <a:xfrm>
            <a:off x="841248" y="1188720"/>
            <a:ext cx="109728" cy="109728"/>
          </a:xfrm>
          <a:prstGeom prst="ellipse">
            <a:avLst/>
          </a:prstGeom>
          <a:solidFill>
            <a:srgbClr val="F2A541"/>
          </a:solidFill>
          <a:ln w="12700">
            <a:solidFill>
              <a:srgbClr val="F2A541"/>
            </a:solidFill>
            <a:prstDash val="solid"/>
          </a:ln>
        </p:spPr>
      </p:sp>
      <p:sp>
        <p:nvSpPr>
          <p:cNvPr id="7" name="Terminal dot 3"/>
          <p:cNvSpPr/>
          <p:nvPr/>
        </p:nvSpPr>
        <p:spPr>
          <a:xfrm>
            <a:off x="1042416" y="1188720"/>
            <a:ext cx="109728" cy="109728"/>
          </a:xfrm>
          <a:prstGeom prst="ellipse">
            <a:avLst/>
          </a:prstGeom>
          <a:solidFill>
            <a:srgbClr val="66A182"/>
          </a:solidFill>
          <a:ln w="12700">
            <a:solidFill>
              <a:srgbClr val="66A182"/>
            </a:solidFill>
            <a:prstDash val="solid"/>
          </a:ln>
        </p:spPr>
      </p:sp>
      <p:sp>
        <p:nvSpPr>
          <p:cNvPr id="8" name="Terminal text"/>
          <p:cNvSpPr txBox="1"/>
          <p:nvPr/>
        </p:nvSpPr>
        <p:spPr>
          <a:xfrm>
            <a:off x="685800" y="1463040"/>
            <a:ext cx="4754880" cy="2971800"/>
          </a:xfrm>
          <a:prstGeom prst="rect">
            <a:avLst/>
          </a:prstGeom>
          <a:noFill/>
          <a:ln/>
        </p:spPr>
        <p:txBody>
          <a:bodyPr wrap="square" lIns="0" tIns="0" rIns="0" bIns="0" rtlCol="0" anchor="t"/>
          <a:lstStyle/>
          <a:p>
            <a:pPr indent="0" marL="0">
              <a:spcAft>
                <a:spcPts val="300"/>
              </a:spcAft>
              <a:buNone/>
            </a:pPr>
            <a:r>
              <a:rPr lang="en-US" sz="1200" b="1" dirty="0">
                <a:solidFill>
                  <a:schemeClr val="accent2"/>
                </a:solidFill>
                <a:latin typeface="Consolas" pitchFamily="34" charset="0"/>
                <a:ea typeface="Consolas" pitchFamily="34" charset="-122"/>
                <a:cs typeface="Consolas" pitchFamily="34" charset="-120"/>
              </a:rPr>
              <a:t>$ pixi run prototype-demo</a:t>
            </a:r>
            <a:endParaRPr lang="en-US" sz="1200" dirty="0"/>
          </a:p>
          <a:p>
            <a:pPr indent="0" marL="0">
              <a:spcAft>
                <a:spcPts val="300"/>
              </a:spcAft>
              <a:buNone/>
            </a:pPr>
            <a:r>
              <a:rPr lang="en-US" sz="1200" dirty="0">
                <a:solidFill>
                  <a:schemeClr val="bg1"/>
                </a:solidFill>
                <a:latin typeface="Consolas" pitchFamily="34" charset="0"/>
                <a:ea typeface="Consolas" pitchFamily="34" charset="-122"/>
                <a:cs typeface="Consolas" pitchFamily="34" charset="-120"/>
              </a:rPr>
              <a:t>FRESH INPUT: out/prototype_demo/run_…/fresh_medium</a:t>
            </a:r>
            <a:endParaRPr lang="en-US" sz="1200" dirty="0"/>
          </a:p>
          <a:p>
            <a:pPr indent="0" marL="0">
              <a:spcAft>
                <a:spcPts val="300"/>
              </a:spcAft>
              <a:buNone/>
            </a:pPr>
            <a:r>
              <a:rPr lang="en-US" sz="1200" dirty="0">
                <a:solidFill>
                  <a:schemeClr val="bg1"/>
                </a:solidFill>
                <a:latin typeface="Consolas" pitchFamily="34" charset="0"/>
                <a:ea typeface="Consolas" pitchFamily="34" charset="-122"/>
                <a:cs typeface="Consolas" pitchFamily="34" charset="-120"/>
              </a:rPr>
              <a:t>RULE  1683.397 min · 11 trucks</a:t>
            </a:r>
            <a:endParaRPr lang="en-US" sz="1200" dirty="0"/>
          </a:p>
          <a:p>
            <a:pPr indent="0" marL="0">
              <a:spcAft>
                <a:spcPts val="300"/>
              </a:spcAft>
              <a:buNone/>
            </a:pPr>
            <a:r>
              <a:rPr lang="en-US" sz="1200" dirty="0">
                <a:solidFill>
                  <a:schemeClr val="accent5"/>
                </a:solidFill>
                <a:latin typeface="Consolas" pitchFamily="34" charset="0"/>
                <a:ea typeface="Consolas" pitchFamily="34" charset="-122"/>
                <a:cs typeface="Consolas" pitchFamily="34" charset="-120"/>
              </a:rPr>
              <a:t>  INDEPENDENT CHECK: feasible true · 45 served</a:t>
            </a:r>
            <a:endParaRPr lang="en-US" sz="1200" dirty="0"/>
          </a:p>
          <a:p>
            <a:pPr indent="0" marL="0">
              <a:spcAft>
                <a:spcPts val="300"/>
              </a:spcAft>
              <a:buNone/>
            </a:pPr>
            <a:r>
              <a:rPr lang="en-US" sz="1200" dirty="0">
                <a:solidFill>
                  <a:schemeClr val="bg1"/>
                </a:solidFill>
                <a:latin typeface="Consolas" pitchFamily="34" charset="0"/>
                <a:ea typeface="Consolas" pitchFamily="34" charset="-122"/>
                <a:cs typeface="Consolas" pitchFamily="34" charset="-120"/>
              </a:rPr>
              <a:t>LNS   1040.678 min · 8 trucks</a:t>
            </a:r>
            <a:endParaRPr lang="en-US" sz="1200" dirty="0"/>
          </a:p>
          <a:p>
            <a:pPr indent="0" marL="0">
              <a:spcAft>
                <a:spcPts val="300"/>
              </a:spcAft>
              <a:buNone/>
            </a:pPr>
            <a:r>
              <a:rPr lang="en-US" sz="1200" dirty="0">
                <a:solidFill>
                  <a:schemeClr val="accent5"/>
                </a:solidFill>
                <a:latin typeface="Consolas" pitchFamily="34" charset="0"/>
                <a:ea typeface="Consolas" pitchFamily="34" charset="-122"/>
                <a:cs typeface="Consolas" pitchFamily="34" charset="-120"/>
              </a:rPr>
              <a:t>  INDEPENDENT CHECK: feasible true · 45 served</a:t>
            </a:r>
            <a:endParaRPr lang="en-US" sz="1200" dirty="0"/>
          </a:p>
          <a:p>
            <a:pPr indent="0" marL="0">
              <a:spcAft>
                <a:spcPts val="300"/>
              </a:spcAft>
              <a:buNone/>
            </a:pPr>
            <a:r>
              <a:rPr lang="en-US" sz="1200" dirty="0">
                <a:solidFill>
                  <a:schemeClr val="bg1"/>
                </a:solidFill>
                <a:latin typeface="Consolas" pitchFamily="34" charset="0"/>
                <a:ea typeface="Consolas" pitchFamily="34" charset="-122"/>
                <a:cs typeface="Consolas" pitchFamily="34" charset="-120"/>
              </a:rPr>
              <a:t> </a:t>
            </a:r>
            <a:endParaRPr lang="en-US" sz="1200" dirty="0"/>
          </a:p>
          <a:p>
            <a:pPr indent="0" marL="0">
              <a:spcAft>
                <a:spcPts val="300"/>
              </a:spcAft>
              <a:buNone/>
            </a:pPr>
            <a:r>
              <a:rPr lang="en-US" sz="1200" b="1" dirty="0">
                <a:solidFill>
                  <a:schemeClr val="accent2"/>
                </a:solidFill>
                <a:latin typeface="Consolas" pitchFamily="34" charset="0"/>
                <a:ea typeface="Consolas" pitchFamily="34" charset="-122"/>
                <a:cs typeface="Consolas" pitchFamily="34" charset="-120"/>
              </a:rPr>
              <a:t>$ pixi run prototype-demo --checks-only</a:t>
            </a:r>
            <a:endParaRPr lang="en-US" sz="1200" dirty="0"/>
          </a:p>
          <a:p>
            <a:pPr indent="0" marL="0">
              <a:spcAft>
                <a:spcPts val="300"/>
              </a:spcAft>
              <a:buNone/>
            </a:pPr>
            <a:r>
              <a:rPr lang="en-US" sz="1200" dirty="0">
                <a:solidFill>
                  <a:schemeClr val="bg1"/>
                </a:solidFill>
                <a:latin typeface="Consolas" pitchFamily="34" charset="0"/>
                <a:ea typeface="Consolas" pitchFamily="34" charset="-122"/>
                <a:cs typeface="Consolas" pitchFamily="34" charset="-120"/>
              </a:rPr>
              <a:t>bad file rejected · edge case · worked example</a:t>
            </a:r>
            <a:endParaRPr lang="en-US" sz="1200" dirty="0"/>
          </a:p>
          <a:p>
            <a:pPr indent="0" marL="0">
              <a:spcAft>
                <a:spcPts val="300"/>
              </a:spcAft>
              <a:buNone/>
            </a:pPr>
            <a:r>
              <a:rPr lang="en-US" sz="1200" dirty="0">
                <a:solidFill>
                  <a:schemeClr val="accent5"/>
                </a:solidFill>
                <a:latin typeface="Consolas" pitchFamily="34" charset="0"/>
                <a:ea typeface="Consolas" pitchFamily="34" charset="-122"/>
                <a:cs typeface="Consolas" pitchFamily="34" charset="-120"/>
              </a:rPr>
              <a:t>broken plan caught · 37 passed</a:t>
            </a:r>
            <a:endParaRPr lang="en-US" sz="1200" dirty="0"/>
          </a:p>
        </p:txBody>
      </p:sp>
      <p:sp>
        <p:nvSpPr>
          <p:cNvPr id="9" name="Point-at label"/>
          <p:cNvSpPr txBox="1"/>
          <p:nvPr/>
        </p:nvSpPr>
        <p:spPr>
          <a:xfrm>
            <a:off x="5943600" y="1097280"/>
            <a:ext cx="2743200" cy="274320"/>
          </a:xfrm>
          <a:prstGeom prst="rect">
            <a:avLst/>
          </a:prstGeom>
          <a:noFill/>
          <a:ln/>
        </p:spPr>
        <p:txBody>
          <a:bodyPr wrap="square" lIns="0" tIns="0" rIns="0" bIns="0" rtlCol="0" anchor="ctr"/>
          <a:lstStyle/>
          <a:p>
            <a:pPr indent="0" marL="0">
              <a:buNone/>
            </a:pPr>
            <a:r>
              <a:rPr lang="en-US" sz="1100" b="1" spc="200" kern="0" dirty="0">
                <a:solidFill>
                  <a:schemeClr val="accent2"/>
                </a:solidFill>
              </a:rPr>
              <a:t>WHAT TO POINT AT</a:t>
            </a:r>
            <a:endParaRPr lang="en-US" sz="1100" dirty="0"/>
          </a:p>
        </p:txBody>
      </p:sp>
      <p:sp>
        <p:nvSpPr>
          <p:cNvPr id="10" name="Point-at 1 badge"/>
          <p:cNvSpPr txBox="1"/>
          <p:nvPr/>
        </p:nvSpPr>
        <p:spPr>
          <a:xfrm>
            <a:off x="5943600" y="1508760"/>
            <a:ext cx="411480" cy="41148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1" name="Point-at 1 heading"/>
          <p:cNvSpPr txBox="1"/>
          <p:nvPr/>
        </p:nvSpPr>
        <p:spPr>
          <a:xfrm>
            <a:off x="6492240" y="1481328"/>
            <a:ext cx="2194560" cy="292608"/>
          </a:xfrm>
          <a:prstGeom prst="rect">
            <a:avLst/>
          </a:prstGeom>
          <a:noFill/>
          <a:ln/>
        </p:spPr>
        <p:txBody>
          <a:bodyPr wrap="square" lIns="0" tIns="0" rIns="0" bIns="0" rtlCol="0" anchor="ctr"/>
          <a:lstStyle/>
          <a:p>
            <a:pPr indent="0" marL="0">
              <a:buNone/>
            </a:pPr>
            <a:r>
              <a:rPr lang="en-US" sz="1500" b="1" dirty="0">
                <a:solidFill>
                  <a:schemeClr val="bg1"/>
                </a:solidFill>
              </a:rPr>
              <a:t>The new input path</a:t>
            </a:r>
            <a:endParaRPr lang="en-US" sz="1500" dirty="0"/>
          </a:p>
        </p:txBody>
      </p:sp>
      <p:sp>
        <p:nvSpPr>
          <p:cNvPr id="12" name="Point-at 1 text"/>
          <p:cNvSpPr txBox="1"/>
          <p:nvPr/>
        </p:nvSpPr>
        <p:spPr>
          <a:xfrm>
            <a:off x="6492240" y="1783080"/>
            <a:ext cx="2194560" cy="502920"/>
          </a:xfrm>
          <a:prstGeom prst="rect">
            <a:avLst/>
          </a:prstGeom>
          <a:noFill/>
          <a:ln/>
        </p:spPr>
        <p:txBody>
          <a:bodyPr wrap="square" lIns="0" tIns="0" rIns="0" bIns="0" rtlCol="0" anchor="t"/>
          <a:lstStyle/>
          <a:p>
            <a:pPr indent="0" marL="0">
              <a:buNone/>
            </a:pPr>
            <a:r>
              <a:rPr lang="en-US" sz="1300" dirty="0">
                <a:solidFill>
                  <a:schemeClr val="accent6"/>
                </a:solidFill>
              </a:rPr>
              <a:t>a fresh copy, not the original files</a:t>
            </a:r>
            <a:endParaRPr lang="en-US" sz="1300" dirty="0"/>
          </a:p>
        </p:txBody>
      </p:sp>
      <p:sp>
        <p:nvSpPr>
          <p:cNvPr id="13" name="Point-at 2 badge"/>
          <p:cNvSpPr txBox="1"/>
          <p:nvPr/>
        </p:nvSpPr>
        <p:spPr>
          <a:xfrm>
            <a:off x="5943600" y="2496312"/>
            <a:ext cx="411480" cy="41148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4" name="Point-at 2 heading"/>
          <p:cNvSpPr txBox="1"/>
          <p:nvPr/>
        </p:nvSpPr>
        <p:spPr>
          <a:xfrm>
            <a:off x="6492240" y="2468880"/>
            <a:ext cx="2194560" cy="292608"/>
          </a:xfrm>
          <a:prstGeom prst="rect">
            <a:avLst/>
          </a:prstGeom>
          <a:noFill/>
          <a:ln/>
        </p:spPr>
        <p:txBody>
          <a:bodyPr wrap="square" lIns="0" tIns="0" rIns="0" bIns="0" rtlCol="0" anchor="ctr"/>
          <a:lstStyle/>
          <a:p>
            <a:pPr indent="0" marL="0">
              <a:buNone/>
            </a:pPr>
            <a:r>
              <a:rPr lang="en-US" sz="1500" b="1" dirty="0">
                <a:solidFill>
                  <a:schemeClr val="bg1"/>
                </a:solidFill>
              </a:rPr>
              <a:t>feasible: true, twice</a:t>
            </a:r>
            <a:endParaRPr lang="en-US" sz="1500" dirty="0"/>
          </a:p>
        </p:txBody>
      </p:sp>
      <p:sp>
        <p:nvSpPr>
          <p:cNvPr id="15" name="Point-at 2 text"/>
          <p:cNvSpPr txBox="1"/>
          <p:nvPr/>
        </p:nvSpPr>
        <p:spPr>
          <a:xfrm>
            <a:off x="6492240" y="2770632"/>
            <a:ext cx="2194560" cy="502920"/>
          </a:xfrm>
          <a:prstGeom prst="rect">
            <a:avLst/>
          </a:prstGeom>
          <a:noFill/>
          <a:ln/>
        </p:spPr>
        <p:txBody>
          <a:bodyPr wrap="square" lIns="0" tIns="0" rIns="0" bIns="0" rtlCol="0" anchor="t"/>
          <a:lstStyle/>
          <a:p>
            <a:pPr indent="0" marL="0">
              <a:buNone/>
            </a:pPr>
            <a:r>
              <a:rPr lang="en-US" sz="1300" dirty="0">
                <a:solidFill>
                  <a:schemeClr val="accent6"/>
                </a:solidFill>
              </a:rPr>
              <a:t>the checker passes both plans</a:t>
            </a:r>
            <a:endParaRPr lang="en-US" sz="1300" dirty="0"/>
          </a:p>
        </p:txBody>
      </p:sp>
      <p:sp>
        <p:nvSpPr>
          <p:cNvPr id="16" name="Point-at 3 badge"/>
          <p:cNvSpPr txBox="1"/>
          <p:nvPr/>
        </p:nvSpPr>
        <p:spPr>
          <a:xfrm>
            <a:off x="5943600" y="3483864"/>
            <a:ext cx="411480" cy="41148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7" name="Point-at 3 heading"/>
          <p:cNvSpPr txBox="1"/>
          <p:nvPr/>
        </p:nvSpPr>
        <p:spPr>
          <a:xfrm>
            <a:off x="6492240" y="3456432"/>
            <a:ext cx="2194560" cy="292608"/>
          </a:xfrm>
          <a:prstGeom prst="rect">
            <a:avLst/>
          </a:prstGeom>
          <a:noFill/>
          <a:ln/>
        </p:spPr>
        <p:txBody>
          <a:bodyPr wrap="square" lIns="0" tIns="0" rIns="0" bIns="0" rtlCol="0" anchor="ctr"/>
          <a:lstStyle/>
          <a:p>
            <a:pPr indent="0" marL="0">
              <a:buNone/>
            </a:pPr>
            <a:r>
              <a:rPr lang="en-US" sz="1500" b="1" dirty="0">
                <a:solidFill>
                  <a:schemeClr val="bg1"/>
                </a:solidFill>
              </a:rPr>
              <a:t>The output folder</a:t>
            </a:r>
            <a:endParaRPr lang="en-US" sz="1500" dirty="0"/>
          </a:p>
        </p:txBody>
      </p:sp>
      <p:sp>
        <p:nvSpPr>
          <p:cNvPr id="18" name="Point-at 3 text"/>
          <p:cNvSpPr txBox="1"/>
          <p:nvPr/>
        </p:nvSpPr>
        <p:spPr>
          <a:xfrm>
            <a:off x="6492240" y="3758184"/>
            <a:ext cx="2194560" cy="502920"/>
          </a:xfrm>
          <a:prstGeom prst="rect">
            <a:avLst/>
          </a:prstGeom>
          <a:noFill/>
          <a:ln/>
        </p:spPr>
        <p:txBody>
          <a:bodyPr wrap="square" lIns="0" tIns="0" rIns="0" bIns="0" rtlCol="0" anchor="t"/>
          <a:lstStyle/>
          <a:p>
            <a:pPr indent="0" marL="0">
              <a:buNone/>
            </a:pPr>
            <a:r>
              <a:rPr lang="en-US" sz="1300" dirty="0">
                <a:solidFill>
                  <a:schemeClr val="accent6"/>
                </a:solidFill>
              </a:rPr>
              <a:t>a real decision.json and summary.json</a:t>
            </a:r>
            <a:endParaRPr lang="en-US" sz="13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6949440" cy="566928"/>
          </a:xfrm>
          <a:prstGeom prst="rect">
            <a:avLst/>
          </a:prstGeom>
          <a:noFill/>
          <a:ln/>
        </p:spPr>
        <p:txBody>
          <a:bodyPr wrap="square" lIns="0" tIns="0" rIns="0" bIns="0" rtlCol="0" anchor="ctr"/>
          <a:lstStyle/>
          <a:p>
            <a:pPr algn="l" indent="0" marL="0">
              <a:buNone/>
            </a:pPr>
            <a:r>
              <a:rPr lang="en-US" sz="2800" b="1" dirty="0">
                <a:solidFill>
                  <a:schemeClr val="tx1"/>
                </a:solidFill>
              </a:rPr>
              <a:t>Same 45 customers, two plans</a:t>
            </a:r>
            <a:endParaRPr lang="en-US" sz="2800" dirty="0"/>
          </a:p>
        </p:txBody>
      </p:sp>
      <p:sp>
        <p:nvSpPr>
          <p:cNvPr id="3" name="Presenter tag"/>
          <p:cNvSpPr txBox="1"/>
          <p:nvPr/>
        </p:nvSpPr>
        <p:spPr>
          <a:xfrm>
            <a:off x="7452360" y="411480"/>
            <a:ext cx="1234440" cy="329184"/>
          </a:xfrm>
          <a:prstGeom prst="roundRect">
            <a:avLst>
              <a:gd name="adj" fmla="val 50000"/>
            </a:avLst>
          </a:prstGeom>
          <a:solidFill>
            <a:schemeClr val="accent2"/>
          </a:solidFill>
          <a:ln/>
        </p:spPr>
        <p:txBody>
          <a:bodyPr wrap="square" lIns="0" tIns="0" rIns="0" bIns="0" rtlCol="0" anchor="ctr"/>
          <a:lstStyle/>
          <a:p>
            <a:pPr algn="ctr" indent="0" marL="0">
              <a:buNone/>
            </a:pPr>
            <a:r>
              <a:rPr lang="en-US" sz="1100" b="1" dirty="0">
                <a:solidFill>
                  <a:schemeClr val="tx1"/>
                </a:solidFill>
              </a:rPr>
              <a:t>Presenter B</a:t>
            </a:r>
            <a:endParaRPr lang="en-US" sz="1100" dirty="0"/>
          </a:p>
        </p:txBody>
      </p:sp>
      <p:sp>
        <p:nvSpPr>
          <p:cNvPr id="4" name="Rule to beat heading"/>
          <p:cNvSpPr txBox="1"/>
          <p:nvPr/>
        </p:nvSpPr>
        <p:spPr>
          <a:xfrm>
            <a:off x="457200" y="1005840"/>
            <a:ext cx="3063240" cy="292608"/>
          </a:xfrm>
          <a:prstGeom prst="rect">
            <a:avLst/>
          </a:prstGeom>
          <a:noFill/>
          <a:ln/>
        </p:spPr>
        <p:txBody>
          <a:bodyPr wrap="square" lIns="0" tIns="0" rIns="0" bIns="0" rtlCol="0" anchor="ctr"/>
          <a:lstStyle/>
          <a:p>
            <a:pPr indent="0" marL="0">
              <a:buNone/>
            </a:pPr>
            <a:r>
              <a:rPr lang="en-US" sz="1600" b="1" dirty="0">
                <a:solidFill>
                  <a:schemeClr val="accent6"/>
                </a:solidFill>
              </a:rPr>
              <a:t>Rule to beat</a:t>
            </a:r>
            <a:endParaRPr lang="en-US" sz="1600" dirty="0"/>
          </a:p>
        </p:txBody>
      </p:sp>
      <p:sp>
        <p:nvSpPr>
          <p:cNvPr id="5" name="Rule to beat result"/>
          <p:cNvSpPr txBox="1"/>
          <p:nvPr/>
        </p:nvSpPr>
        <p:spPr>
          <a:xfrm>
            <a:off x="457200" y="1298448"/>
            <a:ext cx="3063240" cy="256032"/>
          </a:xfrm>
          <a:prstGeom prst="rect">
            <a:avLst/>
          </a:prstGeom>
          <a:noFill/>
          <a:ln/>
        </p:spPr>
        <p:txBody>
          <a:bodyPr wrap="square" lIns="0" tIns="0" rIns="0" bIns="0" rtlCol="0" anchor="ctr"/>
          <a:lstStyle/>
          <a:p>
            <a:pPr indent="0" marL="0">
              <a:buNone/>
            </a:pPr>
            <a:r>
              <a:rPr lang="en-US" sz="1300" dirty="0">
                <a:solidFill>
                  <a:schemeClr val="tx2"/>
                </a:solidFill>
              </a:rPr>
              <a:t>1,683.4 min  ·  11 trucks</a:t>
            </a:r>
            <a:endParaRPr lang="en-US" sz="1300" dirty="0"/>
          </a:p>
        </p:txBody>
      </p:sp>
      <p:pic>
        <p:nvPicPr>
          <p:cNvPr id="6" name="Rule to beat map" descr="Rule to beat route map for development_medium: 1,683.4 min  ·  11 trucks">    </p:cNvPr>
          <p:cNvPicPr>
            <a:picLocks noChangeAspect="1"/>
          </p:cNvPicPr>
          <p:nvPr/>
        </p:nvPicPr>
        <p:blipFill>
          <a:blip r:embed="rId1"/>
          <a:srcRect l="0" r="0" t="0" b="0"/>
          <a:stretch/>
        </p:blipFill>
        <p:spPr>
          <a:xfrm>
            <a:off x="457200" y="1645920"/>
            <a:ext cx="3063240" cy="3017520"/>
          </a:xfrm>
          <a:prstGeom prst="rect">
            <a:avLst/>
          </a:prstGeom>
        </p:spPr>
      </p:pic>
      <p:sp>
        <p:nvSpPr>
          <p:cNvPr id="7" name="LNS (researched) heading"/>
          <p:cNvSpPr txBox="1"/>
          <p:nvPr/>
        </p:nvSpPr>
        <p:spPr>
          <a:xfrm>
            <a:off x="3749040" y="1005840"/>
            <a:ext cx="3063240" cy="292608"/>
          </a:xfrm>
          <a:prstGeom prst="rect">
            <a:avLst/>
          </a:prstGeom>
          <a:noFill/>
          <a:ln/>
        </p:spPr>
        <p:txBody>
          <a:bodyPr wrap="square" lIns="0" tIns="0" rIns="0" bIns="0" rtlCol="0" anchor="ctr"/>
          <a:lstStyle/>
          <a:p>
            <a:pPr indent="0" marL="0">
              <a:buNone/>
            </a:pPr>
            <a:r>
              <a:rPr lang="en-US" sz="1600" b="1" dirty="0">
                <a:solidFill>
                  <a:schemeClr val="accent1"/>
                </a:solidFill>
              </a:rPr>
              <a:t>LNS (researched)</a:t>
            </a:r>
            <a:endParaRPr lang="en-US" sz="1600" dirty="0"/>
          </a:p>
        </p:txBody>
      </p:sp>
      <p:sp>
        <p:nvSpPr>
          <p:cNvPr id="8" name="LNS (researched) result"/>
          <p:cNvSpPr txBox="1"/>
          <p:nvPr/>
        </p:nvSpPr>
        <p:spPr>
          <a:xfrm>
            <a:off x="3749040" y="1298448"/>
            <a:ext cx="3063240" cy="256032"/>
          </a:xfrm>
          <a:prstGeom prst="rect">
            <a:avLst/>
          </a:prstGeom>
          <a:noFill/>
          <a:ln/>
        </p:spPr>
        <p:txBody>
          <a:bodyPr wrap="square" lIns="0" tIns="0" rIns="0" bIns="0" rtlCol="0" anchor="ctr"/>
          <a:lstStyle/>
          <a:p>
            <a:pPr indent="0" marL="0">
              <a:buNone/>
            </a:pPr>
            <a:r>
              <a:rPr lang="en-US" sz="1300" dirty="0">
                <a:solidFill>
                  <a:schemeClr val="tx2"/>
                </a:solidFill>
              </a:rPr>
              <a:t>1,040.7 min  ·  8 trucks</a:t>
            </a:r>
            <a:endParaRPr lang="en-US" sz="1300" dirty="0"/>
          </a:p>
        </p:txBody>
      </p:sp>
      <p:pic>
        <p:nvPicPr>
          <p:cNvPr id="9" name="LNS (researched) map" descr="LNS (researched) route map for development_medium: 1,040.7 min  ·  8 trucks">    </p:cNvPr>
          <p:cNvPicPr>
            <a:picLocks noChangeAspect="1"/>
          </p:cNvPicPr>
          <p:nvPr/>
        </p:nvPicPr>
        <p:blipFill>
          <a:blip r:embed="rId2"/>
          <a:srcRect l="0" r="0" t="0" b="0"/>
          <a:stretch/>
        </p:blipFill>
        <p:spPr>
          <a:xfrm>
            <a:off x="3749040" y="1645920"/>
            <a:ext cx="3063240" cy="3017520"/>
          </a:xfrm>
          <a:prstGeom prst="rect">
            <a:avLst/>
          </a:prstGeom>
        </p:spPr>
      </p:pic>
      <p:sp>
        <p:nvSpPr>
          <p:cNvPr id="10" name="Travel saved value"/>
          <p:cNvSpPr txBox="1"/>
          <p:nvPr/>
        </p:nvSpPr>
        <p:spPr>
          <a:xfrm>
            <a:off x="7086600" y="1600200"/>
            <a:ext cx="1600200" cy="685800"/>
          </a:xfrm>
          <a:prstGeom prst="rect">
            <a:avLst/>
          </a:prstGeom>
          <a:noFill/>
          <a:ln/>
        </p:spPr>
        <p:txBody>
          <a:bodyPr wrap="square" lIns="0" tIns="0" rIns="0" bIns="0" rtlCol="0" anchor="ctr"/>
          <a:lstStyle/>
          <a:p>
            <a:pPr indent="0" marL="0">
              <a:buNone/>
            </a:pPr>
            <a:r>
              <a:rPr lang="en-US" sz="4000" b="1" dirty="0">
                <a:solidFill>
                  <a:schemeClr val="accent1"/>
                </a:solidFill>
              </a:rPr>
              <a:t>−38%</a:t>
            </a:r>
            <a:endParaRPr lang="en-US" sz="4000" dirty="0"/>
          </a:p>
        </p:txBody>
      </p:sp>
      <p:sp>
        <p:nvSpPr>
          <p:cNvPr id="11" name="Travel saved label"/>
          <p:cNvSpPr txBox="1"/>
          <p:nvPr/>
        </p:nvSpPr>
        <p:spPr>
          <a:xfrm>
            <a:off x="7086600" y="2286000"/>
            <a:ext cx="1600200" cy="502920"/>
          </a:xfrm>
          <a:prstGeom prst="rect">
            <a:avLst/>
          </a:prstGeom>
          <a:noFill/>
          <a:ln/>
        </p:spPr>
        <p:txBody>
          <a:bodyPr wrap="square" lIns="0" tIns="0" rIns="0" bIns="0" rtlCol="0" anchor="t"/>
          <a:lstStyle/>
          <a:p>
            <a:pPr indent="0" marL="0">
              <a:buNone/>
            </a:pPr>
            <a:r>
              <a:rPr lang="en-US" sz="1300" dirty="0">
                <a:solidFill>
                  <a:schemeClr val="tx2"/>
                </a:solidFill>
              </a:rPr>
              <a:t>travel minutes</a:t>
            </a:r>
            <a:endParaRPr lang="en-US" sz="1300" dirty="0"/>
          </a:p>
          <a:p>
            <a:pPr indent="0" marL="0">
              <a:buNone/>
            </a:pPr>
            <a:r>
              <a:rPr lang="en-US" sz="1300" dirty="0">
                <a:solidFill>
                  <a:schemeClr val="tx2"/>
                </a:solidFill>
              </a:rPr>
              <a:t>(642.7 fewer)</a:t>
            </a:r>
            <a:endParaRPr lang="en-US" sz="1300" dirty="0"/>
          </a:p>
        </p:txBody>
      </p:sp>
      <p:sp>
        <p:nvSpPr>
          <p:cNvPr id="12" name="Trucks saved value"/>
          <p:cNvSpPr txBox="1"/>
          <p:nvPr/>
        </p:nvSpPr>
        <p:spPr>
          <a:xfrm>
            <a:off x="7086600" y="3017520"/>
            <a:ext cx="1600200" cy="685800"/>
          </a:xfrm>
          <a:prstGeom prst="rect">
            <a:avLst/>
          </a:prstGeom>
          <a:noFill/>
          <a:ln/>
        </p:spPr>
        <p:txBody>
          <a:bodyPr wrap="square" lIns="0" tIns="0" rIns="0" bIns="0" rtlCol="0" anchor="ctr"/>
          <a:lstStyle/>
          <a:p>
            <a:pPr indent="0" marL="0">
              <a:buNone/>
            </a:pPr>
            <a:r>
              <a:rPr lang="en-US" sz="4000" b="1" dirty="0">
                <a:solidFill>
                  <a:schemeClr val="accent1"/>
                </a:solidFill>
              </a:rPr>
              <a:t>−3</a:t>
            </a:r>
            <a:endParaRPr lang="en-US" sz="4000" dirty="0"/>
          </a:p>
        </p:txBody>
      </p:sp>
      <p:sp>
        <p:nvSpPr>
          <p:cNvPr id="13" name="Trucks saved label"/>
          <p:cNvSpPr txBox="1"/>
          <p:nvPr/>
        </p:nvSpPr>
        <p:spPr>
          <a:xfrm>
            <a:off x="7086600" y="3703320"/>
            <a:ext cx="1600200" cy="502920"/>
          </a:xfrm>
          <a:prstGeom prst="rect">
            <a:avLst/>
          </a:prstGeom>
          <a:noFill/>
          <a:ln/>
        </p:spPr>
        <p:txBody>
          <a:bodyPr wrap="square" lIns="0" tIns="0" rIns="0" bIns="0" rtlCol="0" anchor="t"/>
          <a:lstStyle/>
          <a:p>
            <a:pPr indent="0" marL="0">
              <a:buNone/>
            </a:pPr>
            <a:r>
              <a:rPr lang="en-US" sz="1300" dirty="0">
                <a:solidFill>
                  <a:schemeClr val="tx2"/>
                </a:solidFill>
              </a:rPr>
              <a:t>trucks</a:t>
            </a:r>
            <a:endParaRPr lang="en-US" sz="1300" dirty="0"/>
          </a:p>
          <a:p>
            <a:pPr indent="0" marL="0">
              <a:buNone/>
            </a:pPr>
            <a:r>
              <a:rPr lang="en-US" sz="1300" dirty="0">
                <a:solidFill>
                  <a:schemeClr val="tx2"/>
                </a:solidFill>
              </a:rPr>
              <a:t>(11 → 8)</a:t>
            </a:r>
            <a:endParaRPr lang="en-US" sz="13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6949440" cy="566928"/>
          </a:xfrm>
          <a:prstGeom prst="rect">
            <a:avLst/>
          </a:prstGeom>
          <a:noFill/>
          <a:ln/>
        </p:spPr>
        <p:txBody>
          <a:bodyPr wrap="square" lIns="0" tIns="0" rIns="0" bIns="0" rtlCol="0" anchor="ctr"/>
          <a:lstStyle/>
          <a:p>
            <a:pPr algn="l" indent="0" marL="0">
              <a:buNone/>
            </a:pPr>
            <a:r>
              <a:rPr lang="en-US" sz="2800" b="1" dirty="0">
                <a:solidFill>
                  <a:schemeClr val="tx1"/>
                </a:solidFill>
              </a:rPr>
              <a:t>Less travel on all four supplied cases</a:t>
            </a:r>
            <a:endParaRPr lang="en-US" sz="2800" dirty="0"/>
          </a:p>
        </p:txBody>
      </p:sp>
      <p:sp>
        <p:nvSpPr>
          <p:cNvPr id="3" name="Presenter tag"/>
          <p:cNvSpPr txBox="1"/>
          <p:nvPr/>
        </p:nvSpPr>
        <p:spPr>
          <a:xfrm>
            <a:off x="7452360" y="411480"/>
            <a:ext cx="1234440" cy="329184"/>
          </a:xfrm>
          <a:prstGeom prst="roundRect">
            <a:avLst>
              <a:gd name="adj" fmla="val 50000"/>
            </a:avLst>
          </a:prstGeom>
          <a:solidFill>
            <a:schemeClr val="accent2"/>
          </a:solidFill>
          <a:ln/>
        </p:spPr>
        <p:txBody>
          <a:bodyPr wrap="square" lIns="0" tIns="0" rIns="0" bIns="0" rtlCol="0" anchor="ctr"/>
          <a:lstStyle/>
          <a:p>
            <a:pPr algn="ctr" indent="0" marL="0">
              <a:buNone/>
            </a:pPr>
            <a:r>
              <a:rPr lang="en-US" sz="1100" b="1" dirty="0">
                <a:solidFill>
                  <a:schemeClr val="tx1"/>
                </a:solidFill>
              </a:rPr>
              <a:t>Presenter B</a:t>
            </a:r>
            <a:endParaRPr lang="en-US" sz="1100" dirty="0"/>
          </a:p>
        </p:txBody>
      </p:sp>
      <p:graphicFrame>
        <p:nvGraphicFramePr>
          <p:cNvPr id="10" name="Comparison table"/>
          <p:cNvGraphicFramePr>
            <a:graphicFrameLocks noGrp="1"/>
          </p:cNvGraphicFramePr>
          <p:nvPr>
            <p:extLst>
              <p:ext uri="{D42A27DB-BD31-4B8C-83A1-F6EECF244321}">
                <p14:modId xmlns:p14="http://schemas.microsoft.com/office/powerpoint/2010/main" val="1579011935"/>
              </p:ext>
            </p:extLst>
          </p:nvPr>
        </p:nvGraphicFramePr>
        <p:xfrm>
          <a:off x="457200" y="1051560"/>
          <a:ext cx="5120640" cy="914400"/>
        </p:xfrm>
        <a:graphic>
          <a:graphicData uri="http://schemas.openxmlformats.org/drawingml/2006/table">
            <a:tbl>
              <a:tblPr/>
              <a:tblGrid>
                <a:gridCol w="1325880"/>
                <a:gridCol w="1874520"/>
                <a:gridCol w="914400"/>
                <a:gridCol w="1005840"/>
              </a:tblGrid>
              <a:tr h="438912">
                <a:tc>
                  <a:txBody>
                    <a:bodyPr/>
                    <a:lstStyle/>
                    <a:p>
                      <a:pPr indent="0" marL="0">
                        <a:buNone/>
                      </a:pPr>
                      <a:r>
                        <a:rPr lang="en-US" sz="1300" b="1" dirty="0">
                          <a:solidFill>
                            <a:schemeClr val="bg1"/>
                          </a:solidFill>
                        </a:rPr>
                        <a:t>Case</a:t>
                      </a:r>
                      <a:endParaRPr lang="en-US" sz="1300" dirty="0"/>
                    </a:p>
                  </a:txBody>
                  <a:tcPr marL="91440" marR="73152" marT="0" marB="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Travel: rule → LNS (min)</a:t>
                      </a:r>
                      <a:endParaRPr lang="en-US" sz="1300" dirty="0"/>
                    </a:p>
                  </a:txBody>
                  <a:tcPr marL="91440" marR="73152" marT="0" marB="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Trucks</a:t>
                      </a:r>
                      <a:endParaRPr lang="en-US" sz="1300" dirty="0"/>
                    </a:p>
                  </a:txBody>
                  <a:tcPr marL="91440" marR="73152" marT="0" marB="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LNS time</a:t>
                      </a:r>
                      <a:endParaRPr lang="en-US" sz="1300" dirty="0"/>
                    </a:p>
                  </a:txBody>
                  <a:tcPr marL="91440" marR="73152" marT="0" marB="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tx1"/>
                    </a:solidFill>
                  </a:tcPr>
                </a:tc>
              </a:tr>
              <a:tr h="438912">
                <a:tc>
                  <a:txBody>
                    <a:bodyPr/>
                    <a:lstStyle/>
                    <a:p>
                      <a:pPr indent="0" marL="0">
                        <a:buNone/>
                      </a:pPr>
                      <a:r>
                        <a:rPr lang="en-US" sz="1300" dirty="0">
                          <a:solidFill>
                            <a:schemeClr val="tx1"/>
                          </a:solidFill>
                        </a:rPr>
                        <a:t>Hand (6)</a:t>
                      </a:r>
                      <a:endParaRPr lang="en-US" sz="1300" dirty="0"/>
                    </a:p>
                  </a:txBody>
                  <a:tcPr marL="91440" marR="73152" marT="0" marB="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300" dirty="0">
                          <a:solidFill>
                            <a:schemeClr val="tx1"/>
                          </a:solidFill>
                        </a:rPr>
                        <a:t>352.4 → 329.7</a:t>
                      </a:r>
                      <a:endParaRPr lang="en-US" sz="1300" dirty="0"/>
                    </a:p>
                  </a:txBody>
                  <a:tcPr marL="91440" marR="73152" marT="0" marB="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300" dirty="0">
                          <a:solidFill>
                            <a:schemeClr val="tx1"/>
                          </a:solidFill>
                        </a:rPr>
                        <a:t>2 → 2</a:t>
                      </a:r>
                      <a:endParaRPr lang="en-US" sz="1300" dirty="0"/>
                    </a:p>
                  </a:txBody>
                  <a:tcPr marL="91440" marR="73152" marT="0" marB="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300" dirty="0">
                          <a:solidFill>
                            <a:schemeClr val="tx1"/>
                          </a:solidFill>
                        </a:rPr>
                        <a:t>0.5 s</a:t>
                      </a:r>
                      <a:endParaRPr lang="en-US" sz="1300" dirty="0"/>
                    </a:p>
                  </a:txBody>
                  <a:tcPr marL="91440" marR="73152" marT="0" marB="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r>
              <a:tr h="438912">
                <a:tc>
                  <a:txBody>
                    <a:bodyPr/>
                    <a:lstStyle/>
                    <a:p>
                      <a:pPr indent="0" marL="0">
                        <a:buNone/>
                      </a:pPr>
                      <a:r>
                        <a:rPr lang="en-US" sz="1300" dirty="0">
                          <a:solidFill>
                            <a:schemeClr val="tx1"/>
                          </a:solidFill>
                        </a:rPr>
                        <a:t>Small (15)</a:t>
                      </a:r>
                      <a:endParaRPr lang="en-US" sz="1300" dirty="0"/>
                    </a:p>
                  </a:txBody>
                  <a:tcPr marL="91440" marR="73152" marT="0" marB="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300" dirty="0">
                          <a:solidFill>
                            <a:schemeClr val="tx1"/>
                          </a:solidFill>
                        </a:rPr>
                        <a:t>620.6 → 459.1</a:t>
                      </a:r>
                      <a:endParaRPr lang="en-US" sz="1300" dirty="0"/>
                    </a:p>
                  </a:txBody>
                  <a:tcPr marL="91440" marR="73152" marT="0" marB="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300" dirty="0">
                          <a:solidFill>
                            <a:schemeClr val="tx1"/>
                          </a:solidFill>
                        </a:rPr>
                        <a:t>5 → 4</a:t>
                      </a:r>
                      <a:endParaRPr lang="en-US" sz="1300" dirty="0"/>
                    </a:p>
                  </a:txBody>
                  <a:tcPr marL="91440" marR="73152" marT="0" marB="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300" dirty="0">
                          <a:solidFill>
                            <a:schemeClr val="tx1"/>
                          </a:solidFill>
                        </a:rPr>
                        <a:t>1.0 s</a:t>
                      </a:r>
                      <a:endParaRPr lang="en-US" sz="1300" dirty="0"/>
                    </a:p>
                  </a:txBody>
                  <a:tcPr marL="91440" marR="73152" marT="0" marB="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r>
              <a:tr h="438912">
                <a:tc>
                  <a:txBody>
                    <a:bodyPr/>
                    <a:lstStyle/>
                    <a:p>
                      <a:pPr indent="0" marL="0">
                        <a:buNone/>
                      </a:pPr>
                      <a:r>
                        <a:rPr lang="en-US" sz="1300" b="1" dirty="0">
                          <a:solidFill>
                            <a:schemeClr val="tx1"/>
                          </a:solidFill>
                        </a:rPr>
                        <a:t>Medium (45)</a:t>
                      </a:r>
                      <a:endParaRPr lang="en-US" sz="1300" dirty="0"/>
                    </a:p>
                  </a:txBody>
                  <a:tcPr marL="91440" marR="73152" marT="0" marB="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bg2"/>
                    </a:solidFill>
                  </a:tcPr>
                </a:tc>
                <a:tc>
                  <a:txBody>
                    <a:bodyPr/>
                    <a:lstStyle/>
                    <a:p>
                      <a:pPr indent="0" marL="0">
                        <a:buNone/>
                      </a:pPr>
                      <a:r>
                        <a:rPr lang="en-US" sz="1300" b="1" dirty="0">
                          <a:solidFill>
                            <a:schemeClr val="tx1"/>
                          </a:solidFill>
                        </a:rPr>
                        <a:t>1,683.4 → 1,040.7</a:t>
                      </a:r>
                      <a:endParaRPr lang="en-US" sz="1300" dirty="0"/>
                    </a:p>
                  </a:txBody>
                  <a:tcPr marL="91440" marR="73152" marT="0" marB="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bg2"/>
                    </a:solidFill>
                  </a:tcPr>
                </a:tc>
                <a:tc>
                  <a:txBody>
                    <a:bodyPr/>
                    <a:lstStyle/>
                    <a:p>
                      <a:pPr indent="0" marL="0">
                        <a:buNone/>
                      </a:pPr>
                      <a:r>
                        <a:rPr lang="en-US" sz="1300" b="1" dirty="0">
                          <a:solidFill>
                            <a:schemeClr val="tx1"/>
                          </a:solidFill>
                        </a:rPr>
                        <a:t>11 → 8</a:t>
                      </a:r>
                      <a:endParaRPr lang="en-US" sz="1300" dirty="0"/>
                    </a:p>
                  </a:txBody>
                  <a:tcPr marL="91440" marR="73152" marT="0" marB="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bg2"/>
                    </a:solidFill>
                  </a:tcPr>
                </a:tc>
                <a:tc>
                  <a:txBody>
                    <a:bodyPr/>
                    <a:lstStyle/>
                    <a:p>
                      <a:pPr indent="0" marL="0">
                        <a:buNone/>
                      </a:pPr>
                      <a:r>
                        <a:rPr lang="en-US" sz="1300" b="1" dirty="0">
                          <a:solidFill>
                            <a:schemeClr val="tx1"/>
                          </a:solidFill>
                        </a:rPr>
                        <a:t>8.9 s</a:t>
                      </a:r>
                      <a:endParaRPr lang="en-US" sz="1300" dirty="0"/>
                    </a:p>
                  </a:txBody>
                  <a:tcPr marL="91440" marR="73152" marT="0" marB="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bg2"/>
                    </a:solidFill>
                  </a:tcPr>
                </a:tc>
              </a:tr>
              <a:tr h="438912">
                <a:tc>
                  <a:txBody>
                    <a:bodyPr/>
                    <a:lstStyle/>
                    <a:p>
                      <a:pPr indent="0" marL="0">
                        <a:buNone/>
                      </a:pPr>
                      <a:r>
                        <a:rPr lang="en-US" sz="1300" dirty="0">
                          <a:solidFill>
                            <a:schemeClr val="tx1"/>
                          </a:solidFill>
                        </a:rPr>
                        <a:t>Large (120)</a:t>
                      </a:r>
                      <a:endParaRPr lang="en-US" sz="1300" dirty="0"/>
                    </a:p>
                  </a:txBody>
                  <a:tcPr marL="91440" marR="73152" marT="0" marB="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300" dirty="0">
                          <a:solidFill>
                            <a:schemeClr val="tx1"/>
                          </a:solidFill>
                        </a:rPr>
                        <a:t>3,523.2 → 2,135.6</a:t>
                      </a:r>
                      <a:endParaRPr lang="en-US" sz="1300" dirty="0"/>
                    </a:p>
                  </a:txBody>
                  <a:tcPr marL="91440" marR="73152" marT="0" marB="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300" dirty="0">
                          <a:solidFill>
                            <a:schemeClr val="tx1"/>
                          </a:solidFill>
                        </a:rPr>
                        <a:t>25 → 19</a:t>
                      </a:r>
                      <a:endParaRPr lang="en-US" sz="1300" dirty="0"/>
                    </a:p>
                  </a:txBody>
                  <a:tcPr marL="91440" marR="73152" marT="0" marB="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300" dirty="0">
                          <a:solidFill>
                            <a:schemeClr val="tx1"/>
                          </a:solidFill>
                        </a:rPr>
                        <a:t>27.8 s</a:t>
                      </a:r>
                      <a:endParaRPr lang="en-US" sz="1300" dirty="0"/>
                    </a:p>
                  </a:txBody>
                  <a:tcPr marL="91440" marR="73152" marT="0" marB="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r>
            </a:tbl>
          </a:graphicData>
        </a:graphic>
      </p:graphicFrame>
      <p:graphicFrame>
        <p:nvGraphicFramePr>
          <p:cNvPr id="5" name="Travel saved chart" descr=""/>
          <p:cNvGraphicFramePr/>
          <p:nvPr/>
        </p:nvGraphicFramePr>
        <p:xfrm>
          <a:off x="5852160" y="960120"/>
          <a:ext cx="2834640" cy="2514600"/>
        </p:xfrm>
        <a:graphic xmlns:a="http://schemas.openxmlformats.org/drawingml/2006/main">
          <a:graphicData uri="http://schemas.openxmlformats.org/drawingml/2006/chart">
            <c:chart xmlns:c="http://schemas.openxmlformats.org/drawingml/2006/chart" r:id="rId1"/>
          </a:graphicData>
        </a:graphic>
      </p:graphicFrame>
      <p:sp>
        <p:nvSpPr>
          <p:cNvPr id="6" name="Table notes"/>
          <p:cNvSpPr txBox="1"/>
          <p:nvPr/>
        </p:nvSpPr>
        <p:spPr>
          <a:xfrm>
            <a:off x="457200" y="3429000"/>
            <a:ext cx="5120640" cy="685800"/>
          </a:xfrm>
          <a:prstGeom prst="rect">
            <a:avLst/>
          </a:prstGeom>
          <a:noFill/>
          <a:ln/>
        </p:spPr>
        <p:txBody>
          <a:bodyPr wrap="square" lIns="0" tIns="0" rIns="0" bIns="0" rtlCol="0" anchor="t"/>
          <a:lstStyle/>
          <a:p>
            <a:pPr indent="0" marL="0">
              <a:buNone/>
            </a:pPr>
            <a:r>
              <a:rPr lang="en-US" sz="1100" dirty="0">
                <a:solidFill>
                  <a:schemeClr val="tx2"/>
                </a:solidFill>
              </a:rPr>
              <a:t>The rule takes under 0.003 s on every case. All 8 plans pass the independent checker. LNS: seed 522, 8,000 iterations, 480 s safety cap. Timings from one Windows 11 laptop (Intel 12th gen, Python 3.12, single thread).</a:t>
            </a:r>
            <a:endParaRPr lang="en-US" sz="1100" dirty="0"/>
          </a:p>
        </p:txBody>
      </p:sp>
      <p:sp>
        <p:nvSpPr>
          <p:cNvPr id="7" name="Chart takeaway"/>
          <p:cNvSpPr txBox="1"/>
          <p:nvPr/>
        </p:nvSpPr>
        <p:spPr>
          <a:xfrm>
            <a:off x="5852160" y="3611880"/>
            <a:ext cx="2834640" cy="868680"/>
          </a:xfrm>
          <a:prstGeom prst="rect">
            <a:avLst/>
          </a:prstGeom>
          <a:noFill/>
          <a:ln/>
        </p:spPr>
        <p:txBody>
          <a:bodyPr wrap="square" lIns="0" tIns="0" rIns="0" bIns="0" rtlCol="0" anchor="t"/>
          <a:lstStyle/>
          <a:p>
            <a:pPr indent="0" marL="0">
              <a:buNone/>
            </a:pPr>
            <a:r>
              <a:rPr lang="en-US" sz="1200" i="1" dirty="0">
                <a:solidFill>
                  <a:schemeClr val="tx1"/>
                </a:solidFill>
              </a:rPr>
              <a:t>Savings grow from 6.5% on 6 customers to about 39% on 120. These are four synthetic cases, not a promise for every network.</a:t>
            </a:r>
            <a:endParaRPr lang="en-US" sz="12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6949440" cy="566928"/>
          </a:xfrm>
          <a:prstGeom prst="rect">
            <a:avLst/>
          </a:prstGeom>
          <a:noFill/>
          <a:ln/>
        </p:spPr>
        <p:txBody>
          <a:bodyPr wrap="square" lIns="0" tIns="0" rIns="0" bIns="0" rtlCol="0" anchor="ctr"/>
          <a:lstStyle/>
          <a:p>
            <a:pPr algn="l" indent="0" marL="0">
              <a:buNone/>
            </a:pPr>
            <a:r>
              <a:rPr lang="en-US" sz="2800" b="1" dirty="0">
                <a:solidFill>
                  <a:schemeClr val="bg1"/>
                </a:solidFill>
              </a:rPr>
              <a:t>Next: what if traffic is slower?</a:t>
            </a:r>
            <a:endParaRPr lang="en-US" sz="2800" dirty="0"/>
          </a:p>
        </p:txBody>
      </p:sp>
      <p:sp>
        <p:nvSpPr>
          <p:cNvPr id="3" name="Presenter tag"/>
          <p:cNvSpPr txBox="1"/>
          <p:nvPr/>
        </p:nvSpPr>
        <p:spPr>
          <a:xfrm>
            <a:off x="7452360" y="411480"/>
            <a:ext cx="1234440" cy="329184"/>
          </a:xfrm>
          <a:prstGeom prst="roundRect">
            <a:avLst>
              <a:gd name="adj" fmla="val 50000"/>
            </a:avLst>
          </a:prstGeom>
          <a:solidFill>
            <a:schemeClr val="accent2"/>
          </a:solidFill>
          <a:ln/>
        </p:spPr>
        <p:txBody>
          <a:bodyPr wrap="square" lIns="0" tIns="0" rIns="0" bIns="0" rtlCol="0" anchor="ctr"/>
          <a:lstStyle/>
          <a:p>
            <a:pPr algn="ctr" indent="0" marL="0">
              <a:buNone/>
            </a:pPr>
            <a:r>
              <a:rPr lang="en-US" sz="1100" b="1" dirty="0">
                <a:solidFill>
                  <a:schemeClr val="tx1"/>
                </a:solidFill>
              </a:rPr>
              <a:t>Presenter C</a:t>
            </a:r>
            <a:endParaRPr lang="en-US" sz="1100" dirty="0"/>
          </a:p>
        </p:txBody>
      </p:sp>
      <p:sp>
        <p:nvSpPr>
          <p:cNvPr id="4" name="Uncertain input"/>
          <p:cNvSpPr txBox="1"/>
          <p:nvPr/>
        </p:nvSpPr>
        <p:spPr>
          <a:xfrm>
            <a:off x="457200" y="1051560"/>
            <a:ext cx="8229600" cy="411480"/>
          </a:xfrm>
          <a:prstGeom prst="rect">
            <a:avLst/>
          </a:prstGeom>
          <a:noFill/>
          <a:ln/>
        </p:spPr>
        <p:txBody>
          <a:bodyPr wrap="square" lIns="0" tIns="0" rIns="0" bIns="0" rtlCol="0" anchor="ctr"/>
          <a:lstStyle/>
          <a:p>
            <a:pPr indent="0" marL="0">
              <a:buNone/>
            </a:pPr>
            <a:r>
              <a:rPr lang="en-US" sz="2000" dirty="0">
                <a:solidFill>
                  <a:schemeClr val="accent6"/>
                </a:solidFill>
              </a:rPr>
              <a:t>Uncertain input for the final: </a:t>
            </a:r>
            <a:pPr indent="0" marL="0">
              <a:buNone/>
            </a:pPr>
            <a:r>
              <a:rPr lang="en-US" sz="2000" b="1" dirty="0">
                <a:solidFill>
                  <a:schemeClr val="accent2"/>
                </a:solidFill>
              </a:rPr>
              <a:t>travel times</a:t>
            </a:r>
            <a:endParaRPr lang="en-US" sz="2000" dirty="0"/>
          </a:p>
        </p:txBody>
      </p:sp>
      <p:sp>
        <p:nvSpPr>
          <p:cNvPr id="5" name="Next step 1 card"/>
          <p:cNvSpPr/>
          <p:nvPr/>
        </p:nvSpPr>
        <p:spPr>
          <a:xfrm>
            <a:off x="457200" y="1691640"/>
            <a:ext cx="2606040" cy="1600200"/>
          </a:xfrm>
          <a:prstGeom prst="roundRect">
            <a:avLst>
              <a:gd name="adj" fmla="val 4571"/>
            </a:avLst>
          </a:prstGeom>
          <a:solidFill>
            <a:srgbClr val="1E2E4F"/>
          </a:solidFill>
          <a:ln w="12700">
            <a:solidFill>
              <a:srgbClr val="1E2E4F"/>
            </a:solidFill>
            <a:prstDash val="solid"/>
          </a:ln>
        </p:spPr>
      </p:sp>
      <p:sp>
        <p:nvSpPr>
          <p:cNvPr id="6" name="Next step 1 badge"/>
          <p:cNvSpPr txBox="1"/>
          <p:nvPr/>
        </p:nvSpPr>
        <p:spPr>
          <a:xfrm>
            <a:off x="640080" y="1856232"/>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7" name="Next step 1 heading"/>
          <p:cNvSpPr txBox="1"/>
          <p:nvPr/>
        </p:nvSpPr>
        <p:spPr>
          <a:xfrm>
            <a:off x="640080" y="2377440"/>
            <a:ext cx="2240280" cy="320040"/>
          </a:xfrm>
          <a:prstGeom prst="rect">
            <a:avLst/>
          </a:prstGeom>
          <a:noFill/>
          <a:ln/>
        </p:spPr>
        <p:txBody>
          <a:bodyPr wrap="square" lIns="0" tIns="0" rIns="0" bIns="0" rtlCol="0" anchor="ctr"/>
          <a:lstStyle/>
          <a:p>
            <a:pPr indent="0" marL="0">
              <a:buNone/>
            </a:pPr>
            <a:r>
              <a:rPr lang="en-US" sz="1500" b="1" dirty="0">
                <a:solidFill>
                  <a:schemeClr val="bg1"/>
                </a:solidFill>
              </a:rPr>
              <a:t>Generate 30 traffic days</a:t>
            </a:r>
            <a:endParaRPr lang="en-US" sz="1500" dirty="0"/>
          </a:p>
        </p:txBody>
      </p:sp>
      <p:sp>
        <p:nvSpPr>
          <p:cNvPr id="8" name="Next step 1 text"/>
          <p:cNvSpPr txBox="1"/>
          <p:nvPr/>
        </p:nvSpPr>
        <p:spPr>
          <a:xfrm>
            <a:off x="640080" y="2697480"/>
            <a:ext cx="2240280" cy="548640"/>
          </a:xfrm>
          <a:prstGeom prst="rect">
            <a:avLst/>
          </a:prstGeom>
          <a:noFill/>
          <a:ln/>
        </p:spPr>
        <p:txBody>
          <a:bodyPr wrap="square" lIns="0" tIns="0" rIns="0" bIns="0" rtlCol="0" anchor="t"/>
          <a:lstStyle/>
          <a:p>
            <a:pPr indent="0" marL="0">
              <a:buNone/>
            </a:pPr>
            <a:r>
              <a:rPr lang="en-US" sz="1300" dirty="0">
                <a:solidFill>
                  <a:schemeClr val="accent6"/>
                </a:solidFill>
              </a:rPr>
              <a:t>from a fixed seed, saved to files before anything runs</a:t>
            </a:r>
            <a:endParaRPr lang="en-US" sz="1300" dirty="0"/>
          </a:p>
        </p:txBody>
      </p:sp>
      <p:sp>
        <p:nvSpPr>
          <p:cNvPr id="9" name="Next step 2 card"/>
          <p:cNvSpPr/>
          <p:nvPr/>
        </p:nvSpPr>
        <p:spPr>
          <a:xfrm>
            <a:off x="3246120" y="1691640"/>
            <a:ext cx="2606040" cy="1600200"/>
          </a:xfrm>
          <a:prstGeom prst="roundRect">
            <a:avLst>
              <a:gd name="adj" fmla="val 4571"/>
            </a:avLst>
          </a:prstGeom>
          <a:solidFill>
            <a:srgbClr val="1E2E4F"/>
          </a:solidFill>
          <a:ln w="12700">
            <a:solidFill>
              <a:srgbClr val="1E2E4F"/>
            </a:solidFill>
            <a:prstDash val="solid"/>
          </a:ln>
        </p:spPr>
      </p:sp>
      <p:sp>
        <p:nvSpPr>
          <p:cNvPr id="10" name="Next step 2 badge"/>
          <p:cNvSpPr txBox="1"/>
          <p:nvPr/>
        </p:nvSpPr>
        <p:spPr>
          <a:xfrm>
            <a:off x="3429000" y="1856232"/>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1" name="Next step 2 heading"/>
          <p:cNvSpPr txBox="1"/>
          <p:nvPr/>
        </p:nvSpPr>
        <p:spPr>
          <a:xfrm>
            <a:off x="3429000" y="2377440"/>
            <a:ext cx="2240280" cy="320040"/>
          </a:xfrm>
          <a:prstGeom prst="rect">
            <a:avLst/>
          </a:prstGeom>
          <a:noFill/>
          <a:ln/>
        </p:spPr>
        <p:txBody>
          <a:bodyPr wrap="square" lIns="0" tIns="0" rIns="0" bIns="0" rtlCol="0" anchor="ctr"/>
          <a:lstStyle/>
          <a:p>
            <a:pPr indent="0" marL="0">
              <a:buNone/>
            </a:pPr>
            <a:r>
              <a:rPr lang="en-US" sz="1500" b="1" dirty="0">
                <a:solidFill>
                  <a:schemeClr val="bg1"/>
                </a:solidFill>
              </a:rPr>
              <a:t>Run both plans unchanged</a:t>
            </a:r>
            <a:endParaRPr lang="en-US" sz="1500" dirty="0"/>
          </a:p>
        </p:txBody>
      </p:sp>
      <p:sp>
        <p:nvSpPr>
          <p:cNvPr id="12" name="Next step 2 text"/>
          <p:cNvSpPr txBox="1"/>
          <p:nvPr/>
        </p:nvSpPr>
        <p:spPr>
          <a:xfrm>
            <a:off x="3429000" y="2697480"/>
            <a:ext cx="2240280" cy="548640"/>
          </a:xfrm>
          <a:prstGeom prst="rect">
            <a:avLst/>
          </a:prstGeom>
          <a:noFill/>
          <a:ln/>
        </p:spPr>
        <p:txBody>
          <a:bodyPr wrap="square" lIns="0" tIns="0" rIns="0" bIns="0" rtlCol="0" anchor="t"/>
          <a:lstStyle/>
          <a:p>
            <a:pPr indent="0" marL="0">
              <a:buNone/>
            </a:pPr>
            <a:r>
              <a:rPr lang="en-US" sz="1300" dirty="0">
                <a:solidFill>
                  <a:schemeClr val="accent6"/>
                </a:solidFill>
              </a:rPr>
              <a:t>the same 30 scenarios for the rule and the LNS</a:t>
            </a:r>
            <a:endParaRPr lang="en-US" sz="1300" dirty="0"/>
          </a:p>
        </p:txBody>
      </p:sp>
      <p:sp>
        <p:nvSpPr>
          <p:cNvPr id="13" name="Next step 3 card"/>
          <p:cNvSpPr/>
          <p:nvPr/>
        </p:nvSpPr>
        <p:spPr>
          <a:xfrm>
            <a:off x="6035040" y="1691640"/>
            <a:ext cx="2606040" cy="1600200"/>
          </a:xfrm>
          <a:prstGeom prst="roundRect">
            <a:avLst>
              <a:gd name="adj" fmla="val 4571"/>
            </a:avLst>
          </a:prstGeom>
          <a:solidFill>
            <a:srgbClr val="1E2E4F"/>
          </a:solidFill>
          <a:ln w="12700">
            <a:solidFill>
              <a:srgbClr val="1E2E4F"/>
            </a:solidFill>
            <a:prstDash val="solid"/>
          </a:ln>
        </p:spPr>
      </p:sp>
      <p:sp>
        <p:nvSpPr>
          <p:cNvPr id="14" name="Next step 3 badge"/>
          <p:cNvSpPr txBox="1"/>
          <p:nvPr/>
        </p:nvSpPr>
        <p:spPr>
          <a:xfrm>
            <a:off x="6217920" y="1856232"/>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15" name="Next step 3 heading"/>
          <p:cNvSpPr txBox="1"/>
          <p:nvPr/>
        </p:nvSpPr>
        <p:spPr>
          <a:xfrm>
            <a:off x="6217920" y="2377440"/>
            <a:ext cx="2240280" cy="320040"/>
          </a:xfrm>
          <a:prstGeom prst="rect">
            <a:avLst/>
          </a:prstGeom>
          <a:noFill/>
          <a:ln/>
        </p:spPr>
        <p:txBody>
          <a:bodyPr wrap="square" lIns="0" tIns="0" rIns="0" bIns="0" rtlCol="0" anchor="ctr"/>
          <a:lstStyle/>
          <a:p>
            <a:pPr indent="0" marL="0">
              <a:buNone/>
            </a:pPr>
            <a:r>
              <a:rPr lang="en-US" sz="1500" b="1" dirty="0">
                <a:solidFill>
                  <a:schemeClr val="bg1"/>
                </a:solidFill>
              </a:rPr>
              <a:t>Count what breaks</a:t>
            </a:r>
            <a:endParaRPr lang="en-US" sz="1500" dirty="0"/>
          </a:p>
        </p:txBody>
      </p:sp>
      <p:sp>
        <p:nvSpPr>
          <p:cNvPr id="16" name="Next step 3 text"/>
          <p:cNvSpPr txBox="1"/>
          <p:nvPr/>
        </p:nvSpPr>
        <p:spPr>
          <a:xfrm>
            <a:off x="6217920" y="2697480"/>
            <a:ext cx="2240280" cy="548640"/>
          </a:xfrm>
          <a:prstGeom prst="rect">
            <a:avLst/>
          </a:prstGeom>
          <a:noFill/>
          <a:ln/>
        </p:spPr>
        <p:txBody>
          <a:bodyPr wrap="square" lIns="0" tIns="0" rIns="0" bIns="0" rtlCol="0" anchor="t"/>
          <a:lstStyle/>
          <a:p>
            <a:pPr indent="0" marL="0">
              <a:buNone/>
            </a:pPr>
            <a:r>
              <a:rPr lang="en-US" sz="1300" dirty="0">
                <a:solidFill>
                  <a:schemeClr val="accent6"/>
                </a:solidFill>
              </a:rPr>
              <a:t>late service starts and late returns, plus travel and trucks</a:t>
            </a:r>
            <a:endParaRPr lang="en-US" sz="1300" dirty="0"/>
          </a:p>
        </p:txBody>
      </p:sp>
      <p:sp>
        <p:nvSpPr>
          <p:cNvPr id="17" name="Limitation"/>
          <p:cNvSpPr txBox="1"/>
          <p:nvPr/>
        </p:nvSpPr>
        <p:spPr>
          <a:xfrm>
            <a:off x="457200" y="3611880"/>
            <a:ext cx="8229600" cy="731520"/>
          </a:xfrm>
          <a:prstGeom prst="rect">
            <a:avLst/>
          </a:prstGeom>
          <a:noFill/>
          <a:ln/>
        </p:spPr>
        <p:txBody>
          <a:bodyPr wrap="square" lIns="0" tIns="0" rIns="0" bIns="0" rtlCol="0" anchor="t"/>
          <a:lstStyle/>
          <a:p>
            <a:pPr indent="0" marL="0">
              <a:buNone/>
            </a:pPr>
            <a:r>
              <a:rPr lang="en-US" sz="1500" b="1" dirty="0">
                <a:solidFill>
                  <a:schemeClr val="bg1"/>
                </a:solidFill>
              </a:rPr>
              <a:t>Limitation we will test: </a:t>
            </a:r>
            <a:pPr indent="0" marL="0">
              <a:buNone/>
            </a:pPr>
            <a:r>
              <a:rPr lang="en-US" sz="1500" dirty="0">
                <a:solidFill>
                  <a:schemeClr val="bg2"/>
                </a:solidFill>
              </a:rPr>
              <a:t>shorter routes leave less slack, so a plan that is on time with today's travel table can run late in traffic.</a:t>
            </a:r>
            <a:endParaRPr lang="en-US" sz="15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OM522 Delivery Routes">
  <a:themeElements>
    <a:clrScheme name="OM522 Delivery Routes">
      <a:dk1>
        <a:srgbClr val="14213D"/>
      </a:dk1>
      <a:lt1>
        <a:srgbClr val="FFFFFF"/>
      </a:lt1>
      <a:dk2>
        <a:srgbClr val="4A5868"/>
      </a:dk2>
      <a:lt2>
        <a:srgbClr val="F1F4F7"/>
      </a:lt2>
      <a:accent1>
        <a:srgbClr val="0E7C86"/>
      </a:accent1>
      <a:accent2>
        <a:srgbClr val="F2A541"/>
      </a:accent2>
      <a:accent3>
        <a:srgbClr val="D1495B"/>
      </a:accent3>
      <a:accent4>
        <a:srgbClr val="3D5A80"/>
      </a:accent4>
      <a:accent5>
        <a:srgbClr val="66A182"/>
      </a:accent5>
      <a:accent6>
        <a:srgbClr val="8B97A3"/>
      </a:accent6>
      <a:hlink>
        <a:srgbClr val="0E7C86"/>
      </a:hlink>
      <a:folHlink>
        <a:srgbClr val="3D5A80"/>
      </a:folHlink>
    </a:clrScheme>
    <a:fontScheme name="OM522 Delivery Routes">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Planning Delivery Routes: Prototype</dc:title>
  <dc:subject>PptxGenJS Presentation</dc:subject>
  <dc:creator>PptxGenJS</dc:creator>
  <cp:lastModifiedBy>PptxGenJS</cp:lastModifiedBy>
  <cp:revision>1</cp:revision>
  <dcterms:created xsi:type="dcterms:W3CDTF">2026-10-29T21:28:52Z</dcterms:created>
  <dcterms:modified xsi:type="dcterms:W3CDTF">2026-10-29T21:28:52Z</dcterms:modified>
</cp:coreProperties>
</file>